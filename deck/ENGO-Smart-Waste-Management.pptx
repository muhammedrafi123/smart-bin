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ENGO is a smart waste management system for our campus. What you are looking at is a working mobile application prototype. It is frontend only today: the data is mock data and the hardware and AI are simulated. The backend, the ESP32 hardware and the production AI are the proposed next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and they compound. Without segregation at the source, recycling downstream barely works. Without a record of each deposit there is no accountability, and without accountability there is no incentive for anyone to change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line: make the bin know who you are and what you threw away. Once that exists, every other feature — scoring, rewards, penalties, fill-level analytics — follows from the same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deposit, analyze, process, reward. The prototype walks through all five on screen. Steps one to four are driven by a simulator today rather than by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the running prototype, not mockups. Login, navigation, the deposit flow, history, rewards, penalties and the profile all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we run live. The whole sequence is automatic once you open the deposit screen — it mirrors what the physical bin would emit. A simulator panel lets us force an accepted or a rejected result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the AI is not live yet. The prototype returns scripted classifications with realistic confidence scores. The architecture is deliberately shaped so a real vision model drops into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side is the carrot; the penalty side is the record. We deliberately kept the penalty screen educational — it tells you what went wrong and how to avoid it, and the points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top layer exists today. Everything below the presentation row is proposed. We designed the app against a service layer so those rows can be filled in without redesigning any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mapping is the contract between the two halves of the project. The app already handles all six event types; the hardware team only has to emit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honest about where we are. Phase one is done and you can use it right now. The remaining five phases are planned, in this order, because each one unblocks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measure, analyze, reward. That is the whole system in four words. Thank you — happy to run the live demo or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image" Target="../media/image-6-2.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5.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5.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5.png"/><Relationship Id="rId14" Type="http://schemas.openxmlformats.org/officeDocument/2006/relationships/image" Target="../media/image-9-14.png"/><Relationship Id="rId15" Type="http://schemas.openxmlformats.org/officeDocument/2006/relationships/image" Target="../media/image-9-5.png"/><Relationship Id="rId16" Type="http://schemas.openxmlformats.org/officeDocument/2006/relationships/image" Target="../media/image-9-16.png"/><Relationship Id="rId17" Type="http://schemas.openxmlformats.org/officeDocument/2006/relationships/image" Target="../media/image-9-5.png"/><Relationship Id="rId18" Type="http://schemas.openxmlformats.org/officeDocument/2006/relationships/image" Target="../media/image-9-18.png"/><Relationship Id="rId19" Type="http://schemas.openxmlformats.org/officeDocument/2006/relationships/image" Target="../media/image-9-5.png"/><Relationship Id="rId20" Type="http://schemas.openxmlformats.org/officeDocument/2006/relationships/image" Target="../media/image-9-20.png"/><Relationship Id="rId21" Type="http://schemas.openxmlformats.org/officeDocument/2006/relationships/image" Target="../media/image-9-5.png"/><Relationship Id="rId22" Type="http://schemas.openxmlformats.org/officeDocument/2006/relationships/image" Target="../media/image-9-22.png"/><Relationship Id="rId23" Type="http://schemas.openxmlformats.org/officeDocument/2006/relationships/slideLayout" Target="../slideLayouts/slideLayout1.xml"/><Relationship Id="rId2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2.png"/><Relationship Id="rId5" Type="http://schemas.openxmlformats.org/officeDocument/2006/relationships/image" Target="../media/image-10-5.png"/><Relationship Id="rId6" Type="http://schemas.openxmlformats.org/officeDocument/2006/relationships/image" Target="../media/image-10-2.png"/><Relationship Id="rId7" Type="http://schemas.openxmlformats.org/officeDocument/2006/relationships/image" Target="../media/image-10-7.png"/><Relationship Id="rId8" Type="http://schemas.openxmlformats.org/officeDocument/2006/relationships/image" Target="../media/image-10-2.png"/><Relationship Id="rId9" Type="http://schemas.openxmlformats.org/officeDocument/2006/relationships/image" Target="../media/image-10-9.png"/><Relationship Id="rId10" Type="http://schemas.openxmlformats.org/officeDocument/2006/relationships/image" Target="../media/image-10-2.png"/><Relationship Id="rId11" Type="http://schemas.openxmlformats.org/officeDocument/2006/relationships/image" Target="../media/image-10-11.png"/><Relationship Id="rId12" Type="http://schemas.openxmlformats.org/officeDocument/2006/relationships/image" Target="../media/image-10-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61A"/>
        </a:solidFill>
      </p:bgPr>
    </p:bg>
    <p:spTree>
      <p:nvGrpSpPr>
        <p:cNvPr id="1" name=""/>
        <p:cNvGrpSpPr/>
        <p:nvPr/>
      </p:nvGrpSpPr>
      <p:grpSpPr>
        <a:xfrm>
          <a:off x="0" y="0"/>
          <a:ext cx="0" cy="0"/>
          <a:chOff x="0" y="0"/>
          <a:chExt cx="0" cy="0"/>
        </a:xfrm>
      </p:grpSpPr>
      <p:pic>
        <p:nvPicPr>
          <p:cNvPr id="2" name="Image 0" descr="C:\smart bin\deck\assets\bg-fores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61A">
              <a:alpha val="84000"/>
            </a:srgbClr>
          </a:solidFill>
          <a:ln/>
        </p:spPr>
      </p:sp>
      <p:pic>
        <p:nvPicPr>
          <p:cNvPr id="4" name="Image 1" descr="C:\smart bin\deck\assets\icons\leaf-mint.png">    </p:cNvPr>
          <p:cNvPicPr>
            <a:picLocks noChangeAspect="1"/>
          </p:cNvPicPr>
          <p:nvPr/>
        </p:nvPicPr>
        <p:blipFill>
          <a:blip r:embed="rId2"/>
          <a:stretch>
            <a:fillRect/>
          </a:stretch>
        </p:blipFill>
        <p:spPr>
          <a:xfrm>
            <a:off x="685800" y="713232"/>
            <a:ext cx="384048" cy="384048"/>
          </a:xfrm>
          <a:prstGeom prst="rect">
            <a:avLst/>
          </a:prstGeom>
        </p:spPr>
      </p:pic>
      <p:sp>
        <p:nvSpPr>
          <p:cNvPr id="5" name="Text 1"/>
          <p:cNvSpPr txBox="1"/>
          <p:nvPr/>
        </p:nvSpPr>
        <p:spPr>
          <a:xfrm>
            <a:off x="1179576" y="694944"/>
            <a:ext cx="2743200" cy="420624"/>
          </a:xfrm>
          <a:prstGeom prst="rect">
            <a:avLst/>
          </a:prstGeom>
          <a:noFill/>
          <a:ln/>
        </p:spPr>
        <p:txBody>
          <a:bodyPr wrap="square" lIns="0" tIns="0" rIns="0" bIns="0" rtlCol="0" anchor="ctr"/>
          <a:lstStyle/>
          <a:p>
            <a:pPr indent="0" marL="0">
              <a:buNone/>
            </a:pPr>
            <a:r>
              <a:rPr lang="en-US" sz="2500" b="1" spc="300" kern="0" dirty="0">
                <a:solidFill>
                  <a:srgbClr val="FFFFFF"/>
                </a:solidFill>
                <a:latin typeface="Calibri" pitchFamily="34" charset="0"/>
                <a:ea typeface="Calibri" pitchFamily="34" charset="-122"/>
                <a:cs typeface="Calibri" pitchFamily="34" charset="-120"/>
              </a:rPr>
              <a:t>ENGO</a:t>
            </a:r>
            <a:endParaRPr lang="en-US" sz="2500" dirty="0"/>
          </a:p>
        </p:txBody>
      </p:sp>
      <p:sp>
        <p:nvSpPr>
          <p:cNvPr id="6" name="Text 2"/>
          <p:cNvSpPr txBox="1"/>
          <p:nvPr/>
        </p:nvSpPr>
        <p:spPr>
          <a:xfrm>
            <a:off x="685800" y="1828800"/>
            <a:ext cx="6766560" cy="256032"/>
          </a:xfrm>
          <a:prstGeom prst="rect">
            <a:avLst/>
          </a:prstGeom>
          <a:noFill/>
          <a:ln/>
        </p:spPr>
        <p:txBody>
          <a:bodyPr wrap="square" lIns="0" tIns="0" rIns="0" bIns="0" rtlCol="0" anchor="ctr"/>
          <a:lstStyle/>
          <a:p>
            <a:pPr indent="0" marL="0">
              <a:buNone/>
            </a:pPr>
            <a:r>
              <a:rPr lang="en-US" sz="1100" b="1" spc="340" kern="0" dirty="0">
                <a:solidFill>
                  <a:srgbClr val="5BC98C"/>
                </a:solidFill>
                <a:latin typeface="Calibri" pitchFamily="34" charset="0"/>
                <a:ea typeface="Calibri" pitchFamily="34" charset="-122"/>
                <a:cs typeface="Calibri" pitchFamily="34" charset="-120"/>
              </a:rPr>
              <a:t>SMART WASTE MANAGEMENT SYSTEM</a:t>
            </a:r>
            <a:endParaRPr lang="en-US" sz="1100" dirty="0"/>
          </a:p>
        </p:txBody>
      </p:sp>
      <p:sp>
        <p:nvSpPr>
          <p:cNvPr id="7" name="Text 3"/>
          <p:cNvSpPr txBox="1"/>
          <p:nvPr/>
        </p:nvSpPr>
        <p:spPr>
          <a:xfrm>
            <a:off x="685800" y="2240280"/>
            <a:ext cx="6949440" cy="1920240"/>
          </a:xfrm>
          <a:prstGeom prst="rect">
            <a:avLst/>
          </a:prstGeom>
          <a:noFill/>
          <a:ln/>
        </p:spPr>
        <p:txBody>
          <a:bodyPr wrap="square" lIns="0" tIns="0" rIns="0" bIns="0" rtlCol="0" anchor="ctr"/>
          <a:lstStyle/>
          <a:p>
            <a:pPr indent="0" marL="0">
              <a:lnSpc>
                <a:spcPct val="95000"/>
              </a:lnSpc>
              <a:buNone/>
            </a:pPr>
            <a:r>
              <a:rPr lang="en-US" sz="5200" b="1" dirty="0">
                <a:solidFill>
                  <a:srgbClr val="FFFFFF"/>
                </a:solidFill>
                <a:latin typeface="Calibri" pitchFamily="34" charset="0"/>
                <a:ea typeface="Calibri" pitchFamily="34" charset="-122"/>
                <a:cs typeface="Calibri" pitchFamily="34" charset="-120"/>
              </a:rPr>
              <a:t>Small Actions.</a:t>
            </a:r>
            <a:endParaRPr lang="en-US" sz="5200" dirty="0"/>
          </a:p>
          <a:p>
            <a:pPr indent="0" marL="0">
              <a:lnSpc>
                <a:spcPct val="95000"/>
              </a:lnSpc>
              <a:buNone/>
            </a:pPr>
            <a:r>
              <a:rPr lang="en-US" sz="5200" b="1" dirty="0">
                <a:solidFill>
                  <a:srgbClr val="FFFFFF"/>
                </a:solidFill>
                <a:latin typeface="Calibri" pitchFamily="34" charset="0"/>
                <a:ea typeface="Calibri" pitchFamily="34" charset="-122"/>
                <a:cs typeface="Calibri" pitchFamily="34" charset="-120"/>
              </a:rPr>
              <a:t>A Cleaner Tomorrow.</a:t>
            </a:r>
            <a:endParaRPr lang="en-US" sz="5200" dirty="0"/>
          </a:p>
        </p:txBody>
      </p:sp>
      <p:sp>
        <p:nvSpPr>
          <p:cNvPr id="8" name="Text 4"/>
          <p:cNvSpPr txBox="1"/>
          <p:nvPr/>
        </p:nvSpPr>
        <p:spPr>
          <a:xfrm>
            <a:off x="685800" y="4315968"/>
            <a:ext cx="6035040" cy="658368"/>
          </a:xfrm>
          <a:prstGeom prst="rect">
            <a:avLst/>
          </a:prstGeom>
          <a:noFill/>
          <a:ln/>
        </p:spPr>
        <p:txBody>
          <a:bodyPr wrap="square" lIns="0" tIns="0" rIns="0" bIns="0" rtlCol="0" anchor="ctr"/>
          <a:lstStyle/>
          <a:p>
            <a:pPr indent="0" marL="0">
              <a:lnSpc>
                <a:spcPct val="125000"/>
              </a:lnSpc>
              <a:buNone/>
            </a:pPr>
            <a:r>
              <a:rPr lang="en-US" sz="1400" dirty="0">
                <a:solidFill>
                  <a:srgbClr val="DCF5E5">
                    <a:alpha val="78000"/>
                  </a:srgbClr>
                </a:solidFill>
                <a:latin typeface="Calibri" pitchFamily="34" charset="0"/>
                <a:ea typeface="Calibri" pitchFamily="34" charset="-122"/>
                <a:cs typeface="Calibri" pitchFamily="34" charset="-120"/>
              </a:rPr>
              <a:t>An RFID + AI powered smart bin that turns every waste deposit into a measurable, rewarded action.</a:t>
            </a:r>
            <a:endParaRPr lang="en-US" sz="1400" dirty="0"/>
          </a:p>
        </p:txBody>
      </p:sp>
      <p:sp>
        <p:nvSpPr>
          <p:cNvPr id="9" name="Shape 5"/>
          <p:cNvSpPr/>
          <p:nvPr/>
        </p:nvSpPr>
        <p:spPr>
          <a:xfrm>
            <a:off x="685800" y="5138928"/>
            <a:ext cx="1005840" cy="0"/>
          </a:xfrm>
          <a:prstGeom prst="line">
            <a:avLst/>
          </a:prstGeom>
          <a:noFill/>
          <a:ln w="25400">
            <a:solidFill>
              <a:srgbClr val="5BC98C"/>
            </a:solidFill>
            <a:prstDash val="solid"/>
          </a:ln>
        </p:spPr>
      </p:sp>
      <p:sp>
        <p:nvSpPr>
          <p:cNvPr id="10" name="Text 6"/>
          <p:cNvSpPr txBox="1"/>
          <p:nvPr/>
        </p:nvSpPr>
        <p:spPr>
          <a:xfrm>
            <a:off x="685800" y="5321808"/>
            <a:ext cx="6766560" cy="274320"/>
          </a:xfrm>
          <a:prstGeom prst="rect">
            <a:avLst/>
          </a:prstGeom>
          <a:noFill/>
          <a:ln/>
        </p:spPr>
        <p:txBody>
          <a:bodyPr wrap="square" lIns="0" tIns="0" rIns="0" bIns="0" rtlCol="0" anchor="ctr"/>
          <a:lstStyle/>
          <a:p>
            <a:pPr indent="0" marL="0">
              <a:buNone/>
            </a:pPr>
            <a:r>
              <a:rPr lang="en-US" sz="1150" b="1" spc="140" kern="0" dirty="0">
                <a:solidFill>
                  <a:srgbClr val="BCEBCE"/>
                </a:solidFill>
                <a:latin typeface="Calibri" pitchFamily="34" charset="0"/>
                <a:ea typeface="Calibri" pitchFamily="34" charset="-122"/>
                <a:cs typeface="Calibri" pitchFamily="34" charset="-120"/>
              </a:rPr>
              <a:t>Software  ×  AI  ×  IoT  ×  Sustainable Waste Management</a:t>
            </a:r>
            <a:endParaRPr lang="en-US" sz="1150" dirty="0"/>
          </a:p>
        </p:txBody>
      </p:sp>
      <p:sp>
        <p:nvSpPr>
          <p:cNvPr id="11" name="Shape 7"/>
          <p:cNvSpPr/>
          <p:nvPr/>
        </p:nvSpPr>
        <p:spPr>
          <a:xfrm>
            <a:off x="685800" y="5852160"/>
            <a:ext cx="2788920" cy="329184"/>
          </a:xfrm>
          <a:prstGeom prst="roundRect">
            <a:avLst>
              <a:gd name="adj" fmla="val 50000"/>
            </a:avLst>
          </a:prstGeom>
          <a:solidFill>
            <a:srgbClr val="5BC98C"/>
          </a:solidFill>
          <a:ln/>
        </p:spPr>
      </p:sp>
      <p:sp>
        <p:nvSpPr>
          <p:cNvPr id="12" name="Text 8"/>
          <p:cNvSpPr txBox="1"/>
          <p:nvPr/>
        </p:nvSpPr>
        <p:spPr>
          <a:xfrm>
            <a:off x="685800" y="5852160"/>
            <a:ext cx="2788920" cy="329184"/>
          </a:xfrm>
          <a:prstGeom prst="rect">
            <a:avLst/>
          </a:prstGeom>
          <a:noFill/>
          <a:ln/>
        </p:spPr>
        <p:txBody>
          <a:bodyPr wrap="square" lIns="0" tIns="0" rIns="0" bIns="0" rtlCol="0" anchor="ctr"/>
          <a:lstStyle/>
          <a:p>
            <a:pPr algn="ctr" indent="0" marL="0">
              <a:buNone/>
            </a:pPr>
            <a:r>
              <a:rPr lang="en-US" sz="900" b="1" spc="100" kern="0" dirty="0">
                <a:solidFill>
                  <a:srgbClr val="08261A"/>
                </a:solidFill>
                <a:latin typeface="Calibri" pitchFamily="34" charset="0"/>
                <a:ea typeface="Calibri" pitchFamily="34" charset="-122"/>
                <a:cs typeface="Calibri" pitchFamily="34" charset="-120"/>
              </a:rPr>
              <a:t>WORKING FRONTEND PROTOTYPE</a:t>
            </a:r>
            <a:endParaRPr lang="en-US" sz="900" dirty="0"/>
          </a:p>
        </p:txBody>
      </p:sp>
      <p:pic>
        <p:nvPicPr>
          <p:cNvPr id="13" name="Image 2" descr="C:\smart bin\deck\assets\phone-home.png">    </p:cNvPr>
          <p:cNvPicPr>
            <a:picLocks noChangeAspect="1"/>
          </p:cNvPicPr>
          <p:nvPr/>
        </p:nvPicPr>
        <p:blipFill>
          <a:blip r:embed="rId3"/>
          <a:stretch>
            <a:fillRect/>
          </a:stretch>
        </p:blipFill>
        <p:spPr>
          <a:xfrm>
            <a:off x="7973568" y="73152"/>
            <a:ext cx="3423514" cy="6711696"/>
          </a:xfrm>
          <a:prstGeom prst="rect">
            <a:avLst/>
          </a:prstGeom>
        </p:spPr>
      </p:pic>
      <p:sp>
        <p:nvSpPr>
          <p:cNvPr id="14" name="Text 9"/>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5BC98C"/>
                </a:solidFill>
                <a:latin typeface="Calibri" pitchFamily="34" charset="0"/>
                <a:ea typeface="Calibri" pitchFamily="34" charset="-122"/>
                <a:cs typeface="Calibri" pitchFamily="34" charset="-120"/>
              </a:rPr>
              <a:t>ENGO</a:t>
            </a:r>
            <a:endParaRPr lang="en-US" sz="950" dirty="0"/>
          </a:p>
        </p:txBody>
      </p:sp>
      <p:sp>
        <p:nvSpPr>
          <p:cNvPr id="15" name="Text 10"/>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FFFFFF">
                    <a:alpha val="55000"/>
                  </a:srgbClr>
                </a:solidFill>
                <a:latin typeface="Calibri" pitchFamily="34" charset="0"/>
                <a:ea typeface="Calibri" pitchFamily="34" charset="-122"/>
                <a:cs typeface="Calibri" pitchFamily="34" charset="-120"/>
              </a:rPr>
              <a:t>01 / 12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smart bin\deck\assets\photo-waste-duotone.jpg">    </p:cNvPr>
          <p:cNvPicPr>
            <a:picLocks noChangeAspect="1"/>
          </p:cNvPicPr>
          <p:nvPr/>
        </p:nvPicPr>
        <p:blipFill>
          <a:blip r:embed="rId1"/>
          <a:srcRect l="0" r="0" t="0" b="0"/>
          <a:stretch/>
        </p:blipFill>
        <p:spPr>
          <a:xfrm>
            <a:off x="0" y="0"/>
            <a:ext cx="4617720" cy="6858000"/>
          </a:xfrm>
          <a:prstGeom prst="rect">
            <a:avLst/>
          </a:prstGeom>
        </p:spPr>
      </p:pic>
      <p:sp>
        <p:nvSpPr>
          <p:cNvPr id="3" name="Shape 0"/>
          <p:cNvSpPr/>
          <p:nvPr/>
        </p:nvSpPr>
        <p:spPr>
          <a:xfrm>
            <a:off x="5440680" y="790956"/>
            <a:ext cx="256032" cy="50292"/>
          </a:xfrm>
          <a:prstGeom prst="rect">
            <a:avLst/>
          </a:prstGeom>
          <a:solidFill>
            <a:srgbClr val="248A5E"/>
          </a:solidFill>
          <a:ln/>
        </p:spPr>
      </p:sp>
      <p:sp>
        <p:nvSpPr>
          <p:cNvPr id="4" name="Text 1"/>
          <p:cNvSpPr txBox="1"/>
          <p:nvPr/>
        </p:nvSpPr>
        <p:spPr>
          <a:xfrm>
            <a:off x="5824728" y="713232"/>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02  THE PROBLEM</a:t>
            </a:r>
            <a:endParaRPr lang="en-US" sz="1050" dirty="0"/>
          </a:p>
        </p:txBody>
      </p:sp>
      <p:sp>
        <p:nvSpPr>
          <p:cNvPr id="5" name="Text 2"/>
          <p:cNvSpPr txBox="1"/>
          <p:nvPr/>
        </p:nvSpPr>
        <p:spPr>
          <a:xfrm>
            <a:off x="5440680" y="1170432"/>
            <a:ext cx="6065215" cy="1554480"/>
          </a:xfrm>
          <a:prstGeom prst="rect">
            <a:avLst/>
          </a:prstGeom>
          <a:noFill/>
          <a:ln/>
        </p:spPr>
        <p:txBody>
          <a:bodyPr wrap="square" lIns="0" tIns="0" rIns="0" bIns="0" rtlCol="0" anchor="ctr"/>
          <a:lstStyle/>
          <a:p>
            <a:pPr indent="0" marL="0">
              <a:lnSpc>
                <a:spcPct val="102000"/>
              </a:lnSpc>
              <a:buNone/>
            </a:pPr>
            <a:r>
              <a:rPr lang="en-US" sz="3400" b="1" dirty="0">
                <a:solidFill>
                  <a:srgbClr val="0E1A15"/>
                </a:solidFill>
                <a:latin typeface="Calibri" pitchFamily="34" charset="0"/>
                <a:ea typeface="Calibri" pitchFamily="34" charset="-122"/>
                <a:cs typeface="Calibri" pitchFamily="34" charset="-120"/>
              </a:rPr>
              <a:t>Waste management starts with one simple problem.</a:t>
            </a:r>
            <a:endParaRPr lang="en-US" sz="3400" dirty="0"/>
          </a:p>
        </p:txBody>
      </p:sp>
      <p:sp>
        <p:nvSpPr>
          <p:cNvPr id="6" name="Text 3"/>
          <p:cNvSpPr txBox="1"/>
          <p:nvPr/>
        </p:nvSpPr>
        <p:spPr>
          <a:xfrm>
            <a:off x="5440680" y="2761488"/>
            <a:ext cx="6065215" cy="365760"/>
          </a:xfrm>
          <a:prstGeom prst="rect">
            <a:avLst/>
          </a:prstGeom>
          <a:noFill/>
          <a:ln/>
        </p:spPr>
        <p:txBody>
          <a:bodyPr wrap="square" lIns="0" tIns="0" rIns="0" bIns="0" rtlCol="0" anchor="ctr"/>
          <a:lstStyle/>
          <a:p>
            <a:pPr indent="0" marL="0">
              <a:buNone/>
            </a:pPr>
            <a:r>
              <a:rPr lang="en-US" sz="1350" dirty="0">
                <a:solidFill>
                  <a:srgbClr val="5C6B64"/>
                </a:solidFill>
                <a:latin typeface="Calibri" pitchFamily="34" charset="0"/>
                <a:ea typeface="Calibri" pitchFamily="34" charset="-122"/>
                <a:cs typeface="Calibri" pitchFamily="34" charset="-120"/>
              </a:rPr>
              <a:t>Campuses collect waste every day. Almost none of them can measure it.</a:t>
            </a:r>
            <a:endParaRPr lang="en-US" sz="1350" dirty="0"/>
          </a:p>
        </p:txBody>
      </p:sp>
      <p:sp>
        <p:nvSpPr>
          <p:cNvPr id="7" name="Shape 4"/>
          <p:cNvSpPr/>
          <p:nvPr/>
        </p:nvSpPr>
        <p:spPr>
          <a:xfrm>
            <a:off x="5440680" y="3364992"/>
            <a:ext cx="475488" cy="475488"/>
          </a:xfrm>
          <a:prstGeom prst="ellipse">
            <a:avLst/>
          </a:prstGeom>
          <a:solidFill>
            <a:srgbClr val="F0FAF4"/>
          </a:solidFill>
          <a:ln/>
        </p:spPr>
      </p:sp>
      <p:pic>
        <p:nvPicPr>
          <p:cNvPr id="8" name="Image 1" descr="C:\smart bin\deck\assets\icons\eye-off-green.png">    </p:cNvPr>
          <p:cNvPicPr>
            <a:picLocks noChangeAspect="1"/>
          </p:cNvPicPr>
          <p:nvPr/>
        </p:nvPicPr>
        <p:blipFill>
          <a:blip r:embed="rId2"/>
          <a:stretch>
            <a:fillRect/>
          </a:stretch>
        </p:blipFill>
        <p:spPr>
          <a:xfrm>
            <a:off x="5569062" y="3493374"/>
            <a:ext cx="218724" cy="218724"/>
          </a:xfrm>
          <a:prstGeom prst="rect">
            <a:avLst/>
          </a:prstGeom>
        </p:spPr>
      </p:pic>
      <p:sp>
        <p:nvSpPr>
          <p:cNvPr id="9" name="Text 5"/>
          <p:cNvSpPr txBox="1"/>
          <p:nvPr/>
        </p:nvSpPr>
        <p:spPr>
          <a:xfrm>
            <a:off x="6099048" y="3328416"/>
            <a:ext cx="5406847" cy="256032"/>
          </a:xfrm>
          <a:prstGeom prst="rect">
            <a:avLst/>
          </a:prstGeom>
          <a:noFill/>
          <a:ln/>
        </p:spPr>
        <p:txBody>
          <a:bodyPr wrap="square" lIns="0" tIns="0" rIns="0" bIns="0" rtlCol="0" anchor="ctr"/>
          <a:lstStyle/>
          <a:p>
            <a:pPr indent="0" marL="0">
              <a:buNone/>
            </a:pPr>
            <a:r>
              <a:rPr lang="en-US" sz="1400" b="1" dirty="0">
                <a:solidFill>
                  <a:srgbClr val="0E1A15"/>
                </a:solidFill>
                <a:latin typeface="Calibri" pitchFamily="34" charset="0"/>
                <a:ea typeface="Calibri" pitchFamily="34" charset="-122"/>
                <a:cs typeface="Calibri" pitchFamily="34" charset="-120"/>
              </a:rPr>
              <a:t>Poor segregation</a:t>
            </a:r>
            <a:endParaRPr lang="en-US" sz="1400" dirty="0"/>
          </a:p>
        </p:txBody>
      </p:sp>
      <p:sp>
        <p:nvSpPr>
          <p:cNvPr id="10" name="Text 6"/>
          <p:cNvSpPr txBox="1"/>
          <p:nvPr/>
        </p:nvSpPr>
        <p:spPr>
          <a:xfrm>
            <a:off x="6099048" y="3584448"/>
            <a:ext cx="5406847" cy="274320"/>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Recyclables, organics and plastic end up in the same bin.</a:t>
            </a:r>
            <a:endParaRPr lang="en-US" sz="1150" dirty="0"/>
          </a:p>
        </p:txBody>
      </p:sp>
      <p:sp>
        <p:nvSpPr>
          <p:cNvPr id="11" name="Shape 7"/>
          <p:cNvSpPr/>
          <p:nvPr/>
        </p:nvSpPr>
        <p:spPr>
          <a:xfrm>
            <a:off x="5440680" y="4123944"/>
            <a:ext cx="475488" cy="475488"/>
          </a:xfrm>
          <a:prstGeom prst="ellipse">
            <a:avLst/>
          </a:prstGeom>
          <a:solidFill>
            <a:srgbClr val="F0FAF4"/>
          </a:solidFill>
          <a:ln/>
        </p:spPr>
      </p:sp>
      <p:pic>
        <p:nvPicPr>
          <p:cNvPr id="12" name="Image 2" descr="C:\smart bin\deck\assets\icons\clipboard-list-green.png">    </p:cNvPr>
          <p:cNvPicPr>
            <a:picLocks noChangeAspect="1"/>
          </p:cNvPicPr>
          <p:nvPr/>
        </p:nvPicPr>
        <p:blipFill>
          <a:blip r:embed="rId3"/>
          <a:stretch>
            <a:fillRect/>
          </a:stretch>
        </p:blipFill>
        <p:spPr>
          <a:xfrm>
            <a:off x="5569062" y="4252326"/>
            <a:ext cx="218724" cy="218724"/>
          </a:xfrm>
          <a:prstGeom prst="rect">
            <a:avLst/>
          </a:prstGeom>
        </p:spPr>
      </p:pic>
      <p:sp>
        <p:nvSpPr>
          <p:cNvPr id="13" name="Text 8"/>
          <p:cNvSpPr txBox="1"/>
          <p:nvPr/>
        </p:nvSpPr>
        <p:spPr>
          <a:xfrm>
            <a:off x="6099048" y="4087368"/>
            <a:ext cx="5406847" cy="256032"/>
          </a:xfrm>
          <a:prstGeom prst="rect">
            <a:avLst/>
          </a:prstGeom>
          <a:noFill/>
          <a:ln/>
        </p:spPr>
        <p:txBody>
          <a:bodyPr wrap="square" lIns="0" tIns="0" rIns="0" bIns="0" rtlCol="0" anchor="ctr"/>
          <a:lstStyle/>
          <a:p>
            <a:pPr indent="0" marL="0">
              <a:buNone/>
            </a:pPr>
            <a:r>
              <a:rPr lang="en-US" sz="1400" b="1" dirty="0">
                <a:solidFill>
                  <a:srgbClr val="0E1A15"/>
                </a:solidFill>
                <a:latin typeface="Calibri" pitchFamily="34" charset="0"/>
                <a:ea typeface="Calibri" pitchFamily="34" charset="-122"/>
                <a:cs typeface="Calibri" pitchFamily="34" charset="-120"/>
              </a:rPr>
              <a:t>Limited accountability</a:t>
            </a:r>
            <a:endParaRPr lang="en-US" sz="1400" dirty="0"/>
          </a:p>
        </p:txBody>
      </p:sp>
      <p:sp>
        <p:nvSpPr>
          <p:cNvPr id="14" name="Text 9"/>
          <p:cNvSpPr txBox="1"/>
          <p:nvPr/>
        </p:nvSpPr>
        <p:spPr>
          <a:xfrm>
            <a:off x="6099048" y="4343400"/>
            <a:ext cx="5406847" cy="274320"/>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No record of who disposed what, or how well they sorted it.</a:t>
            </a:r>
            <a:endParaRPr lang="en-US" sz="1150" dirty="0"/>
          </a:p>
        </p:txBody>
      </p:sp>
      <p:sp>
        <p:nvSpPr>
          <p:cNvPr id="15" name="Shape 10"/>
          <p:cNvSpPr/>
          <p:nvPr/>
        </p:nvSpPr>
        <p:spPr>
          <a:xfrm>
            <a:off x="5440680" y="4882896"/>
            <a:ext cx="475488" cy="475488"/>
          </a:xfrm>
          <a:prstGeom prst="ellipse">
            <a:avLst/>
          </a:prstGeom>
          <a:solidFill>
            <a:srgbClr val="F0FAF4"/>
          </a:solidFill>
          <a:ln/>
        </p:spPr>
      </p:sp>
      <p:pic>
        <p:nvPicPr>
          <p:cNvPr id="16" name="Image 3" descr="C:\smart bin\deck\assets\icons\refresh-cw-green.png">    </p:cNvPr>
          <p:cNvPicPr>
            <a:picLocks noChangeAspect="1"/>
          </p:cNvPicPr>
          <p:nvPr/>
        </p:nvPicPr>
        <p:blipFill>
          <a:blip r:embed="rId4"/>
          <a:stretch>
            <a:fillRect/>
          </a:stretch>
        </p:blipFill>
        <p:spPr>
          <a:xfrm>
            <a:off x="5569062" y="5011278"/>
            <a:ext cx="218724" cy="218724"/>
          </a:xfrm>
          <a:prstGeom prst="rect">
            <a:avLst/>
          </a:prstGeom>
        </p:spPr>
      </p:pic>
      <p:sp>
        <p:nvSpPr>
          <p:cNvPr id="17" name="Text 11"/>
          <p:cNvSpPr txBox="1"/>
          <p:nvPr/>
        </p:nvSpPr>
        <p:spPr>
          <a:xfrm>
            <a:off x="6099048" y="4846320"/>
            <a:ext cx="5406847" cy="256032"/>
          </a:xfrm>
          <a:prstGeom prst="rect">
            <a:avLst/>
          </a:prstGeom>
          <a:noFill/>
          <a:ln/>
        </p:spPr>
        <p:txBody>
          <a:bodyPr wrap="square" lIns="0" tIns="0" rIns="0" bIns="0" rtlCol="0" anchor="ctr"/>
          <a:lstStyle/>
          <a:p>
            <a:pPr indent="0" marL="0">
              <a:buNone/>
            </a:pPr>
            <a:r>
              <a:rPr lang="en-US" sz="1400" b="1" dirty="0">
                <a:solidFill>
                  <a:srgbClr val="0E1A15"/>
                </a:solidFill>
                <a:latin typeface="Calibri" pitchFamily="34" charset="0"/>
                <a:ea typeface="Calibri" pitchFamily="34" charset="-122"/>
                <a:cs typeface="Calibri" pitchFamily="34" charset="-120"/>
              </a:rPr>
              <a:t>Manual monitoring</a:t>
            </a:r>
            <a:endParaRPr lang="en-US" sz="1400" dirty="0"/>
          </a:p>
        </p:txBody>
      </p:sp>
      <p:sp>
        <p:nvSpPr>
          <p:cNvPr id="18" name="Text 12"/>
          <p:cNvSpPr txBox="1"/>
          <p:nvPr/>
        </p:nvSpPr>
        <p:spPr>
          <a:xfrm>
            <a:off x="6099048" y="5102352"/>
            <a:ext cx="5406847" cy="274320"/>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Staff check fill levels by hand and log them on paper.</a:t>
            </a:r>
            <a:endParaRPr lang="en-US" sz="1150" dirty="0"/>
          </a:p>
        </p:txBody>
      </p:sp>
      <p:sp>
        <p:nvSpPr>
          <p:cNvPr id="19" name="Shape 13"/>
          <p:cNvSpPr/>
          <p:nvPr/>
        </p:nvSpPr>
        <p:spPr>
          <a:xfrm>
            <a:off x="5440680" y="5641848"/>
            <a:ext cx="475488" cy="475488"/>
          </a:xfrm>
          <a:prstGeom prst="ellipse">
            <a:avLst/>
          </a:prstGeom>
          <a:solidFill>
            <a:srgbClr val="F0FAF4"/>
          </a:solidFill>
          <a:ln/>
        </p:spPr>
      </p:sp>
      <p:pic>
        <p:nvPicPr>
          <p:cNvPr id="20" name="Image 4" descr="C:\smart bin\deck\assets\icons\hand-coins-green.png">    </p:cNvPr>
          <p:cNvPicPr>
            <a:picLocks noChangeAspect="1"/>
          </p:cNvPicPr>
          <p:nvPr/>
        </p:nvPicPr>
        <p:blipFill>
          <a:blip r:embed="rId5"/>
          <a:stretch>
            <a:fillRect/>
          </a:stretch>
        </p:blipFill>
        <p:spPr>
          <a:xfrm>
            <a:off x="5569062" y="5770230"/>
            <a:ext cx="218724" cy="218724"/>
          </a:xfrm>
          <a:prstGeom prst="rect">
            <a:avLst/>
          </a:prstGeom>
        </p:spPr>
      </p:pic>
      <p:sp>
        <p:nvSpPr>
          <p:cNvPr id="21" name="Text 14"/>
          <p:cNvSpPr txBox="1"/>
          <p:nvPr/>
        </p:nvSpPr>
        <p:spPr>
          <a:xfrm>
            <a:off x="6099048" y="5605272"/>
            <a:ext cx="5406847" cy="256032"/>
          </a:xfrm>
          <a:prstGeom prst="rect">
            <a:avLst/>
          </a:prstGeom>
          <a:noFill/>
          <a:ln/>
        </p:spPr>
        <p:txBody>
          <a:bodyPr wrap="square" lIns="0" tIns="0" rIns="0" bIns="0" rtlCol="0" anchor="ctr"/>
          <a:lstStyle/>
          <a:p>
            <a:pPr indent="0" marL="0">
              <a:buNone/>
            </a:pPr>
            <a:r>
              <a:rPr lang="en-US" sz="1400" b="1" dirty="0">
                <a:solidFill>
                  <a:srgbClr val="0E1A15"/>
                </a:solidFill>
                <a:latin typeface="Calibri" pitchFamily="34" charset="0"/>
                <a:ea typeface="Calibri" pitchFamily="34" charset="-122"/>
                <a:cs typeface="Calibri" pitchFamily="34" charset="-120"/>
              </a:rPr>
              <a:t>No user engagement</a:t>
            </a:r>
            <a:endParaRPr lang="en-US" sz="1400" dirty="0"/>
          </a:p>
        </p:txBody>
      </p:sp>
      <p:sp>
        <p:nvSpPr>
          <p:cNvPr id="22" name="Text 15"/>
          <p:cNvSpPr txBox="1"/>
          <p:nvPr/>
        </p:nvSpPr>
        <p:spPr>
          <a:xfrm>
            <a:off x="6099048" y="5861304"/>
            <a:ext cx="5406847" cy="274320"/>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Nothing rewards the people who actually sort correctly.</a:t>
            </a:r>
            <a:endParaRPr lang="en-US" sz="1150" dirty="0"/>
          </a:p>
        </p:txBody>
      </p:sp>
      <p:sp>
        <p:nvSpPr>
          <p:cNvPr id="23" name="Text 16"/>
          <p:cNvSpPr txBox="1"/>
          <p:nvPr/>
        </p:nvSpPr>
        <p:spPr>
          <a:xfrm>
            <a:off x="544068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24" name="Text 17"/>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02 / 12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790956"/>
            <a:ext cx="256032" cy="50292"/>
          </a:xfrm>
          <a:prstGeom prst="rect">
            <a:avLst/>
          </a:prstGeom>
          <a:solidFill>
            <a:srgbClr val="248A5E"/>
          </a:solidFill>
          <a:ln/>
        </p:spPr>
      </p:sp>
      <p:sp>
        <p:nvSpPr>
          <p:cNvPr id="3" name="Text 1"/>
          <p:cNvSpPr txBox="1"/>
          <p:nvPr/>
        </p:nvSpPr>
        <p:spPr>
          <a:xfrm>
            <a:off x="1069848" y="713232"/>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03  THE IDEA</a:t>
            </a:r>
            <a:endParaRPr lang="en-US" sz="1050" dirty="0"/>
          </a:p>
        </p:txBody>
      </p:sp>
      <p:sp>
        <p:nvSpPr>
          <p:cNvPr id="4" name="Text 2"/>
          <p:cNvSpPr txBox="1"/>
          <p:nvPr/>
        </p:nvSpPr>
        <p:spPr>
          <a:xfrm>
            <a:off x="685800" y="1170432"/>
            <a:ext cx="9326880" cy="1234440"/>
          </a:xfrm>
          <a:prstGeom prst="rect">
            <a:avLst/>
          </a:prstGeom>
          <a:noFill/>
          <a:ln/>
        </p:spPr>
        <p:txBody>
          <a:bodyPr wrap="square" lIns="0" tIns="0" rIns="0" bIns="0" rtlCol="0" anchor="ctr"/>
          <a:lstStyle/>
          <a:p>
            <a:pPr indent="0" marL="0">
              <a:lnSpc>
                <a:spcPct val="102000"/>
              </a:lnSpc>
              <a:buNone/>
            </a:pPr>
            <a:r>
              <a:rPr lang="en-US" sz="3400" b="1" dirty="0">
                <a:solidFill>
                  <a:srgbClr val="0E1A15"/>
                </a:solidFill>
                <a:latin typeface="Calibri" pitchFamily="34" charset="0"/>
                <a:ea typeface="Calibri" pitchFamily="34" charset="-122"/>
                <a:cs typeface="Calibri" pitchFamily="34" charset="-120"/>
              </a:rPr>
              <a:t>What if waste disposal became measurable, intelligent and rewarding?</a:t>
            </a:r>
            <a:endParaRPr lang="en-US" sz="3400" dirty="0"/>
          </a:p>
        </p:txBody>
      </p:sp>
      <p:sp>
        <p:nvSpPr>
          <p:cNvPr id="5" name="Shape 3"/>
          <p:cNvSpPr/>
          <p:nvPr/>
        </p:nvSpPr>
        <p:spPr>
          <a:xfrm>
            <a:off x="1458664" y="3346704"/>
            <a:ext cx="9274367" cy="0"/>
          </a:xfrm>
          <a:prstGeom prst="line">
            <a:avLst/>
          </a:prstGeom>
          <a:noFill/>
          <a:ln w="19050">
            <a:solidFill>
              <a:srgbClr val="BCEBCE"/>
            </a:solidFill>
            <a:prstDash val="solid"/>
          </a:ln>
        </p:spPr>
      </p:sp>
      <p:sp>
        <p:nvSpPr>
          <p:cNvPr id="6" name="Shape 4"/>
          <p:cNvSpPr/>
          <p:nvPr/>
        </p:nvSpPr>
        <p:spPr>
          <a:xfrm>
            <a:off x="937456" y="2825496"/>
            <a:ext cx="1042416" cy="1042416"/>
          </a:xfrm>
          <a:prstGeom prst="ellipse">
            <a:avLst/>
          </a:prstGeom>
          <a:solidFill>
            <a:srgbClr val="FFFFFF"/>
          </a:solidFill>
          <a:ln/>
        </p:spPr>
      </p:sp>
      <p:sp>
        <p:nvSpPr>
          <p:cNvPr id="7" name="Shape 5"/>
          <p:cNvSpPr/>
          <p:nvPr/>
        </p:nvSpPr>
        <p:spPr>
          <a:xfrm>
            <a:off x="1001464" y="2889504"/>
            <a:ext cx="914400" cy="914400"/>
          </a:xfrm>
          <a:prstGeom prst="ellipse">
            <a:avLst/>
          </a:prstGeom>
          <a:solidFill>
            <a:srgbClr val="F0FAF4"/>
          </a:solidFill>
          <a:ln w="11430">
            <a:solidFill>
              <a:srgbClr val="BCEBCE"/>
            </a:solidFill>
            <a:prstDash val="solid"/>
          </a:ln>
        </p:spPr>
      </p:sp>
      <p:pic>
        <p:nvPicPr>
          <p:cNvPr id="8" name="Image 0" descr="C:\smart bin\deck\assets\icons\user-round-green.png">    </p:cNvPr>
          <p:cNvPicPr>
            <a:picLocks noChangeAspect="1"/>
          </p:cNvPicPr>
          <p:nvPr/>
        </p:nvPicPr>
        <p:blipFill>
          <a:blip r:embed="rId1"/>
          <a:stretch>
            <a:fillRect/>
          </a:stretch>
        </p:blipFill>
        <p:spPr>
          <a:xfrm>
            <a:off x="1266640" y="3154680"/>
            <a:ext cx="384048" cy="384048"/>
          </a:xfrm>
          <a:prstGeom prst="rect">
            <a:avLst/>
          </a:prstGeom>
        </p:spPr>
      </p:pic>
      <p:sp>
        <p:nvSpPr>
          <p:cNvPr id="9" name="Text 6"/>
          <p:cNvSpPr txBox="1"/>
          <p:nvPr/>
        </p:nvSpPr>
        <p:spPr>
          <a:xfrm>
            <a:off x="740664"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User</a:t>
            </a:r>
            <a:endParaRPr lang="en-US" sz="1300" dirty="0"/>
          </a:p>
        </p:txBody>
      </p:sp>
      <p:sp>
        <p:nvSpPr>
          <p:cNvPr id="10" name="Text 7"/>
          <p:cNvSpPr txBox="1"/>
          <p:nvPr/>
        </p:nvSpPr>
        <p:spPr>
          <a:xfrm>
            <a:off x="740664"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Arrives at the bin</a:t>
            </a:r>
            <a:endParaRPr lang="en-US" sz="1000" dirty="0"/>
          </a:p>
        </p:txBody>
      </p:sp>
      <p:sp>
        <p:nvSpPr>
          <p:cNvPr id="11" name="Shape 8"/>
          <p:cNvSpPr/>
          <p:nvPr/>
        </p:nvSpPr>
        <p:spPr>
          <a:xfrm>
            <a:off x="2483184" y="2825496"/>
            <a:ext cx="1042416" cy="1042416"/>
          </a:xfrm>
          <a:prstGeom prst="ellipse">
            <a:avLst/>
          </a:prstGeom>
          <a:solidFill>
            <a:srgbClr val="FFFFFF"/>
          </a:solidFill>
          <a:ln/>
        </p:spPr>
      </p:sp>
      <p:sp>
        <p:nvSpPr>
          <p:cNvPr id="12" name="Shape 9"/>
          <p:cNvSpPr/>
          <p:nvPr/>
        </p:nvSpPr>
        <p:spPr>
          <a:xfrm>
            <a:off x="2547192" y="2889504"/>
            <a:ext cx="914400" cy="914400"/>
          </a:xfrm>
          <a:prstGeom prst="ellipse">
            <a:avLst/>
          </a:prstGeom>
          <a:solidFill>
            <a:srgbClr val="F0FAF4"/>
          </a:solidFill>
          <a:ln w="11430">
            <a:solidFill>
              <a:srgbClr val="BCEBCE"/>
            </a:solidFill>
            <a:prstDash val="solid"/>
          </a:ln>
        </p:spPr>
      </p:sp>
      <p:pic>
        <p:nvPicPr>
          <p:cNvPr id="13" name="Image 1" descr="C:\smart bin\deck\assets\icons\nfc-green.png">    </p:cNvPr>
          <p:cNvPicPr>
            <a:picLocks noChangeAspect="1"/>
          </p:cNvPicPr>
          <p:nvPr/>
        </p:nvPicPr>
        <p:blipFill>
          <a:blip r:embed="rId2"/>
          <a:stretch>
            <a:fillRect/>
          </a:stretch>
        </p:blipFill>
        <p:spPr>
          <a:xfrm>
            <a:off x="2812368" y="3154680"/>
            <a:ext cx="384048" cy="384048"/>
          </a:xfrm>
          <a:prstGeom prst="rect">
            <a:avLst/>
          </a:prstGeom>
        </p:spPr>
      </p:pic>
      <p:sp>
        <p:nvSpPr>
          <p:cNvPr id="14" name="Text 10"/>
          <p:cNvSpPr txBox="1"/>
          <p:nvPr/>
        </p:nvSpPr>
        <p:spPr>
          <a:xfrm>
            <a:off x="2286392"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RFID</a:t>
            </a:r>
            <a:endParaRPr lang="en-US" sz="1300" dirty="0"/>
          </a:p>
        </p:txBody>
      </p:sp>
      <p:sp>
        <p:nvSpPr>
          <p:cNvPr id="15" name="Text 11"/>
          <p:cNvSpPr txBox="1"/>
          <p:nvPr/>
        </p:nvSpPr>
        <p:spPr>
          <a:xfrm>
            <a:off x="2286392"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Card identifies them</a:t>
            </a:r>
            <a:endParaRPr lang="en-US" sz="1000" dirty="0"/>
          </a:p>
        </p:txBody>
      </p:sp>
      <p:sp>
        <p:nvSpPr>
          <p:cNvPr id="16" name="Shape 12"/>
          <p:cNvSpPr/>
          <p:nvPr/>
        </p:nvSpPr>
        <p:spPr>
          <a:xfrm>
            <a:off x="4028912" y="2825496"/>
            <a:ext cx="1042416" cy="1042416"/>
          </a:xfrm>
          <a:prstGeom prst="ellipse">
            <a:avLst/>
          </a:prstGeom>
          <a:solidFill>
            <a:srgbClr val="FFFFFF"/>
          </a:solidFill>
          <a:ln/>
        </p:spPr>
      </p:sp>
      <p:sp>
        <p:nvSpPr>
          <p:cNvPr id="17" name="Shape 13"/>
          <p:cNvSpPr/>
          <p:nvPr/>
        </p:nvSpPr>
        <p:spPr>
          <a:xfrm>
            <a:off x="4092920" y="2889504"/>
            <a:ext cx="914400" cy="914400"/>
          </a:xfrm>
          <a:prstGeom prst="ellipse">
            <a:avLst/>
          </a:prstGeom>
          <a:solidFill>
            <a:srgbClr val="F0FAF4"/>
          </a:solidFill>
          <a:ln w="11430">
            <a:solidFill>
              <a:srgbClr val="BCEBCE"/>
            </a:solidFill>
            <a:prstDash val="solid"/>
          </a:ln>
        </p:spPr>
      </p:sp>
      <p:pic>
        <p:nvPicPr>
          <p:cNvPr id="18" name="Image 2" descr="C:\smart bin\deck\assets\icons\trash-2-green.png">    </p:cNvPr>
          <p:cNvPicPr>
            <a:picLocks noChangeAspect="1"/>
          </p:cNvPicPr>
          <p:nvPr/>
        </p:nvPicPr>
        <p:blipFill>
          <a:blip r:embed="rId3"/>
          <a:stretch>
            <a:fillRect/>
          </a:stretch>
        </p:blipFill>
        <p:spPr>
          <a:xfrm>
            <a:off x="4358096" y="3154680"/>
            <a:ext cx="384048" cy="384048"/>
          </a:xfrm>
          <a:prstGeom prst="rect">
            <a:avLst/>
          </a:prstGeom>
        </p:spPr>
      </p:pic>
      <p:sp>
        <p:nvSpPr>
          <p:cNvPr id="19" name="Text 14"/>
          <p:cNvSpPr txBox="1"/>
          <p:nvPr/>
        </p:nvSpPr>
        <p:spPr>
          <a:xfrm>
            <a:off x="3832120"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Smart Bin</a:t>
            </a:r>
            <a:endParaRPr lang="en-US" sz="1300" dirty="0"/>
          </a:p>
        </p:txBody>
      </p:sp>
      <p:sp>
        <p:nvSpPr>
          <p:cNvPr id="20" name="Text 15"/>
          <p:cNvSpPr txBox="1"/>
          <p:nvPr/>
        </p:nvSpPr>
        <p:spPr>
          <a:xfrm>
            <a:off x="3832120"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Lid opens, waste in</a:t>
            </a:r>
            <a:endParaRPr lang="en-US" sz="1000" dirty="0"/>
          </a:p>
        </p:txBody>
      </p:sp>
      <p:sp>
        <p:nvSpPr>
          <p:cNvPr id="21" name="Shape 16"/>
          <p:cNvSpPr/>
          <p:nvPr/>
        </p:nvSpPr>
        <p:spPr>
          <a:xfrm>
            <a:off x="5574640" y="2825496"/>
            <a:ext cx="1042416" cy="1042416"/>
          </a:xfrm>
          <a:prstGeom prst="ellipse">
            <a:avLst/>
          </a:prstGeom>
          <a:solidFill>
            <a:srgbClr val="FFFFFF"/>
          </a:solidFill>
          <a:ln/>
        </p:spPr>
      </p:sp>
      <p:sp>
        <p:nvSpPr>
          <p:cNvPr id="22" name="Shape 17"/>
          <p:cNvSpPr/>
          <p:nvPr/>
        </p:nvSpPr>
        <p:spPr>
          <a:xfrm>
            <a:off x="5638648" y="2889504"/>
            <a:ext cx="914400" cy="914400"/>
          </a:xfrm>
          <a:prstGeom prst="ellipse">
            <a:avLst/>
          </a:prstGeom>
          <a:solidFill>
            <a:srgbClr val="F0FAF4"/>
          </a:solidFill>
          <a:ln w="11430">
            <a:solidFill>
              <a:srgbClr val="BCEBCE"/>
            </a:solidFill>
            <a:prstDash val="solid"/>
          </a:ln>
        </p:spPr>
      </p:sp>
      <p:pic>
        <p:nvPicPr>
          <p:cNvPr id="23" name="Image 3" descr="C:\smart bin\deck\assets\icons\scan-eye-green.png">    </p:cNvPr>
          <p:cNvPicPr>
            <a:picLocks noChangeAspect="1"/>
          </p:cNvPicPr>
          <p:nvPr/>
        </p:nvPicPr>
        <p:blipFill>
          <a:blip r:embed="rId4"/>
          <a:stretch>
            <a:fillRect/>
          </a:stretch>
        </p:blipFill>
        <p:spPr>
          <a:xfrm>
            <a:off x="5903824" y="3154680"/>
            <a:ext cx="384048" cy="384048"/>
          </a:xfrm>
          <a:prstGeom prst="rect">
            <a:avLst/>
          </a:prstGeom>
        </p:spPr>
      </p:pic>
      <p:sp>
        <p:nvSpPr>
          <p:cNvPr id="24" name="Text 18"/>
          <p:cNvSpPr txBox="1"/>
          <p:nvPr/>
        </p:nvSpPr>
        <p:spPr>
          <a:xfrm>
            <a:off x="5377848"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AI Analysis</a:t>
            </a:r>
            <a:endParaRPr lang="en-US" sz="1300" dirty="0"/>
          </a:p>
        </p:txBody>
      </p:sp>
      <p:sp>
        <p:nvSpPr>
          <p:cNvPr id="25" name="Text 19"/>
          <p:cNvSpPr txBox="1"/>
          <p:nvPr/>
        </p:nvSpPr>
        <p:spPr>
          <a:xfrm>
            <a:off x="5377848"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Type and weight read</a:t>
            </a:r>
            <a:endParaRPr lang="en-US" sz="1000" dirty="0"/>
          </a:p>
        </p:txBody>
      </p:sp>
      <p:sp>
        <p:nvSpPr>
          <p:cNvPr id="26" name="Shape 20"/>
          <p:cNvSpPr/>
          <p:nvPr/>
        </p:nvSpPr>
        <p:spPr>
          <a:xfrm>
            <a:off x="7120367" y="2825496"/>
            <a:ext cx="1042416" cy="1042416"/>
          </a:xfrm>
          <a:prstGeom prst="ellipse">
            <a:avLst/>
          </a:prstGeom>
          <a:solidFill>
            <a:srgbClr val="FFFFFF"/>
          </a:solidFill>
          <a:ln/>
        </p:spPr>
      </p:sp>
      <p:sp>
        <p:nvSpPr>
          <p:cNvPr id="27" name="Shape 21"/>
          <p:cNvSpPr/>
          <p:nvPr/>
        </p:nvSpPr>
        <p:spPr>
          <a:xfrm>
            <a:off x="7184375" y="2889504"/>
            <a:ext cx="914400" cy="914400"/>
          </a:xfrm>
          <a:prstGeom prst="ellipse">
            <a:avLst/>
          </a:prstGeom>
          <a:solidFill>
            <a:srgbClr val="F0FAF4"/>
          </a:solidFill>
          <a:ln w="11430">
            <a:solidFill>
              <a:srgbClr val="BCEBCE"/>
            </a:solidFill>
            <a:prstDash val="solid"/>
          </a:ln>
        </p:spPr>
      </p:sp>
      <p:pic>
        <p:nvPicPr>
          <p:cNvPr id="28" name="Image 4" descr="C:\smart bin\deck\assets\icons\factory-green.png">    </p:cNvPr>
          <p:cNvPicPr>
            <a:picLocks noChangeAspect="1"/>
          </p:cNvPicPr>
          <p:nvPr/>
        </p:nvPicPr>
        <p:blipFill>
          <a:blip r:embed="rId5"/>
          <a:stretch>
            <a:fillRect/>
          </a:stretch>
        </p:blipFill>
        <p:spPr>
          <a:xfrm>
            <a:off x="7449551" y="3154680"/>
            <a:ext cx="384048" cy="384048"/>
          </a:xfrm>
          <a:prstGeom prst="rect">
            <a:avLst/>
          </a:prstGeom>
        </p:spPr>
      </p:pic>
      <p:sp>
        <p:nvSpPr>
          <p:cNvPr id="29" name="Text 22"/>
          <p:cNvSpPr txBox="1"/>
          <p:nvPr/>
        </p:nvSpPr>
        <p:spPr>
          <a:xfrm>
            <a:off x="6923576"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Processing</a:t>
            </a:r>
            <a:endParaRPr lang="en-US" sz="1300" dirty="0"/>
          </a:p>
        </p:txBody>
      </p:sp>
      <p:sp>
        <p:nvSpPr>
          <p:cNvPr id="30" name="Text 23"/>
          <p:cNvSpPr txBox="1"/>
          <p:nvPr/>
        </p:nvSpPr>
        <p:spPr>
          <a:xfrm>
            <a:off x="6923576"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Routed for treatment</a:t>
            </a:r>
            <a:endParaRPr lang="en-US" sz="1000" dirty="0"/>
          </a:p>
        </p:txBody>
      </p:sp>
      <p:sp>
        <p:nvSpPr>
          <p:cNvPr id="31" name="Shape 24"/>
          <p:cNvSpPr/>
          <p:nvPr/>
        </p:nvSpPr>
        <p:spPr>
          <a:xfrm>
            <a:off x="8666095" y="2825496"/>
            <a:ext cx="1042416" cy="1042416"/>
          </a:xfrm>
          <a:prstGeom prst="ellipse">
            <a:avLst/>
          </a:prstGeom>
          <a:solidFill>
            <a:srgbClr val="FFFFFF"/>
          </a:solidFill>
          <a:ln/>
        </p:spPr>
      </p:sp>
      <p:sp>
        <p:nvSpPr>
          <p:cNvPr id="32" name="Shape 25"/>
          <p:cNvSpPr/>
          <p:nvPr/>
        </p:nvSpPr>
        <p:spPr>
          <a:xfrm>
            <a:off x="8730103" y="2889504"/>
            <a:ext cx="914400" cy="914400"/>
          </a:xfrm>
          <a:prstGeom prst="ellipse">
            <a:avLst/>
          </a:prstGeom>
          <a:solidFill>
            <a:srgbClr val="F0FAF4"/>
          </a:solidFill>
          <a:ln w="11430">
            <a:solidFill>
              <a:srgbClr val="BCEBCE"/>
            </a:solidFill>
            <a:prstDash val="solid"/>
          </a:ln>
        </p:spPr>
      </p:sp>
      <p:pic>
        <p:nvPicPr>
          <p:cNvPr id="33" name="Image 5" descr="C:\smart bin\deck\assets\icons\file-text-green.png">    </p:cNvPr>
          <p:cNvPicPr>
            <a:picLocks noChangeAspect="1"/>
          </p:cNvPicPr>
          <p:nvPr/>
        </p:nvPicPr>
        <p:blipFill>
          <a:blip r:embed="rId6"/>
          <a:stretch>
            <a:fillRect/>
          </a:stretch>
        </p:blipFill>
        <p:spPr>
          <a:xfrm>
            <a:off x="8995279" y="3154680"/>
            <a:ext cx="384048" cy="384048"/>
          </a:xfrm>
          <a:prstGeom prst="rect">
            <a:avLst/>
          </a:prstGeom>
        </p:spPr>
      </p:pic>
      <p:sp>
        <p:nvSpPr>
          <p:cNvPr id="34" name="Text 26"/>
          <p:cNvSpPr txBox="1"/>
          <p:nvPr/>
        </p:nvSpPr>
        <p:spPr>
          <a:xfrm>
            <a:off x="8469303"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Digital Record</a:t>
            </a:r>
            <a:endParaRPr lang="en-US" sz="1300" dirty="0"/>
          </a:p>
        </p:txBody>
      </p:sp>
      <p:sp>
        <p:nvSpPr>
          <p:cNvPr id="35" name="Text 27"/>
          <p:cNvSpPr txBox="1"/>
          <p:nvPr/>
        </p:nvSpPr>
        <p:spPr>
          <a:xfrm>
            <a:off x="8469303"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Transaction stored</a:t>
            </a:r>
            <a:endParaRPr lang="en-US" sz="1000" dirty="0"/>
          </a:p>
        </p:txBody>
      </p:sp>
      <p:sp>
        <p:nvSpPr>
          <p:cNvPr id="36" name="Shape 28"/>
          <p:cNvSpPr/>
          <p:nvPr/>
        </p:nvSpPr>
        <p:spPr>
          <a:xfrm>
            <a:off x="10211823" y="2825496"/>
            <a:ext cx="1042416" cy="1042416"/>
          </a:xfrm>
          <a:prstGeom prst="ellipse">
            <a:avLst/>
          </a:prstGeom>
          <a:solidFill>
            <a:srgbClr val="FFFFFF"/>
          </a:solidFill>
          <a:ln/>
        </p:spPr>
      </p:sp>
      <p:sp>
        <p:nvSpPr>
          <p:cNvPr id="37" name="Shape 29"/>
          <p:cNvSpPr/>
          <p:nvPr/>
        </p:nvSpPr>
        <p:spPr>
          <a:xfrm>
            <a:off x="10275831" y="2889504"/>
            <a:ext cx="914400" cy="914400"/>
          </a:xfrm>
          <a:prstGeom prst="ellipse">
            <a:avLst/>
          </a:prstGeom>
          <a:solidFill>
            <a:srgbClr val="248A5E"/>
          </a:solidFill>
          <a:ln/>
        </p:spPr>
      </p:sp>
      <p:pic>
        <p:nvPicPr>
          <p:cNvPr id="38" name="Image 6" descr="C:\smart bin\deck\assets\icons\gift-light.png">    </p:cNvPr>
          <p:cNvPicPr>
            <a:picLocks noChangeAspect="1"/>
          </p:cNvPicPr>
          <p:nvPr/>
        </p:nvPicPr>
        <p:blipFill>
          <a:blip r:embed="rId7"/>
          <a:stretch>
            <a:fillRect/>
          </a:stretch>
        </p:blipFill>
        <p:spPr>
          <a:xfrm>
            <a:off x="10541007" y="3154680"/>
            <a:ext cx="384048" cy="384048"/>
          </a:xfrm>
          <a:prstGeom prst="rect">
            <a:avLst/>
          </a:prstGeom>
        </p:spPr>
      </p:pic>
      <p:sp>
        <p:nvSpPr>
          <p:cNvPr id="39" name="Text 30"/>
          <p:cNvSpPr txBox="1"/>
          <p:nvPr/>
        </p:nvSpPr>
        <p:spPr>
          <a:xfrm>
            <a:off x="10015031" y="3913632"/>
            <a:ext cx="1436000"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Reward</a:t>
            </a:r>
            <a:endParaRPr lang="en-US" sz="1300" dirty="0"/>
          </a:p>
        </p:txBody>
      </p:sp>
      <p:sp>
        <p:nvSpPr>
          <p:cNvPr id="40" name="Text 31"/>
          <p:cNvSpPr txBox="1"/>
          <p:nvPr/>
        </p:nvSpPr>
        <p:spPr>
          <a:xfrm>
            <a:off x="10015031" y="4169664"/>
            <a:ext cx="1436000" cy="457200"/>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Points or penalty</a:t>
            </a:r>
            <a:endParaRPr lang="en-US" sz="1000" dirty="0"/>
          </a:p>
        </p:txBody>
      </p:sp>
      <p:sp>
        <p:nvSpPr>
          <p:cNvPr id="41" name="Shape 32"/>
          <p:cNvSpPr/>
          <p:nvPr/>
        </p:nvSpPr>
        <p:spPr>
          <a:xfrm>
            <a:off x="685800" y="5285232"/>
            <a:ext cx="10820095" cy="777240"/>
          </a:xfrm>
          <a:prstGeom prst="roundRect">
            <a:avLst>
              <a:gd name="adj" fmla="val 18824"/>
            </a:avLst>
          </a:prstGeom>
          <a:solidFill>
            <a:srgbClr val="F0FAF4"/>
          </a:solidFill>
          <a:ln w="9525">
            <a:solidFill>
              <a:srgbClr val="DCF5E5"/>
            </a:solidFill>
            <a:prstDash val="solid"/>
          </a:ln>
        </p:spPr>
      </p:sp>
      <p:pic>
        <p:nvPicPr>
          <p:cNvPr id="42" name="Image 7" descr="C:\smart bin\deck\assets\icons\leaf-green.png">    </p:cNvPr>
          <p:cNvPicPr>
            <a:picLocks noChangeAspect="1"/>
          </p:cNvPicPr>
          <p:nvPr/>
        </p:nvPicPr>
        <p:blipFill>
          <a:blip r:embed="rId8"/>
          <a:stretch>
            <a:fillRect/>
          </a:stretch>
        </p:blipFill>
        <p:spPr>
          <a:xfrm>
            <a:off x="1069848" y="5550408"/>
            <a:ext cx="256032" cy="256032"/>
          </a:xfrm>
          <a:prstGeom prst="rect">
            <a:avLst/>
          </a:prstGeom>
        </p:spPr>
      </p:pic>
      <p:sp>
        <p:nvSpPr>
          <p:cNvPr id="43" name="Text 33"/>
          <p:cNvSpPr txBox="1"/>
          <p:nvPr/>
        </p:nvSpPr>
        <p:spPr>
          <a:xfrm>
            <a:off x="1472184" y="5285232"/>
            <a:ext cx="9631375" cy="777240"/>
          </a:xfrm>
          <a:prstGeom prst="rect">
            <a:avLst/>
          </a:prstGeom>
          <a:noFill/>
          <a:ln/>
        </p:spPr>
        <p:txBody>
          <a:bodyPr wrap="square" lIns="0" tIns="0" rIns="0" bIns="0" rtlCol="0" anchor="ctr"/>
          <a:lstStyle/>
          <a:p>
            <a:pPr indent="0" marL="0">
              <a:buNone/>
            </a:pPr>
            <a:r>
              <a:rPr lang="en-US" sz="1350" b="1" dirty="0">
                <a:solidFill>
                  <a:srgbClr val="0F3B2A"/>
                </a:solidFill>
                <a:latin typeface="Calibri" pitchFamily="34" charset="0"/>
                <a:ea typeface="Calibri" pitchFamily="34" charset="-122"/>
                <a:cs typeface="Calibri" pitchFamily="34" charset="-120"/>
              </a:rPr>
              <a:t>Every deposit becomes a verifiable digital transaction — identified, weighed, classified and scored.</a:t>
            </a:r>
            <a:endParaRPr lang="en-US" sz="1350" dirty="0"/>
          </a:p>
        </p:txBody>
      </p:sp>
      <p:sp>
        <p:nvSpPr>
          <p:cNvPr id="44" name="Text 34"/>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45" name="Text 35"/>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03 / 12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685800" y="790956"/>
            <a:ext cx="256032" cy="50292"/>
          </a:xfrm>
          <a:prstGeom prst="rect">
            <a:avLst/>
          </a:prstGeom>
          <a:solidFill>
            <a:srgbClr val="248A5E"/>
          </a:solidFill>
          <a:ln/>
        </p:spPr>
      </p:sp>
      <p:sp>
        <p:nvSpPr>
          <p:cNvPr id="3" name="Text 1"/>
          <p:cNvSpPr txBox="1"/>
          <p:nvPr/>
        </p:nvSpPr>
        <p:spPr>
          <a:xfrm>
            <a:off x="1069848" y="713232"/>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04  HOW ENGO WORKS</a:t>
            </a:r>
            <a:endParaRPr lang="en-US" sz="1050" dirty="0"/>
          </a:p>
        </p:txBody>
      </p:sp>
      <p:sp>
        <p:nvSpPr>
          <p:cNvPr id="4" name="Text 2"/>
          <p:cNvSpPr txBox="1"/>
          <p:nvPr/>
        </p:nvSpPr>
        <p:spPr>
          <a:xfrm>
            <a:off x="685800" y="1115568"/>
            <a:ext cx="6400800" cy="640080"/>
          </a:xfrm>
          <a:prstGeom prst="rect">
            <a:avLst/>
          </a:prstGeom>
          <a:noFill/>
          <a:ln/>
        </p:spPr>
        <p:txBody>
          <a:bodyPr wrap="square" lIns="0" tIns="0" rIns="0" bIns="0" rtlCol="0" anchor="ctr"/>
          <a:lstStyle/>
          <a:p>
            <a:pPr indent="0" marL="0">
              <a:buNone/>
            </a:pPr>
            <a:r>
              <a:rPr lang="en-US" sz="3400" b="1" dirty="0">
                <a:solidFill>
                  <a:srgbClr val="0E1A15"/>
                </a:solidFill>
                <a:latin typeface="Calibri" pitchFamily="34" charset="0"/>
                <a:ea typeface="Calibri" pitchFamily="34" charset="-122"/>
                <a:cs typeface="Calibri" pitchFamily="34" charset="-120"/>
              </a:rPr>
              <a:t>Five steps, start to finish.</a:t>
            </a:r>
            <a:endParaRPr lang="en-US" sz="3400" dirty="0"/>
          </a:p>
        </p:txBody>
      </p:sp>
      <p:sp>
        <p:nvSpPr>
          <p:cNvPr id="5" name="Text 3"/>
          <p:cNvSpPr txBox="1"/>
          <p:nvPr/>
        </p:nvSpPr>
        <p:spPr>
          <a:xfrm>
            <a:off x="685800" y="1783080"/>
            <a:ext cx="7863840" cy="329184"/>
          </a:xfrm>
          <a:prstGeom prst="rect">
            <a:avLst/>
          </a:prstGeom>
          <a:noFill/>
          <a:ln/>
        </p:spPr>
        <p:txBody>
          <a:bodyPr wrap="square" lIns="0" tIns="0" rIns="0" bIns="0" rtlCol="0" anchor="ctr"/>
          <a:lstStyle/>
          <a:p>
            <a:pPr indent="0" marL="0">
              <a:buNone/>
            </a:pPr>
            <a:r>
              <a:rPr lang="en-US" sz="1350" dirty="0">
                <a:solidFill>
                  <a:srgbClr val="5C6B64"/>
                </a:solidFill>
                <a:latin typeface="Calibri" pitchFamily="34" charset="0"/>
                <a:ea typeface="Calibri" pitchFamily="34" charset="-122"/>
                <a:cs typeface="Calibri" pitchFamily="34" charset="-120"/>
              </a:rPr>
              <a:t>The same five steps drive the app, the scoring rules and the future hardware.</a:t>
            </a:r>
            <a:endParaRPr lang="en-US" sz="1350" dirty="0"/>
          </a:p>
        </p:txBody>
      </p:sp>
      <p:sp>
        <p:nvSpPr>
          <p:cNvPr id="6" name="Shape 4"/>
          <p:cNvSpPr/>
          <p:nvPr/>
        </p:nvSpPr>
        <p:spPr>
          <a:xfrm>
            <a:off x="685800" y="2395728"/>
            <a:ext cx="1973824" cy="3200400"/>
          </a:xfrm>
          <a:prstGeom prst="roundRect">
            <a:avLst>
              <a:gd name="adj" fmla="val 7412"/>
            </a:avLst>
          </a:prstGeom>
          <a:solidFill>
            <a:srgbClr val="0F3B2A"/>
          </a:solidFill>
          <a:ln/>
          <a:effectLst>
            <a:outerShdw sx="100000" sy="100000" kx="0" ky="0" algn="bl" rotWithShape="0" blurRad="177800" dist="38100" dir="5400000">
              <a:srgbClr val="0E1A15">
                <a:alpha val="10000"/>
              </a:srgbClr>
            </a:outerShdw>
          </a:effectLst>
        </p:spPr>
      </p:sp>
      <p:sp>
        <p:nvSpPr>
          <p:cNvPr id="7" name="Text 5"/>
          <p:cNvSpPr txBox="1"/>
          <p:nvPr/>
        </p:nvSpPr>
        <p:spPr>
          <a:xfrm>
            <a:off x="960120" y="2651760"/>
            <a:ext cx="1097280" cy="548640"/>
          </a:xfrm>
          <a:prstGeom prst="rect">
            <a:avLst/>
          </a:prstGeom>
          <a:noFill/>
          <a:ln/>
        </p:spPr>
        <p:txBody>
          <a:bodyPr wrap="square" lIns="0" tIns="0" rIns="0" bIns="0" rtlCol="0" anchor="ctr"/>
          <a:lstStyle/>
          <a:p>
            <a:pPr indent="0" marL="0">
              <a:buNone/>
            </a:pPr>
            <a:r>
              <a:rPr lang="en-US" sz="3000" b="1" dirty="0">
                <a:solidFill>
                  <a:srgbClr val="5BC98C"/>
                </a:solidFill>
                <a:latin typeface="Calibri" pitchFamily="34" charset="0"/>
                <a:ea typeface="Calibri" pitchFamily="34" charset="-122"/>
                <a:cs typeface="Calibri" pitchFamily="34" charset="-120"/>
              </a:rPr>
              <a:t>01</a:t>
            </a:r>
            <a:endParaRPr lang="en-US" sz="3000" dirty="0"/>
          </a:p>
        </p:txBody>
      </p:sp>
      <p:sp>
        <p:nvSpPr>
          <p:cNvPr id="8" name="Shape 6"/>
          <p:cNvSpPr/>
          <p:nvPr/>
        </p:nvSpPr>
        <p:spPr>
          <a:xfrm>
            <a:off x="1827520" y="2660904"/>
            <a:ext cx="566928" cy="566928"/>
          </a:xfrm>
          <a:prstGeom prst="ellipse">
            <a:avLst/>
          </a:prstGeom>
          <a:solidFill>
            <a:srgbClr val="17513A"/>
          </a:solidFill>
          <a:ln/>
        </p:spPr>
      </p:sp>
      <p:pic>
        <p:nvPicPr>
          <p:cNvPr id="9" name="Image 0" descr="C:\smart bin\deck\assets\icons\nfc-mint.png">    </p:cNvPr>
          <p:cNvPicPr>
            <a:picLocks noChangeAspect="1"/>
          </p:cNvPicPr>
          <p:nvPr/>
        </p:nvPicPr>
        <p:blipFill>
          <a:blip r:embed="rId1"/>
          <a:stretch>
            <a:fillRect/>
          </a:stretch>
        </p:blipFill>
        <p:spPr>
          <a:xfrm>
            <a:off x="1980590" y="2813975"/>
            <a:ext cx="260787" cy="260787"/>
          </a:xfrm>
          <a:prstGeom prst="rect">
            <a:avLst/>
          </a:prstGeom>
        </p:spPr>
      </p:pic>
      <p:sp>
        <p:nvSpPr>
          <p:cNvPr id="10" name="Text 7"/>
          <p:cNvSpPr txBox="1"/>
          <p:nvPr/>
        </p:nvSpPr>
        <p:spPr>
          <a:xfrm>
            <a:off x="960120" y="4151376"/>
            <a:ext cx="1425184"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Identify</a:t>
            </a:r>
            <a:endParaRPr lang="en-US" sz="1700" dirty="0"/>
          </a:p>
        </p:txBody>
      </p:sp>
      <p:sp>
        <p:nvSpPr>
          <p:cNvPr id="11" name="Text 8"/>
          <p:cNvSpPr txBox="1"/>
          <p:nvPr/>
        </p:nvSpPr>
        <p:spPr>
          <a:xfrm>
            <a:off x="960120" y="4590288"/>
            <a:ext cx="1425184" cy="896112"/>
          </a:xfrm>
          <a:prstGeom prst="rect">
            <a:avLst/>
          </a:prstGeom>
          <a:noFill/>
          <a:ln/>
        </p:spPr>
        <p:txBody>
          <a:bodyPr wrap="square" lIns="0" tIns="0" rIns="0" bIns="0" rtlCol="0" anchor="ctr"/>
          <a:lstStyle/>
          <a:p>
            <a:pPr indent="0" marL="0">
              <a:lnSpc>
                <a:spcPct val="120000"/>
              </a:lnSpc>
              <a:buNone/>
            </a:pPr>
            <a:r>
              <a:rPr lang="en-US" sz="1150" dirty="0">
                <a:solidFill>
                  <a:srgbClr val="BCEBCE"/>
                </a:solidFill>
                <a:latin typeface="Calibri" pitchFamily="34" charset="0"/>
                <a:ea typeface="Calibri" pitchFamily="34" charset="-122"/>
                <a:cs typeface="Calibri" pitchFamily="34" charset="-120"/>
              </a:rPr>
              <a:t>An RFID card links the deposit to a specific student account.</a:t>
            </a:r>
            <a:endParaRPr lang="en-US" sz="1150" dirty="0"/>
          </a:p>
        </p:txBody>
      </p:sp>
      <p:sp>
        <p:nvSpPr>
          <p:cNvPr id="12" name="Shape 9"/>
          <p:cNvSpPr/>
          <p:nvPr/>
        </p:nvSpPr>
        <p:spPr>
          <a:xfrm>
            <a:off x="2897368" y="2395728"/>
            <a:ext cx="1973824" cy="3200400"/>
          </a:xfrm>
          <a:prstGeom prst="roundRect">
            <a:avLst>
              <a:gd name="adj" fmla="val 741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13" name="Text 10"/>
          <p:cNvSpPr txBox="1"/>
          <p:nvPr/>
        </p:nvSpPr>
        <p:spPr>
          <a:xfrm>
            <a:off x="3171688" y="2651760"/>
            <a:ext cx="1097280" cy="548640"/>
          </a:xfrm>
          <a:prstGeom prst="rect">
            <a:avLst/>
          </a:prstGeom>
          <a:noFill/>
          <a:ln/>
        </p:spPr>
        <p:txBody>
          <a:bodyPr wrap="square" lIns="0" tIns="0" rIns="0" bIns="0" rtlCol="0" anchor="ctr"/>
          <a:lstStyle/>
          <a:p>
            <a:pPr indent="0" marL="0">
              <a:buNone/>
            </a:pPr>
            <a:r>
              <a:rPr lang="en-US" sz="3000" b="1" dirty="0">
                <a:solidFill>
                  <a:srgbClr val="BCEBCE"/>
                </a:solidFill>
                <a:latin typeface="Calibri" pitchFamily="34" charset="0"/>
                <a:ea typeface="Calibri" pitchFamily="34" charset="-122"/>
                <a:cs typeface="Calibri" pitchFamily="34" charset="-120"/>
              </a:rPr>
              <a:t>02</a:t>
            </a:r>
            <a:endParaRPr lang="en-US" sz="3000" dirty="0"/>
          </a:p>
        </p:txBody>
      </p:sp>
      <p:sp>
        <p:nvSpPr>
          <p:cNvPr id="14" name="Shape 11"/>
          <p:cNvSpPr/>
          <p:nvPr/>
        </p:nvSpPr>
        <p:spPr>
          <a:xfrm>
            <a:off x="4039088" y="2660904"/>
            <a:ext cx="566928" cy="566928"/>
          </a:xfrm>
          <a:prstGeom prst="ellipse">
            <a:avLst/>
          </a:prstGeom>
          <a:solidFill>
            <a:srgbClr val="F0FAF4"/>
          </a:solidFill>
          <a:ln/>
        </p:spPr>
      </p:sp>
      <p:pic>
        <p:nvPicPr>
          <p:cNvPr id="15" name="Image 1" descr="C:\smart bin\deck\assets\icons\package-open-green.png">    </p:cNvPr>
          <p:cNvPicPr>
            <a:picLocks noChangeAspect="1"/>
          </p:cNvPicPr>
          <p:nvPr/>
        </p:nvPicPr>
        <p:blipFill>
          <a:blip r:embed="rId2"/>
          <a:stretch>
            <a:fillRect/>
          </a:stretch>
        </p:blipFill>
        <p:spPr>
          <a:xfrm>
            <a:off x="4192158" y="2813975"/>
            <a:ext cx="260787" cy="260787"/>
          </a:xfrm>
          <a:prstGeom prst="rect">
            <a:avLst/>
          </a:prstGeom>
        </p:spPr>
      </p:pic>
      <p:sp>
        <p:nvSpPr>
          <p:cNvPr id="16" name="Text 12"/>
          <p:cNvSpPr txBox="1"/>
          <p:nvPr/>
        </p:nvSpPr>
        <p:spPr>
          <a:xfrm>
            <a:off x="3171688" y="4151376"/>
            <a:ext cx="1425184" cy="365760"/>
          </a:xfrm>
          <a:prstGeom prst="rect">
            <a:avLst/>
          </a:prstGeom>
          <a:noFill/>
          <a:ln/>
        </p:spPr>
        <p:txBody>
          <a:bodyPr wrap="square" lIns="0" tIns="0" rIns="0" bIns="0" rtlCol="0" anchor="ctr"/>
          <a:lstStyle/>
          <a:p>
            <a:pPr indent="0" marL="0">
              <a:buNone/>
            </a:pPr>
            <a:r>
              <a:rPr lang="en-US" sz="1700" b="1" dirty="0">
                <a:solidFill>
                  <a:srgbClr val="0E1A15"/>
                </a:solidFill>
                <a:latin typeface="Calibri" pitchFamily="34" charset="0"/>
                <a:ea typeface="Calibri" pitchFamily="34" charset="-122"/>
                <a:cs typeface="Calibri" pitchFamily="34" charset="-120"/>
              </a:rPr>
              <a:t>Deposit</a:t>
            </a:r>
            <a:endParaRPr lang="en-US" sz="1700" dirty="0"/>
          </a:p>
        </p:txBody>
      </p:sp>
      <p:sp>
        <p:nvSpPr>
          <p:cNvPr id="17" name="Text 13"/>
          <p:cNvSpPr txBox="1"/>
          <p:nvPr/>
        </p:nvSpPr>
        <p:spPr>
          <a:xfrm>
            <a:off x="3171688" y="4590288"/>
            <a:ext cx="1425184" cy="896112"/>
          </a:xfrm>
          <a:prstGeom prst="rect">
            <a:avLst/>
          </a:prstGeom>
          <a:noFill/>
          <a:ln/>
        </p:spPr>
        <p:txBody>
          <a:bodyPr wrap="square" lIns="0" tIns="0" rIns="0" bIns="0" rtlCol="0" anchor="ctr"/>
          <a:lstStyle/>
          <a:p>
            <a:pPr indent="0" marL="0">
              <a:lnSpc>
                <a:spcPct val="120000"/>
              </a:lnSpc>
              <a:buNone/>
            </a:pPr>
            <a:r>
              <a:rPr lang="en-US" sz="1150" dirty="0">
                <a:solidFill>
                  <a:srgbClr val="5C6B64"/>
                </a:solidFill>
                <a:latin typeface="Calibri" pitchFamily="34" charset="0"/>
                <a:ea typeface="Calibri" pitchFamily="34" charset="-122"/>
                <a:cs typeface="Calibri" pitchFamily="34" charset="-120"/>
              </a:rPr>
              <a:t>The bin unlocks and the waste is placed inside.</a:t>
            </a:r>
            <a:endParaRPr lang="en-US" sz="1150" dirty="0"/>
          </a:p>
        </p:txBody>
      </p:sp>
      <p:sp>
        <p:nvSpPr>
          <p:cNvPr id="18" name="Shape 14"/>
          <p:cNvSpPr/>
          <p:nvPr/>
        </p:nvSpPr>
        <p:spPr>
          <a:xfrm>
            <a:off x="5108936" y="2395728"/>
            <a:ext cx="1973824" cy="3200400"/>
          </a:xfrm>
          <a:prstGeom prst="roundRect">
            <a:avLst>
              <a:gd name="adj" fmla="val 741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19" name="Text 15"/>
          <p:cNvSpPr txBox="1"/>
          <p:nvPr/>
        </p:nvSpPr>
        <p:spPr>
          <a:xfrm>
            <a:off x="5383256" y="2651760"/>
            <a:ext cx="1097280" cy="548640"/>
          </a:xfrm>
          <a:prstGeom prst="rect">
            <a:avLst/>
          </a:prstGeom>
          <a:noFill/>
          <a:ln/>
        </p:spPr>
        <p:txBody>
          <a:bodyPr wrap="square" lIns="0" tIns="0" rIns="0" bIns="0" rtlCol="0" anchor="ctr"/>
          <a:lstStyle/>
          <a:p>
            <a:pPr indent="0" marL="0">
              <a:buNone/>
            </a:pPr>
            <a:r>
              <a:rPr lang="en-US" sz="3000" b="1" dirty="0">
                <a:solidFill>
                  <a:srgbClr val="BCEBCE"/>
                </a:solidFill>
                <a:latin typeface="Calibri" pitchFamily="34" charset="0"/>
                <a:ea typeface="Calibri" pitchFamily="34" charset="-122"/>
                <a:cs typeface="Calibri" pitchFamily="34" charset="-120"/>
              </a:rPr>
              <a:t>03</a:t>
            </a:r>
            <a:endParaRPr lang="en-US" sz="3000" dirty="0"/>
          </a:p>
        </p:txBody>
      </p:sp>
      <p:sp>
        <p:nvSpPr>
          <p:cNvPr id="20" name="Shape 16"/>
          <p:cNvSpPr/>
          <p:nvPr/>
        </p:nvSpPr>
        <p:spPr>
          <a:xfrm>
            <a:off x="6250656" y="2660904"/>
            <a:ext cx="566928" cy="566928"/>
          </a:xfrm>
          <a:prstGeom prst="ellipse">
            <a:avLst/>
          </a:prstGeom>
          <a:solidFill>
            <a:srgbClr val="F0FAF4"/>
          </a:solidFill>
          <a:ln/>
        </p:spPr>
      </p:sp>
      <p:pic>
        <p:nvPicPr>
          <p:cNvPr id="21" name="Image 2" descr="C:\smart bin\deck\assets\icons\scan-eye-green.png">    </p:cNvPr>
          <p:cNvPicPr>
            <a:picLocks noChangeAspect="1"/>
          </p:cNvPicPr>
          <p:nvPr/>
        </p:nvPicPr>
        <p:blipFill>
          <a:blip r:embed="rId3"/>
          <a:stretch>
            <a:fillRect/>
          </a:stretch>
        </p:blipFill>
        <p:spPr>
          <a:xfrm>
            <a:off x="6403726" y="2813975"/>
            <a:ext cx="260787" cy="260787"/>
          </a:xfrm>
          <a:prstGeom prst="rect">
            <a:avLst/>
          </a:prstGeom>
        </p:spPr>
      </p:pic>
      <p:sp>
        <p:nvSpPr>
          <p:cNvPr id="22" name="Text 17"/>
          <p:cNvSpPr txBox="1"/>
          <p:nvPr/>
        </p:nvSpPr>
        <p:spPr>
          <a:xfrm>
            <a:off x="5383256" y="4151376"/>
            <a:ext cx="1425184" cy="365760"/>
          </a:xfrm>
          <a:prstGeom prst="rect">
            <a:avLst/>
          </a:prstGeom>
          <a:noFill/>
          <a:ln/>
        </p:spPr>
        <p:txBody>
          <a:bodyPr wrap="square" lIns="0" tIns="0" rIns="0" bIns="0" rtlCol="0" anchor="ctr"/>
          <a:lstStyle/>
          <a:p>
            <a:pPr indent="0" marL="0">
              <a:buNone/>
            </a:pPr>
            <a:r>
              <a:rPr lang="en-US" sz="1700" b="1" dirty="0">
                <a:solidFill>
                  <a:srgbClr val="0E1A15"/>
                </a:solidFill>
                <a:latin typeface="Calibri" pitchFamily="34" charset="0"/>
                <a:ea typeface="Calibri" pitchFamily="34" charset="-122"/>
                <a:cs typeface="Calibri" pitchFamily="34" charset="-120"/>
              </a:rPr>
              <a:t>Analyze</a:t>
            </a:r>
            <a:endParaRPr lang="en-US" sz="1700" dirty="0"/>
          </a:p>
        </p:txBody>
      </p:sp>
      <p:sp>
        <p:nvSpPr>
          <p:cNvPr id="23" name="Text 18"/>
          <p:cNvSpPr txBox="1"/>
          <p:nvPr/>
        </p:nvSpPr>
        <p:spPr>
          <a:xfrm>
            <a:off x="5383256" y="4590288"/>
            <a:ext cx="1425184" cy="896112"/>
          </a:xfrm>
          <a:prstGeom prst="rect">
            <a:avLst/>
          </a:prstGeom>
          <a:noFill/>
          <a:ln/>
        </p:spPr>
        <p:txBody>
          <a:bodyPr wrap="square" lIns="0" tIns="0" rIns="0" bIns="0" rtlCol="0" anchor="ctr"/>
          <a:lstStyle/>
          <a:p>
            <a:pPr indent="0" marL="0">
              <a:lnSpc>
                <a:spcPct val="120000"/>
              </a:lnSpc>
              <a:buNone/>
            </a:pPr>
            <a:r>
              <a:rPr lang="en-US" sz="1150" dirty="0">
                <a:solidFill>
                  <a:srgbClr val="5C6B64"/>
                </a:solidFill>
                <a:latin typeface="Calibri" pitchFamily="34" charset="0"/>
                <a:ea typeface="Calibri" pitchFamily="34" charset="-122"/>
                <a:cs typeface="Calibri" pitchFamily="34" charset="-120"/>
              </a:rPr>
              <a:t>A camera and load cell determine the type and the weight.</a:t>
            </a:r>
            <a:endParaRPr lang="en-US" sz="1150" dirty="0"/>
          </a:p>
        </p:txBody>
      </p:sp>
      <p:sp>
        <p:nvSpPr>
          <p:cNvPr id="24" name="Shape 19"/>
          <p:cNvSpPr/>
          <p:nvPr/>
        </p:nvSpPr>
        <p:spPr>
          <a:xfrm>
            <a:off x="7320504" y="2395728"/>
            <a:ext cx="1973824" cy="3200400"/>
          </a:xfrm>
          <a:prstGeom prst="roundRect">
            <a:avLst>
              <a:gd name="adj" fmla="val 741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25" name="Text 20"/>
          <p:cNvSpPr txBox="1"/>
          <p:nvPr/>
        </p:nvSpPr>
        <p:spPr>
          <a:xfrm>
            <a:off x="7594824" y="2651760"/>
            <a:ext cx="1097280" cy="548640"/>
          </a:xfrm>
          <a:prstGeom prst="rect">
            <a:avLst/>
          </a:prstGeom>
          <a:noFill/>
          <a:ln/>
        </p:spPr>
        <p:txBody>
          <a:bodyPr wrap="square" lIns="0" tIns="0" rIns="0" bIns="0" rtlCol="0" anchor="ctr"/>
          <a:lstStyle/>
          <a:p>
            <a:pPr indent="0" marL="0">
              <a:buNone/>
            </a:pPr>
            <a:r>
              <a:rPr lang="en-US" sz="3000" b="1" dirty="0">
                <a:solidFill>
                  <a:srgbClr val="BCEBCE"/>
                </a:solidFill>
                <a:latin typeface="Calibri" pitchFamily="34" charset="0"/>
                <a:ea typeface="Calibri" pitchFamily="34" charset="-122"/>
                <a:cs typeface="Calibri" pitchFamily="34" charset="-120"/>
              </a:rPr>
              <a:t>04</a:t>
            </a:r>
            <a:endParaRPr lang="en-US" sz="3000" dirty="0"/>
          </a:p>
        </p:txBody>
      </p:sp>
      <p:sp>
        <p:nvSpPr>
          <p:cNvPr id="26" name="Shape 21"/>
          <p:cNvSpPr/>
          <p:nvPr/>
        </p:nvSpPr>
        <p:spPr>
          <a:xfrm>
            <a:off x="8462223" y="2660904"/>
            <a:ext cx="566928" cy="566928"/>
          </a:xfrm>
          <a:prstGeom prst="ellipse">
            <a:avLst/>
          </a:prstGeom>
          <a:solidFill>
            <a:srgbClr val="F0FAF4"/>
          </a:solidFill>
          <a:ln/>
        </p:spPr>
      </p:sp>
      <p:pic>
        <p:nvPicPr>
          <p:cNvPr id="27" name="Image 3" descr="C:\smart bin\deck\assets\icons\factory-green.png">    </p:cNvPr>
          <p:cNvPicPr>
            <a:picLocks noChangeAspect="1"/>
          </p:cNvPicPr>
          <p:nvPr/>
        </p:nvPicPr>
        <p:blipFill>
          <a:blip r:embed="rId4"/>
          <a:stretch>
            <a:fillRect/>
          </a:stretch>
        </p:blipFill>
        <p:spPr>
          <a:xfrm>
            <a:off x="8615294" y="2813975"/>
            <a:ext cx="260787" cy="260787"/>
          </a:xfrm>
          <a:prstGeom prst="rect">
            <a:avLst/>
          </a:prstGeom>
        </p:spPr>
      </p:pic>
      <p:sp>
        <p:nvSpPr>
          <p:cNvPr id="28" name="Text 22"/>
          <p:cNvSpPr txBox="1"/>
          <p:nvPr/>
        </p:nvSpPr>
        <p:spPr>
          <a:xfrm>
            <a:off x="7594824" y="4151376"/>
            <a:ext cx="1425184" cy="365760"/>
          </a:xfrm>
          <a:prstGeom prst="rect">
            <a:avLst/>
          </a:prstGeom>
          <a:noFill/>
          <a:ln/>
        </p:spPr>
        <p:txBody>
          <a:bodyPr wrap="square" lIns="0" tIns="0" rIns="0" bIns="0" rtlCol="0" anchor="ctr"/>
          <a:lstStyle/>
          <a:p>
            <a:pPr indent="0" marL="0">
              <a:buNone/>
            </a:pPr>
            <a:r>
              <a:rPr lang="en-US" sz="1700" b="1" dirty="0">
                <a:solidFill>
                  <a:srgbClr val="0E1A15"/>
                </a:solidFill>
                <a:latin typeface="Calibri" pitchFamily="34" charset="0"/>
                <a:ea typeface="Calibri" pitchFamily="34" charset="-122"/>
                <a:cs typeface="Calibri" pitchFamily="34" charset="-120"/>
              </a:rPr>
              <a:t>Process</a:t>
            </a:r>
            <a:endParaRPr lang="en-US" sz="1700" dirty="0"/>
          </a:p>
        </p:txBody>
      </p:sp>
      <p:sp>
        <p:nvSpPr>
          <p:cNvPr id="29" name="Text 23"/>
          <p:cNvSpPr txBox="1"/>
          <p:nvPr/>
        </p:nvSpPr>
        <p:spPr>
          <a:xfrm>
            <a:off x="7594824" y="4590288"/>
            <a:ext cx="1425184" cy="896112"/>
          </a:xfrm>
          <a:prstGeom prst="rect">
            <a:avLst/>
          </a:prstGeom>
          <a:noFill/>
          <a:ln/>
        </p:spPr>
        <p:txBody>
          <a:bodyPr wrap="square" lIns="0" tIns="0" rIns="0" bIns="0" rtlCol="0" anchor="ctr"/>
          <a:lstStyle/>
          <a:p>
            <a:pPr indent="0" marL="0">
              <a:lnSpc>
                <a:spcPct val="120000"/>
              </a:lnSpc>
              <a:buNone/>
            </a:pPr>
            <a:r>
              <a:rPr lang="en-US" sz="1150" dirty="0">
                <a:solidFill>
                  <a:srgbClr val="5C6B64"/>
                </a:solidFill>
                <a:latin typeface="Calibri" pitchFamily="34" charset="0"/>
                <a:ea typeface="Calibri" pitchFamily="34" charset="-122"/>
                <a:cs typeface="Calibri" pitchFamily="34" charset="-120"/>
              </a:rPr>
              <a:t>Waste is routed into the right processing stream.</a:t>
            </a:r>
            <a:endParaRPr lang="en-US" sz="1150" dirty="0"/>
          </a:p>
        </p:txBody>
      </p:sp>
      <p:sp>
        <p:nvSpPr>
          <p:cNvPr id="30" name="Shape 24"/>
          <p:cNvSpPr/>
          <p:nvPr/>
        </p:nvSpPr>
        <p:spPr>
          <a:xfrm>
            <a:off x="9532071" y="2395728"/>
            <a:ext cx="1973824" cy="3200400"/>
          </a:xfrm>
          <a:prstGeom prst="roundRect">
            <a:avLst>
              <a:gd name="adj" fmla="val 741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31" name="Text 25"/>
          <p:cNvSpPr txBox="1"/>
          <p:nvPr/>
        </p:nvSpPr>
        <p:spPr>
          <a:xfrm>
            <a:off x="9806391" y="2651760"/>
            <a:ext cx="1097280" cy="548640"/>
          </a:xfrm>
          <a:prstGeom prst="rect">
            <a:avLst/>
          </a:prstGeom>
          <a:noFill/>
          <a:ln/>
        </p:spPr>
        <p:txBody>
          <a:bodyPr wrap="square" lIns="0" tIns="0" rIns="0" bIns="0" rtlCol="0" anchor="ctr"/>
          <a:lstStyle/>
          <a:p>
            <a:pPr indent="0" marL="0">
              <a:buNone/>
            </a:pPr>
            <a:r>
              <a:rPr lang="en-US" sz="3000" b="1" dirty="0">
                <a:solidFill>
                  <a:srgbClr val="BCEBCE"/>
                </a:solidFill>
                <a:latin typeface="Calibri" pitchFamily="34" charset="0"/>
                <a:ea typeface="Calibri" pitchFamily="34" charset="-122"/>
                <a:cs typeface="Calibri" pitchFamily="34" charset="-120"/>
              </a:rPr>
              <a:t>05</a:t>
            </a:r>
            <a:endParaRPr lang="en-US" sz="3000" dirty="0"/>
          </a:p>
        </p:txBody>
      </p:sp>
      <p:sp>
        <p:nvSpPr>
          <p:cNvPr id="32" name="Shape 26"/>
          <p:cNvSpPr/>
          <p:nvPr/>
        </p:nvSpPr>
        <p:spPr>
          <a:xfrm>
            <a:off x="10673791" y="2660904"/>
            <a:ext cx="566928" cy="566928"/>
          </a:xfrm>
          <a:prstGeom prst="ellipse">
            <a:avLst/>
          </a:prstGeom>
          <a:solidFill>
            <a:srgbClr val="F0FAF4"/>
          </a:solidFill>
          <a:ln/>
        </p:spPr>
      </p:sp>
      <p:pic>
        <p:nvPicPr>
          <p:cNvPr id="33" name="Image 4" descr="C:\smart bin\deck\assets\icons\gift-green.png">    </p:cNvPr>
          <p:cNvPicPr>
            <a:picLocks noChangeAspect="1"/>
          </p:cNvPicPr>
          <p:nvPr/>
        </p:nvPicPr>
        <p:blipFill>
          <a:blip r:embed="rId5"/>
          <a:stretch>
            <a:fillRect/>
          </a:stretch>
        </p:blipFill>
        <p:spPr>
          <a:xfrm>
            <a:off x="10826862" y="2813975"/>
            <a:ext cx="260787" cy="260787"/>
          </a:xfrm>
          <a:prstGeom prst="rect">
            <a:avLst/>
          </a:prstGeom>
        </p:spPr>
      </p:pic>
      <p:sp>
        <p:nvSpPr>
          <p:cNvPr id="34" name="Text 27"/>
          <p:cNvSpPr txBox="1"/>
          <p:nvPr/>
        </p:nvSpPr>
        <p:spPr>
          <a:xfrm>
            <a:off x="9806391" y="4151376"/>
            <a:ext cx="1425184" cy="365760"/>
          </a:xfrm>
          <a:prstGeom prst="rect">
            <a:avLst/>
          </a:prstGeom>
          <a:noFill/>
          <a:ln/>
        </p:spPr>
        <p:txBody>
          <a:bodyPr wrap="square" lIns="0" tIns="0" rIns="0" bIns="0" rtlCol="0" anchor="ctr"/>
          <a:lstStyle/>
          <a:p>
            <a:pPr indent="0" marL="0">
              <a:buNone/>
            </a:pPr>
            <a:r>
              <a:rPr lang="en-US" sz="1700" b="1" dirty="0">
                <a:solidFill>
                  <a:srgbClr val="0E1A15"/>
                </a:solidFill>
                <a:latin typeface="Calibri" pitchFamily="34" charset="0"/>
                <a:ea typeface="Calibri" pitchFamily="34" charset="-122"/>
                <a:cs typeface="Calibri" pitchFamily="34" charset="-120"/>
              </a:rPr>
              <a:t>Reward</a:t>
            </a:r>
            <a:endParaRPr lang="en-US" sz="1700" dirty="0"/>
          </a:p>
        </p:txBody>
      </p:sp>
      <p:sp>
        <p:nvSpPr>
          <p:cNvPr id="35" name="Text 28"/>
          <p:cNvSpPr txBox="1"/>
          <p:nvPr/>
        </p:nvSpPr>
        <p:spPr>
          <a:xfrm>
            <a:off x="9806391" y="4590288"/>
            <a:ext cx="1425184" cy="896112"/>
          </a:xfrm>
          <a:prstGeom prst="rect">
            <a:avLst/>
          </a:prstGeom>
          <a:noFill/>
          <a:ln/>
        </p:spPr>
        <p:txBody>
          <a:bodyPr wrap="square" lIns="0" tIns="0" rIns="0" bIns="0" rtlCol="0" anchor="ctr"/>
          <a:lstStyle/>
          <a:p>
            <a:pPr indent="0" marL="0">
              <a:lnSpc>
                <a:spcPct val="120000"/>
              </a:lnSpc>
              <a:buNone/>
            </a:pPr>
            <a:r>
              <a:rPr lang="en-US" sz="1150" dirty="0">
                <a:solidFill>
                  <a:srgbClr val="5C6B64"/>
                </a:solidFill>
                <a:latin typeface="Calibri" pitchFamily="34" charset="0"/>
                <a:ea typeface="Calibri" pitchFamily="34" charset="-122"/>
                <a:cs typeface="Calibri" pitchFamily="34" charset="-120"/>
              </a:rPr>
              <a:t>Correct disposal earns eco points; mistakes cost them.</a:t>
            </a:r>
            <a:endParaRPr lang="en-US" sz="1150" dirty="0"/>
          </a:p>
        </p:txBody>
      </p:sp>
      <p:sp>
        <p:nvSpPr>
          <p:cNvPr id="36" name="Text 29"/>
          <p:cNvSpPr txBox="1"/>
          <p:nvPr/>
        </p:nvSpPr>
        <p:spPr>
          <a:xfrm>
            <a:off x="685800" y="5806440"/>
            <a:ext cx="10820095" cy="310896"/>
          </a:xfrm>
          <a:prstGeom prst="rect">
            <a:avLst/>
          </a:prstGeom>
          <a:noFill/>
          <a:ln/>
        </p:spPr>
        <p:txBody>
          <a:bodyPr wrap="square" lIns="0" tIns="0" rIns="0" bIns="0" rtlCol="0" anchor="ctr"/>
          <a:lstStyle/>
          <a:p>
            <a:pPr indent="0" marL="0">
              <a:buNone/>
            </a:pPr>
            <a:r>
              <a:rPr lang="en-US" sz="1150" i="1" dirty="0">
                <a:solidFill>
                  <a:srgbClr val="8A9993"/>
                </a:solidFill>
                <a:latin typeface="Calibri" pitchFamily="34" charset="0"/>
                <a:ea typeface="Calibri" pitchFamily="34" charset="-122"/>
                <a:cs typeface="Calibri" pitchFamily="34" charset="-120"/>
              </a:rPr>
              <a:t>All five steps are modelled end to end in the prototype. Steps 1–4 currently run on simulated sensor and AI output.</a:t>
            </a:r>
            <a:endParaRPr lang="en-US" sz="1150" dirty="0"/>
          </a:p>
        </p:txBody>
      </p:sp>
      <p:sp>
        <p:nvSpPr>
          <p:cNvPr id="37" name="Text 30"/>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38" name="Text 31"/>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04 / 12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248A5E"/>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05  THE MOBILE APPLICATION</a:t>
            </a:r>
            <a:endParaRPr lang="en-US" sz="1050" dirty="0"/>
          </a:p>
        </p:txBody>
      </p:sp>
      <p:sp>
        <p:nvSpPr>
          <p:cNvPr id="4" name="Text 2"/>
          <p:cNvSpPr txBox="1"/>
          <p:nvPr/>
        </p:nvSpPr>
        <p:spPr>
          <a:xfrm>
            <a:off x="685800" y="1024128"/>
            <a:ext cx="6766560" cy="603504"/>
          </a:xfrm>
          <a:prstGeom prst="rect">
            <a:avLst/>
          </a:prstGeom>
          <a:noFill/>
          <a:ln/>
        </p:spPr>
        <p:txBody>
          <a:bodyPr wrap="square" lIns="0" tIns="0" rIns="0" bIns="0" rtlCol="0" anchor="ctr"/>
          <a:lstStyle/>
          <a:p>
            <a:pPr indent="0" marL="0">
              <a:buNone/>
            </a:pPr>
            <a:r>
              <a:rPr lang="en-US" sz="3200" b="1" dirty="0">
                <a:solidFill>
                  <a:srgbClr val="0E1A15"/>
                </a:solidFill>
                <a:latin typeface="Calibri" pitchFamily="34" charset="0"/>
                <a:ea typeface="Calibri" pitchFamily="34" charset="-122"/>
                <a:cs typeface="Calibri" pitchFamily="34" charset="-120"/>
              </a:rPr>
              <a:t>One app. One complete waste journey.</a:t>
            </a:r>
            <a:endParaRPr lang="en-US" sz="3200" dirty="0"/>
          </a:p>
        </p:txBody>
      </p:sp>
      <p:sp>
        <p:nvSpPr>
          <p:cNvPr id="5" name="Text 3"/>
          <p:cNvSpPr txBox="1"/>
          <p:nvPr/>
        </p:nvSpPr>
        <p:spPr>
          <a:xfrm>
            <a:off x="7726680" y="1005840"/>
            <a:ext cx="3785616" cy="822960"/>
          </a:xfrm>
          <a:prstGeom prst="rect">
            <a:avLst/>
          </a:prstGeom>
          <a:noFill/>
          <a:ln/>
        </p:spPr>
        <p:txBody>
          <a:bodyPr wrap="square" lIns="0" tIns="0" rIns="0" bIns="0" rtlCol="0" anchor="ctr"/>
          <a:lstStyle/>
          <a:p>
            <a:pPr indent="0" marL="0">
              <a:lnSpc>
                <a:spcPct val="125000"/>
              </a:lnSpc>
              <a:buNone/>
            </a:pPr>
            <a:r>
              <a:rPr lang="en-US" sz="1150" dirty="0">
                <a:solidFill>
                  <a:srgbClr val="5C6B64"/>
                </a:solidFill>
                <a:latin typeface="Calibri" pitchFamily="34" charset="0"/>
                <a:ea typeface="Calibri" pitchFamily="34" charset="-122"/>
                <a:cs typeface="Calibri" pitchFamily="34" charset="-120"/>
              </a:rPr>
              <a:t>Thirteen screens, built in React and TypeScript, running on realistic mock data. Every interaction below is live in the prototype.</a:t>
            </a:r>
            <a:endParaRPr lang="en-US" sz="1150" dirty="0"/>
          </a:p>
        </p:txBody>
      </p:sp>
      <p:pic>
        <p:nvPicPr>
          <p:cNvPr id="6" name="Image 0" descr="C:\smart bin\deck\assets\phone-home.png">    </p:cNvPr>
          <p:cNvPicPr>
            <a:picLocks noChangeAspect="1"/>
          </p:cNvPicPr>
          <p:nvPr/>
        </p:nvPicPr>
        <p:blipFill>
          <a:blip r:embed="rId1"/>
          <a:stretch>
            <a:fillRect/>
          </a:stretch>
        </p:blipFill>
        <p:spPr>
          <a:xfrm>
            <a:off x="685800" y="1792224"/>
            <a:ext cx="1922069" cy="3767328"/>
          </a:xfrm>
          <a:prstGeom prst="rect">
            <a:avLst/>
          </a:prstGeom>
        </p:spPr>
      </p:pic>
      <p:sp>
        <p:nvSpPr>
          <p:cNvPr id="7" name="Text 4"/>
          <p:cNvSpPr txBox="1"/>
          <p:nvPr/>
        </p:nvSpPr>
        <p:spPr>
          <a:xfrm>
            <a:off x="685800" y="5614416"/>
            <a:ext cx="1922069"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Home Dashboard</a:t>
            </a:r>
            <a:endParaRPr lang="en-US" sz="1300" dirty="0"/>
          </a:p>
        </p:txBody>
      </p:sp>
      <p:sp>
        <p:nvSpPr>
          <p:cNvPr id="8" name="Text 5"/>
          <p:cNvSpPr txBox="1"/>
          <p:nvPr/>
        </p:nvSpPr>
        <p:spPr>
          <a:xfrm>
            <a:off x="548640" y="5888736"/>
            <a:ext cx="2196389" cy="310896"/>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Eco score, totals and recent activity</a:t>
            </a:r>
            <a:endParaRPr lang="en-US" sz="1000" dirty="0"/>
          </a:p>
        </p:txBody>
      </p:sp>
      <p:pic>
        <p:nvPicPr>
          <p:cNvPr id="9" name="Image 1" descr="C:\smart bin\deck\assets\phone-rfid.png">    </p:cNvPr>
          <p:cNvPicPr>
            <a:picLocks noChangeAspect="1"/>
          </p:cNvPicPr>
          <p:nvPr/>
        </p:nvPicPr>
        <p:blipFill>
          <a:blip r:embed="rId2"/>
          <a:stretch>
            <a:fillRect/>
          </a:stretch>
        </p:blipFill>
        <p:spPr>
          <a:xfrm>
            <a:off x="3651809" y="1792224"/>
            <a:ext cx="1922069" cy="3767328"/>
          </a:xfrm>
          <a:prstGeom prst="rect">
            <a:avLst/>
          </a:prstGeom>
        </p:spPr>
      </p:pic>
      <p:sp>
        <p:nvSpPr>
          <p:cNvPr id="10" name="Text 6"/>
          <p:cNvSpPr txBox="1"/>
          <p:nvPr/>
        </p:nvSpPr>
        <p:spPr>
          <a:xfrm>
            <a:off x="3651809" y="5614416"/>
            <a:ext cx="1922069"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Deposit Waste</a:t>
            </a:r>
            <a:endParaRPr lang="en-US" sz="1300" dirty="0"/>
          </a:p>
        </p:txBody>
      </p:sp>
      <p:sp>
        <p:nvSpPr>
          <p:cNvPr id="11" name="Text 7"/>
          <p:cNvSpPr txBox="1"/>
          <p:nvPr/>
        </p:nvSpPr>
        <p:spPr>
          <a:xfrm>
            <a:off x="3514649" y="5888736"/>
            <a:ext cx="2196389" cy="310896"/>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RFID identification at the bin</a:t>
            </a:r>
            <a:endParaRPr lang="en-US" sz="1000" dirty="0"/>
          </a:p>
        </p:txBody>
      </p:sp>
      <p:pic>
        <p:nvPicPr>
          <p:cNvPr id="12" name="Image 2" descr="C:\smart bin\deck\assets\phone-analyzing.png">    </p:cNvPr>
          <p:cNvPicPr>
            <a:picLocks noChangeAspect="1"/>
          </p:cNvPicPr>
          <p:nvPr/>
        </p:nvPicPr>
        <p:blipFill>
          <a:blip r:embed="rId3"/>
          <a:stretch>
            <a:fillRect/>
          </a:stretch>
        </p:blipFill>
        <p:spPr>
          <a:xfrm>
            <a:off x="6617818" y="1792224"/>
            <a:ext cx="1922069" cy="3767328"/>
          </a:xfrm>
          <a:prstGeom prst="rect">
            <a:avLst/>
          </a:prstGeom>
        </p:spPr>
      </p:pic>
      <p:sp>
        <p:nvSpPr>
          <p:cNvPr id="13" name="Text 8"/>
          <p:cNvSpPr txBox="1"/>
          <p:nvPr/>
        </p:nvSpPr>
        <p:spPr>
          <a:xfrm>
            <a:off x="6617818" y="5614416"/>
            <a:ext cx="1922069"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AI Detection</a:t>
            </a:r>
            <a:endParaRPr lang="en-US" sz="1300" dirty="0"/>
          </a:p>
        </p:txBody>
      </p:sp>
      <p:sp>
        <p:nvSpPr>
          <p:cNvPr id="14" name="Text 9"/>
          <p:cNvSpPr txBox="1"/>
          <p:nvPr/>
        </p:nvSpPr>
        <p:spPr>
          <a:xfrm>
            <a:off x="6480658" y="5888736"/>
            <a:ext cx="2196389" cy="310896"/>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Live classification progress</a:t>
            </a:r>
            <a:endParaRPr lang="en-US" sz="1000" dirty="0"/>
          </a:p>
        </p:txBody>
      </p:sp>
      <p:pic>
        <p:nvPicPr>
          <p:cNvPr id="15" name="Image 3" descr="C:\smart bin\deck\assets\phone-result.png">    </p:cNvPr>
          <p:cNvPicPr>
            <a:picLocks noChangeAspect="1"/>
          </p:cNvPicPr>
          <p:nvPr/>
        </p:nvPicPr>
        <p:blipFill>
          <a:blip r:embed="rId4"/>
          <a:stretch>
            <a:fillRect/>
          </a:stretch>
        </p:blipFill>
        <p:spPr>
          <a:xfrm>
            <a:off x="9583826" y="1792224"/>
            <a:ext cx="1922069" cy="3767328"/>
          </a:xfrm>
          <a:prstGeom prst="rect">
            <a:avLst/>
          </a:prstGeom>
        </p:spPr>
      </p:pic>
      <p:sp>
        <p:nvSpPr>
          <p:cNvPr id="16" name="Text 10"/>
          <p:cNvSpPr txBox="1"/>
          <p:nvPr/>
        </p:nvSpPr>
        <p:spPr>
          <a:xfrm>
            <a:off x="9583826" y="5614416"/>
            <a:ext cx="1922069" cy="256032"/>
          </a:xfrm>
          <a:prstGeom prst="rect">
            <a:avLst/>
          </a:prstGeom>
          <a:noFill/>
          <a:ln/>
        </p:spPr>
        <p:txBody>
          <a:bodyPr wrap="square" lIns="0" tIns="0" rIns="0" bIns="0" rtlCol="0" anchor="ctr"/>
          <a:lstStyle/>
          <a:p>
            <a:pPr algn="ctr" indent="0" marL="0">
              <a:buNone/>
            </a:pPr>
            <a:r>
              <a:rPr lang="en-US" sz="1300" b="1" dirty="0">
                <a:solidFill>
                  <a:srgbClr val="0E1A15"/>
                </a:solidFill>
                <a:latin typeface="Calibri" pitchFamily="34" charset="0"/>
                <a:ea typeface="Calibri" pitchFamily="34" charset="-122"/>
                <a:cs typeface="Calibri" pitchFamily="34" charset="-120"/>
              </a:rPr>
              <a:t>Transaction Result</a:t>
            </a:r>
            <a:endParaRPr lang="en-US" sz="1300" dirty="0"/>
          </a:p>
        </p:txBody>
      </p:sp>
      <p:sp>
        <p:nvSpPr>
          <p:cNvPr id="17" name="Text 11"/>
          <p:cNvSpPr txBox="1"/>
          <p:nvPr/>
        </p:nvSpPr>
        <p:spPr>
          <a:xfrm>
            <a:off x="9446666" y="5888736"/>
            <a:ext cx="2196389" cy="310896"/>
          </a:xfrm>
          <a:prstGeom prst="rect">
            <a:avLst/>
          </a:prstGeom>
          <a:noFill/>
          <a:ln/>
        </p:spPr>
        <p:txBody>
          <a:bodyPr wrap="square" lIns="0" tIns="0" rIns="0" bIns="0" rtlCol="0" anchor="ctr"/>
          <a:lstStyle/>
          <a:p>
            <a:pPr algn="ctr" indent="0" marL="0">
              <a:lnSpc>
                <a:spcPct val="110000"/>
              </a:lnSpc>
              <a:buNone/>
            </a:pPr>
            <a:r>
              <a:rPr lang="en-US" sz="1000" dirty="0">
                <a:solidFill>
                  <a:srgbClr val="8A9993"/>
                </a:solidFill>
                <a:latin typeface="Calibri" pitchFamily="34" charset="0"/>
                <a:ea typeface="Calibri" pitchFamily="34" charset="-122"/>
                <a:cs typeface="Calibri" pitchFamily="34" charset="-120"/>
              </a:rPr>
              <a:t>Type, weight, confidence, reward</a:t>
            </a:r>
            <a:endParaRPr lang="en-US" sz="1000" dirty="0"/>
          </a:p>
        </p:txBody>
      </p:sp>
      <p:sp>
        <p:nvSpPr>
          <p:cNvPr id="18" name="Text 12"/>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19" name="Text 13"/>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05 / 12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261A"/>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5BC98C"/>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5BC98C"/>
                </a:solidFill>
                <a:latin typeface="Calibri" pitchFamily="34" charset="0"/>
                <a:ea typeface="Calibri" pitchFamily="34" charset="-122"/>
                <a:cs typeface="Calibri" pitchFamily="34" charset="-120"/>
              </a:rPr>
              <a:t>06  USER EXPERIENCE</a:t>
            </a:r>
            <a:endParaRPr lang="en-US" sz="1050" dirty="0"/>
          </a:p>
        </p:txBody>
      </p:sp>
      <p:sp>
        <p:nvSpPr>
          <p:cNvPr id="4" name="Text 2"/>
          <p:cNvSpPr txBox="1"/>
          <p:nvPr/>
        </p:nvSpPr>
        <p:spPr>
          <a:xfrm>
            <a:off x="685800" y="1005840"/>
            <a:ext cx="7498080" cy="603504"/>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From RFID tap to verified waste transaction.</a:t>
            </a:r>
            <a:endParaRPr lang="en-US" sz="3200" dirty="0"/>
          </a:p>
        </p:txBody>
      </p:sp>
      <p:sp>
        <p:nvSpPr>
          <p:cNvPr id="5" name="Text 3"/>
          <p:cNvSpPr txBox="1"/>
          <p:nvPr/>
        </p:nvSpPr>
        <p:spPr>
          <a:xfrm>
            <a:off x="8138160" y="1115568"/>
            <a:ext cx="3383280" cy="457200"/>
          </a:xfrm>
          <a:prstGeom prst="rect">
            <a:avLst/>
          </a:prstGeom>
          <a:noFill/>
          <a:ln/>
        </p:spPr>
        <p:txBody>
          <a:bodyPr wrap="square" lIns="0" tIns="0" rIns="0" bIns="0" rtlCol="0" anchor="ctr"/>
          <a:lstStyle/>
          <a:p>
            <a:pPr algn="r" indent="0" marL="0">
              <a:buNone/>
            </a:pPr>
            <a:r>
              <a:rPr lang="en-US" sz="1200" dirty="0">
                <a:solidFill>
                  <a:srgbClr val="BCEBCE">
                    <a:alpha val="82000"/>
                  </a:srgbClr>
                </a:solidFill>
                <a:latin typeface="Calibri" pitchFamily="34" charset="0"/>
                <a:ea typeface="Calibri" pitchFamily="34" charset="-122"/>
                <a:cs typeface="Calibri" pitchFamily="34" charset="-120"/>
              </a:rPr>
              <a:t>Roughly twelve seconds, four screens, zero paperwork.</a:t>
            </a:r>
            <a:endParaRPr lang="en-US" sz="1200" dirty="0"/>
          </a:p>
        </p:txBody>
      </p:sp>
      <p:sp>
        <p:nvSpPr>
          <p:cNvPr id="6" name="Text 4"/>
          <p:cNvSpPr txBox="1"/>
          <p:nvPr/>
        </p:nvSpPr>
        <p:spPr>
          <a:xfrm>
            <a:off x="823311" y="1847088"/>
            <a:ext cx="2494483" cy="274320"/>
          </a:xfrm>
          <a:prstGeom prst="rect">
            <a:avLst/>
          </a:prstGeom>
          <a:noFill/>
          <a:ln/>
        </p:spPr>
        <p:txBody>
          <a:bodyPr wrap="square" lIns="0" tIns="0" rIns="0" bIns="0" rtlCol="0" anchor="ctr"/>
          <a:lstStyle/>
          <a:p>
            <a:pPr indent="0" marL="0">
              <a:buNone/>
            </a:pPr>
            <a:r>
              <a:rPr lang="en-US" sz="1250" b="1" spc="100" kern="0" dirty="0">
                <a:solidFill>
                  <a:srgbClr val="5BC98C"/>
                </a:solidFill>
                <a:latin typeface="Calibri" pitchFamily="34" charset="0"/>
                <a:ea typeface="Calibri" pitchFamily="34" charset="-122"/>
                <a:cs typeface="Calibri" pitchFamily="34" charset="-120"/>
              </a:rPr>
              <a:t>01   Identify</a:t>
            </a:r>
            <a:endParaRPr lang="en-US" sz="1250" dirty="0"/>
          </a:p>
        </p:txBody>
      </p:sp>
      <p:pic>
        <p:nvPicPr>
          <p:cNvPr id="7" name="Image 0" descr="C:\smart bin\deck\assets\phone-rfid.png">    </p:cNvPr>
          <p:cNvPicPr>
            <a:picLocks noChangeAspect="1"/>
          </p:cNvPicPr>
          <p:nvPr/>
        </p:nvPicPr>
        <p:blipFill>
          <a:blip r:embed="rId1"/>
          <a:stretch>
            <a:fillRect/>
          </a:stretch>
        </p:blipFill>
        <p:spPr>
          <a:xfrm>
            <a:off x="685800" y="2304288"/>
            <a:ext cx="1762963" cy="3456432"/>
          </a:xfrm>
          <a:prstGeom prst="rect">
            <a:avLst/>
          </a:prstGeom>
        </p:spPr>
      </p:pic>
      <p:sp>
        <p:nvSpPr>
          <p:cNvPr id="8" name="Text 5"/>
          <p:cNvSpPr txBox="1"/>
          <p:nvPr/>
        </p:nvSpPr>
        <p:spPr>
          <a:xfrm>
            <a:off x="502920" y="5779008"/>
            <a:ext cx="2128723" cy="310896"/>
          </a:xfrm>
          <a:prstGeom prst="rect">
            <a:avLst/>
          </a:prstGeom>
          <a:noFill/>
          <a:ln/>
        </p:spPr>
        <p:txBody>
          <a:bodyPr wrap="square" lIns="0" tIns="0" rIns="0" bIns="0" rtlCol="0" anchor="ctr"/>
          <a:lstStyle/>
          <a:p>
            <a:pPr algn="ctr" indent="0" marL="0">
              <a:lnSpc>
                <a:spcPct val="110000"/>
              </a:lnSpc>
              <a:buNone/>
            </a:pPr>
            <a:r>
              <a:rPr lang="en-US" sz="1000" dirty="0">
                <a:solidFill>
                  <a:srgbClr val="BCEBCE">
                    <a:alpha val="75000"/>
                  </a:srgbClr>
                </a:solidFill>
                <a:latin typeface="Calibri" pitchFamily="34" charset="0"/>
                <a:ea typeface="Calibri" pitchFamily="34" charset="-122"/>
                <a:cs typeface="Calibri" pitchFamily="34" charset="-120"/>
              </a:rPr>
              <a:t>Card tapped, user recognised</a:t>
            </a:r>
            <a:endParaRPr lang="en-US" sz="1000" dirty="0"/>
          </a:p>
        </p:txBody>
      </p:sp>
      <p:pic>
        <p:nvPicPr>
          <p:cNvPr id="9" name="Image 1" descr="C:\smart bin\deck\assets\icons\arrow-right-mint.png">    </p:cNvPr>
          <p:cNvPicPr>
            <a:picLocks noChangeAspect="1"/>
          </p:cNvPicPr>
          <p:nvPr/>
        </p:nvPicPr>
        <p:blipFill>
          <a:blip r:embed="rId2"/>
          <a:stretch>
            <a:fillRect/>
          </a:stretch>
        </p:blipFill>
        <p:spPr>
          <a:xfrm>
            <a:off x="2939644" y="3895344"/>
            <a:ext cx="274320" cy="274320"/>
          </a:xfrm>
          <a:prstGeom prst="rect">
            <a:avLst/>
          </a:prstGeom>
        </p:spPr>
      </p:pic>
      <p:sp>
        <p:nvSpPr>
          <p:cNvPr id="10" name="Text 6"/>
          <p:cNvSpPr txBox="1"/>
          <p:nvPr/>
        </p:nvSpPr>
        <p:spPr>
          <a:xfrm>
            <a:off x="3842355" y="1847088"/>
            <a:ext cx="2494483" cy="274320"/>
          </a:xfrm>
          <a:prstGeom prst="rect">
            <a:avLst/>
          </a:prstGeom>
          <a:noFill/>
          <a:ln/>
        </p:spPr>
        <p:txBody>
          <a:bodyPr wrap="square" lIns="0" tIns="0" rIns="0" bIns="0" rtlCol="0" anchor="ctr"/>
          <a:lstStyle/>
          <a:p>
            <a:pPr indent="0" marL="0">
              <a:buNone/>
            </a:pPr>
            <a:r>
              <a:rPr lang="en-US" sz="1250" b="1" spc="100" kern="0" dirty="0">
                <a:solidFill>
                  <a:srgbClr val="5BC98C"/>
                </a:solidFill>
                <a:latin typeface="Calibri" pitchFamily="34" charset="0"/>
                <a:ea typeface="Calibri" pitchFamily="34" charset="-122"/>
                <a:cs typeface="Calibri" pitchFamily="34" charset="-120"/>
              </a:rPr>
              <a:t>02   Measure</a:t>
            </a:r>
            <a:endParaRPr lang="en-US" sz="1250" dirty="0"/>
          </a:p>
        </p:txBody>
      </p:sp>
      <p:pic>
        <p:nvPicPr>
          <p:cNvPr id="11" name="Image 2" descr="C:\smart bin\deck\assets\phone-weighing.png">    </p:cNvPr>
          <p:cNvPicPr>
            <a:picLocks noChangeAspect="1"/>
          </p:cNvPicPr>
          <p:nvPr/>
        </p:nvPicPr>
        <p:blipFill>
          <a:blip r:embed="rId3"/>
          <a:stretch>
            <a:fillRect/>
          </a:stretch>
        </p:blipFill>
        <p:spPr>
          <a:xfrm>
            <a:off x="3704844" y="2304288"/>
            <a:ext cx="1762963" cy="3456432"/>
          </a:xfrm>
          <a:prstGeom prst="rect">
            <a:avLst/>
          </a:prstGeom>
        </p:spPr>
      </p:pic>
      <p:sp>
        <p:nvSpPr>
          <p:cNvPr id="12" name="Text 7"/>
          <p:cNvSpPr txBox="1"/>
          <p:nvPr/>
        </p:nvSpPr>
        <p:spPr>
          <a:xfrm>
            <a:off x="3521964" y="5779008"/>
            <a:ext cx="2128723" cy="310896"/>
          </a:xfrm>
          <a:prstGeom prst="rect">
            <a:avLst/>
          </a:prstGeom>
          <a:noFill/>
          <a:ln/>
        </p:spPr>
        <p:txBody>
          <a:bodyPr wrap="square" lIns="0" tIns="0" rIns="0" bIns="0" rtlCol="0" anchor="ctr"/>
          <a:lstStyle/>
          <a:p>
            <a:pPr algn="ctr" indent="0" marL="0">
              <a:lnSpc>
                <a:spcPct val="110000"/>
              </a:lnSpc>
              <a:buNone/>
            </a:pPr>
            <a:r>
              <a:rPr lang="en-US" sz="1000" dirty="0">
                <a:solidFill>
                  <a:srgbClr val="BCEBCE">
                    <a:alpha val="75000"/>
                  </a:srgbClr>
                </a:solidFill>
                <a:latin typeface="Calibri" pitchFamily="34" charset="0"/>
                <a:ea typeface="Calibri" pitchFamily="34" charset="-122"/>
                <a:cs typeface="Calibri" pitchFamily="34" charset="-120"/>
              </a:rPr>
              <a:t>Load cell settles on a weight</a:t>
            </a:r>
            <a:endParaRPr lang="en-US" sz="1000" dirty="0"/>
          </a:p>
        </p:txBody>
      </p:sp>
      <p:pic>
        <p:nvPicPr>
          <p:cNvPr id="13" name="Image 3" descr="C:\smart bin\deck\assets\icons\arrow-right-mint.png">    </p:cNvPr>
          <p:cNvPicPr>
            <a:picLocks noChangeAspect="1"/>
          </p:cNvPicPr>
          <p:nvPr/>
        </p:nvPicPr>
        <p:blipFill>
          <a:blip r:embed="rId4"/>
          <a:stretch>
            <a:fillRect/>
          </a:stretch>
        </p:blipFill>
        <p:spPr>
          <a:xfrm>
            <a:off x="5958688" y="3895344"/>
            <a:ext cx="274320" cy="274320"/>
          </a:xfrm>
          <a:prstGeom prst="rect">
            <a:avLst/>
          </a:prstGeom>
        </p:spPr>
      </p:pic>
      <p:sp>
        <p:nvSpPr>
          <p:cNvPr id="14" name="Text 8"/>
          <p:cNvSpPr txBox="1"/>
          <p:nvPr/>
        </p:nvSpPr>
        <p:spPr>
          <a:xfrm>
            <a:off x="6861399" y="1847088"/>
            <a:ext cx="2494483" cy="274320"/>
          </a:xfrm>
          <a:prstGeom prst="rect">
            <a:avLst/>
          </a:prstGeom>
          <a:noFill/>
          <a:ln/>
        </p:spPr>
        <p:txBody>
          <a:bodyPr wrap="square" lIns="0" tIns="0" rIns="0" bIns="0" rtlCol="0" anchor="ctr"/>
          <a:lstStyle/>
          <a:p>
            <a:pPr indent="0" marL="0">
              <a:buNone/>
            </a:pPr>
            <a:r>
              <a:rPr lang="en-US" sz="1250" b="1" spc="100" kern="0" dirty="0">
                <a:solidFill>
                  <a:srgbClr val="5BC98C"/>
                </a:solidFill>
                <a:latin typeface="Calibri" pitchFamily="34" charset="0"/>
                <a:ea typeface="Calibri" pitchFamily="34" charset="-122"/>
                <a:cs typeface="Calibri" pitchFamily="34" charset="-120"/>
              </a:rPr>
              <a:t>03   Analyze</a:t>
            </a:r>
            <a:endParaRPr lang="en-US" sz="1250" dirty="0"/>
          </a:p>
        </p:txBody>
      </p:sp>
      <p:pic>
        <p:nvPicPr>
          <p:cNvPr id="15" name="Image 4" descr="C:\smart bin\deck\assets\phone-analyzing.png">    </p:cNvPr>
          <p:cNvPicPr>
            <a:picLocks noChangeAspect="1"/>
          </p:cNvPicPr>
          <p:nvPr/>
        </p:nvPicPr>
        <p:blipFill>
          <a:blip r:embed="rId5"/>
          <a:stretch>
            <a:fillRect/>
          </a:stretch>
        </p:blipFill>
        <p:spPr>
          <a:xfrm>
            <a:off x="6723888" y="2304288"/>
            <a:ext cx="1762963" cy="3456432"/>
          </a:xfrm>
          <a:prstGeom prst="rect">
            <a:avLst/>
          </a:prstGeom>
        </p:spPr>
      </p:pic>
      <p:sp>
        <p:nvSpPr>
          <p:cNvPr id="16" name="Text 9"/>
          <p:cNvSpPr txBox="1"/>
          <p:nvPr/>
        </p:nvSpPr>
        <p:spPr>
          <a:xfrm>
            <a:off x="6541008" y="5779008"/>
            <a:ext cx="2128723" cy="310896"/>
          </a:xfrm>
          <a:prstGeom prst="rect">
            <a:avLst/>
          </a:prstGeom>
          <a:noFill/>
          <a:ln/>
        </p:spPr>
        <p:txBody>
          <a:bodyPr wrap="square" lIns="0" tIns="0" rIns="0" bIns="0" rtlCol="0" anchor="ctr"/>
          <a:lstStyle/>
          <a:p>
            <a:pPr algn="ctr" indent="0" marL="0">
              <a:lnSpc>
                <a:spcPct val="110000"/>
              </a:lnSpc>
              <a:buNone/>
            </a:pPr>
            <a:r>
              <a:rPr lang="en-US" sz="1000" dirty="0">
                <a:solidFill>
                  <a:srgbClr val="BCEBCE">
                    <a:alpha val="75000"/>
                  </a:srgbClr>
                </a:solidFill>
                <a:latin typeface="Calibri" pitchFamily="34" charset="0"/>
                <a:ea typeface="Calibri" pitchFamily="34" charset="-122"/>
                <a:cs typeface="Calibri" pitchFamily="34" charset="-120"/>
              </a:rPr>
              <a:t>Vision model classifies the waste</a:t>
            </a:r>
            <a:endParaRPr lang="en-US" sz="1000" dirty="0"/>
          </a:p>
        </p:txBody>
      </p:sp>
      <p:pic>
        <p:nvPicPr>
          <p:cNvPr id="17" name="Image 5" descr="C:\smart bin\deck\assets\icons\arrow-right-mint.png">    </p:cNvPr>
          <p:cNvPicPr>
            <a:picLocks noChangeAspect="1"/>
          </p:cNvPicPr>
          <p:nvPr/>
        </p:nvPicPr>
        <p:blipFill>
          <a:blip r:embed="rId6"/>
          <a:stretch>
            <a:fillRect/>
          </a:stretch>
        </p:blipFill>
        <p:spPr>
          <a:xfrm>
            <a:off x="8977732" y="3895344"/>
            <a:ext cx="274320" cy="274320"/>
          </a:xfrm>
          <a:prstGeom prst="rect">
            <a:avLst/>
          </a:prstGeom>
        </p:spPr>
      </p:pic>
      <p:sp>
        <p:nvSpPr>
          <p:cNvPr id="18" name="Text 10"/>
          <p:cNvSpPr txBox="1"/>
          <p:nvPr/>
        </p:nvSpPr>
        <p:spPr>
          <a:xfrm>
            <a:off x="9880443" y="1847088"/>
            <a:ext cx="2494483" cy="274320"/>
          </a:xfrm>
          <a:prstGeom prst="rect">
            <a:avLst/>
          </a:prstGeom>
          <a:noFill/>
          <a:ln/>
        </p:spPr>
        <p:txBody>
          <a:bodyPr wrap="square" lIns="0" tIns="0" rIns="0" bIns="0" rtlCol="0" anchor="ctr"/>
          <a:lstStyle/>
          <a:p>
            <a:pPr indent="0" marL="0">
              <a:buNone/>
            </a:pPr>
            <a:r>
              <a:rPr lang="en-US" sz="1250" b="1" spc="100" kern="0" dirty="0">
                <a:solidFill>
                  <a:srgbClr val="5BC98C"/>
                </a:solidFill>
                <a:latin typeface="Calibri" pitchFamily="34" charset="0"/>
                <a:ea typeface="Calibri" pitchFamily="34" charset="-122"/>
                <a:cs typeface="Calibri" pitchFamily="34" charset="-120"/>
              </a:rPr>
              <a:t>04   Record</a:t>
            </a:r>
            <a:endParaRPr lang="en-US" sz="1250" dirty="0"/>
          </a:p>
        </p:txBody>
      </p:sp>
      <p:pic>
        <p:nvPicPr>
          <p:cNvPr id="19" name="Image 6" descr="C:\smart bin\deck\assets\phone-result.png">    </p:cNvPr>
          <p:cNvPicPr>
            <a:picLocks noChangeAspect="1"/>
          </p:cNvPicPr>
          <p:nvPr/>
        </p:nvPicPr>
        <p:blipFill>
          <a:blip r:embed="rId7"/>
          <a:stretch>
            <a:fillRect/>
          </a:stretch>
        </p:blipFill>
        <p:spPr>
          <a:xfrm>
            <a:off x="9742932" y="2304288"/>
            <a:ext cx="1762963" cy="3456432"/>
          </a:xfrm>
          <a:prstGeom prst="rect">
            <a:avLst/>
          </a:prstGeom>
        </p:spPr>
      </p:pic>
      <p:sp>
        <p:nvSpPr>
          <p:cNvPr id="20" name="Text 11"/>
          <p:cNvSpPr txBox="1"/>
          <p:nvPr/>
        </p:nvSpPr>
        <p:spPr>
          <a:xfrm>
            <a:off x="9560052" y="5779008"/>
            <a:ext cx="2128723" cy="310896"/>
          </a:xfrm>
          <a:prstGeom prst="rect">
            <a:avLst/>
          </a:prstGeom>
          <a:noFill/>
          <a:ln/>
        </p:spPr>
        <p:txBody>
          <a:bodyPr wrap="square" lIns="0" tIns="0" rIns="0" bIns="0" rtlCol="0" anchor="ctr"/>
          <a:lstStyle/>
          <a:p>
            <a:pPr algn="ctr" indent="0" marL="0">
              <a:lnSpc>
                <a:spcPct val="110000"/>
              </a:lnSpc>
              <a:buNone/>
            </a:pPr>
            <a:r>
              <a:rPr lang="en-US" sz="1000" dirty="0">
                <a:solidFill>
                  <a:srgbClr val="BCEBCE">
                    <a:alpha val="75000"/>
                  </a:srgbClr>
                </a:solidFill>
                <a:latin typeface="Calibri" pitchFamily="34" charset="0"/>
                <a:ea typeface="Calibri" pitchFamily="34" charset="-122"/>
                <a:cs typeface="Calibri" pitchFamily="34" charset="-120"/>
              </a:rPr>
              <a:t>Transaction written, points applied</a:t>
            </a:r>
            <a:endParaRPr lang="en-US" sz="1000" dirty="0"/>
          </a:p>
        </p:txBody>
      </p:sp>
      <p:sp>
        <p:nvSpPr>
          <p:cNvPr id="21" name="Text 12"/>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5BC98C"/>
                </a:solidFill>
                <a:latin typeface="Calibri" pitchFamily="34" charset="0"/>
                <a:ea typeface="Calibri" pitchFamily="34" charset="-122"/>
                <a:cs typeface="Calibri" pitchFamily="34" charset="-120"/>
              </a:rPr>
              <a:t>ENGO</a:t>
            </a:r>
            <a:endParaRPr lang="en-US" sz="950" dirty="0"/>
          </a:p>
        </p:txBody>
      </p:sp>
      <p:sp>
        <p:nvSpPr>
          <p:cNvPr id="22" name="Text 13"/>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FFFFFF">
                    <a:alpha val="55000"/>
                  </a:srgbClr>
                </a:solidFill>
                <a:latin typeface="Calibri" pitchFamily="34" charset="0"/>
                <a:ea typeface="Calibri" pitchFamily="34" charset="-122"/>
                <a:cs typeface="Calibri" pitchFamily="34" charset="-120"/>
              </a:rPr>
              <a:t>06 / 12</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248A5E"/>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07  AI WASTE DETECTION</a:t>
            </a:r>
            <a:endParaRPr lang="en-US" sz="1050" dirty="0"/>
          </a:p>
        </p:txBody>
      </p:sp>
      <p:sp>
        <p:nvSpPr>
          <p:cNvPr id="4" name="Shape 2"/>
          <p:cNvSpPr/>
          <p:nvPr/>
        </p:nvSpPr>
        <p:spPr>
          <a:xfrm>
            <a:off x="9464040" y="603504"/>
            <a:ext cx="2039112" cy="329184"/>
          </a:xfrm>
          <a:prstGeom prst="roundRect">
            <a:avLst>
              <a:gd name="adj" fmla="val 50000"/>
            </a:avLst>
          </a:prstGeom>
          <a:solidFill>
            <a:srgbClr val="FDF0DC"/>
          </a:solidFill>
          <a:ln/>
        </p:spPr>
      </p:sp>
      <p:sp>
        <p:nvSpPr>
          <p:cNvPr id="5" name="Text 3"/>
          <p:cNvSpPr txBox="1"/>
          <p:nvPr/>
        </p:nvSpPr>
        <p:spPr>
          <a:xfrm>
            <a:off x="9464040" y="603504"/>
            <a:ext cx="2039112" cy="329184"/>
          </a:xfrm>
          <a:prstGeom prst="rect">
            <a:avLst/>
          </a:prstGeom>
          <a:noFill/>
          <a:ln/>
        </p:spPr>
        <p:txBody>
          <a:bodyPr wrap="square" lIns="0" tIns="0" rIns="0" bIns="0" rtlCol="0" anchor="ctr"/>
          <a:lstStyle/>
          <a:p>
            <a:pPr algn="ctr" indent="0" marL="0">
              <a:buNone/>
            </a:pPr>
            <a:r>
              <a:rPr lang="en-US" sz="900" b="1" spc="100" kern="0" dirty="0">
                <a:solidFill>
                  <a:srgbClr val="C97A11"/>
                </a:solidFill>
                <a:latin typeface="Calibri" pitchFamily="34" charset="0"/>
                <a:ea typeface="Calibri" pitchFamily="34" charset="-122"/>
                <a:cs typeface="Calibri" pitchFamily="34" charset="-120"/>
              </a:rPr>
              <a:t>PROPOSED INTEGRATION</a:t>
            </a:r>
            <a:endParaRPr lang="en-US" sz="900" dirty="0"/>
          </a:p>
        </p:txBody>
      </p:sp>
      <p:sp>
        <p:nvSpPr>
          <p:cNvPr id="6" name="Text 4"/>
          <p:cNvSpPr txBox="1"/>
          <p:nvPr/>
        </p:nvSpPr>
        <p:spPr>
          <a:xfrm>
            <a:off x="685800" y="1024128"/>
            <a:ext cx="7863840" cy="603504"/>
          </a:xfrm>
          <a:prstGeom prst="rect">
            <a:avLst/>
          </a:prstGeom>
          <a:noFill/>
          <a:ln/>
        </p:spPr>
        <p:txBody>
          <a:bodyPr wrap="square" lIns="0" tIns="0" rIns="0" bIns="0" rtlCol="0" anchor="ctr"/>
          <a:lstStyle/>
          <a:p>
            <a:pPr indent="0" marL="0">
              <a:buNone/>
            </a:pPr>
            <a:r>
              <a:rPr lang="en-US" sz="3200" b="1" dirty="0">
                <a:solidFill>
                  <a:srgbClr val="0E1A15"/>
                </a:solidFill>
                <a:latin typeface="Calibri" pitchFamily="34" charset="0"/>
                <a:ea typeface="Calibri" pitchFamily="34" charset="-122"/>
                <a:cs typeface="Calibri" pitchFamily="34" charset="-120"/>
              </a:rPr>
              <a:t>AI understands what goes into the bin.</a:t>
            </a:r>
            <a:endParaRPr lang="en-US" sz="3200" dirty="0"/>
          </a:p>
        </p:txBody>
      </p:sp>
      <p:pic>
        <p:nvPicPr>
          <p:cNvPr id="7" name="Image 0" descr="C:\smart bin\deck\assets\phone-analyzing.png">    </p:cNvPr>
          <p:cNvPicPr>
            <a:picLocks noChangeAspect="1"/>
          </p:cNvPicPr>
          <p:nvPr/>
        </p:nvPicPr>
        <p:blipFill>
          <a:blip r:embed="rId1"/>
          <a:stretch>
            <a:fillRect/>
          </a:stretch>
        </p:blipFill>
        <p:spPr>
          <a:xfrm>
            <a:off x="576072" y="1828800"/>
            <a:ext cx="2098548" cy="4114800"/>
          </a:xfrm>
          <a:prstGeom prst="rect">
            <a:avLst/>
          </a:prstGeom>
        </p:spPr>
      </p:pic>
      <p:sp>
        <p:nvSpPr>
          <p:cNvPr id="8" name="Shape 5"/>
          <p:cNvSpPr/>
          <p:nvPr/>
        </p:nvSpPr>
        <p:spPr>
          <a:xfrm>
            <a:off x="3063240" y="1847088"/>
            <a:ext cx="8442655" cy="914400"/>
          </a:xfrm>
          <a:prstGeom prst="roundRect">
            <a:avLst>
              <a:gd name="adj" fmla="val 16000"/>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9" name="Shape 6"/>
          <p:cNvSpPr/>
          <p:nvPr/>
        </p:nvSpPr>
        <p:spPr>
          <a:xfrm>
            <a:off x="3328416" y="2002536"/>
            <a:ext cx="603504" cy="603504"/>
          </a:xfrm>
          <a:prstGeom prst="ellipse">
            <a:avLst/>
          </a:prstGeom>
          <a:solidFill>
            <a:srgbClr val="F0FAF4"/>
          </a:solidFill>
          <a:ln/>
        </p:spPr>
      </p:sp>
      <p:pic>
        <p:nvPicPr>
          <p:cNvPr id="10" name="Image 1" descr="C:\smart bin\deck\assets\icons\camera-green.png">    </p:cNvPr>
          <p:cNvPicPr>
            <a:picLocks noChangeAspect="1"/>
          </p:cNvPicPr>
          <p:nvPr/>
        </p:nvPicPr>
        <p:blipFill>
          <a:blip r:embed="rId2"/>
          <a:stretch>
            <a:fillRect/>
          </a:stretch>
        </p:blipFill>
        <p:spPr>
          <a:xfrm>
            <a:off x="3491362" y="2165482"/>
            <a:ext cx="277612" cy="277612"/>
          </a:xfrm>
          <a:prstGeom prst="rect">
            <a:avLst/>
          </a:prstGeom>
        </p:spPr>
      </p:pic>
      <p:sp>
        <p:nvSpPr>
          <p:cNvPr id="11" name="Text 7"/>
          <p:cNvSpPr txBox="1"/>
          <p:nvPr/>
        </p:nvSpPr>
        <p:spPr>
          <a:xfrm>
            <a:off x="4087368" y="1975104"/>
            <a:ext cx="7071055" cy="292608"/>
          </a:xfrm>
          <a:prstGeom prst="rect">
            <a:avLst/>
          </a:prstGeom>
          <a:noFill/>
          <a:ln/>
        </p:spPr>
        <p:txBody>
          <a:bodyPr wrap="square" lIns="0" tIns="0" rIns="0" bIns="0" rtlCol="0" anchor="ctr"/>
          <a:lstStyle/>
          <a:p>
            <a:pPr indent="0" marL="0">
              <a:buNone/>
            </a:pPr>
            <a:r>
              <a:rPr lang="en-US" sz="1450" b="1" dirty="0">
                <a:solidFill>
                  <a:srgbClr val="0E1A15"/>
                </a:solidFill>
                <a:latin typeface="Calibri" pitchFamily="34" charset="0"/>
                <a:ea typeface="Calibri" pitchFamily="34" charset="-122"/>
                <a:cs typeface="Calibri" pitchFamily="34" charset="-120"/>
              </a:rPr>
              <a:t>Camera captures the waste</a:t>
            </a:r>
            <a:endParaRPr lang="en-US" sz="1450" dirty="0"/>
          </a:p>
        </p:txBody>
      </p:sp>
      <p:sp>
        <p:nvSpPr>
          <p:cNvPr id="12" name="Text 8"/>
          <p:cNvSpPr txBox="1"/>
          <p:nvPr/>
        </p:nvSpPr>
        <p:spPr>
          <a:xfrm>
            <a:off x="4087368" y="2267712"/>
            <a:ext cx="7071055" cy="310896"/>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A frame is taken the moment the lid closes.</a:t>
            </a:r>
            <a:endParaRPr lang="en-US" sz="1150" dirty="0"/>
          </a:p>
        </p:txBody>
      </p:sp>
      <p:sp>
        <p:nvSpPr>
          <p:cNvPr id="13" name="Shape 9"/>
          <p:cNvSpPr/>
          <p:nvPr/>
        </p:nvSpPr>
        <p:spPr>
          <a:xfrm>
            <a:off x="3630168" y="2761488"/>
            <a:ext cx="0" cy="219456"/>
          </a:xfrm>
          <a:prstGeom prst="line">
            <a:avLst/>
          </a:prstGeom>
          <a:noFill/>
          <a:ln w="19050">
            <a:solidFill>
              <a:srgbClr val="BCEBCE"/>
            </a:solidFill>
            <a:prstDash val="solid"/>
          </a:ln>
        </p:spPr>
      </p:sp>
      <p:sp>
        <p:nvSpPr>
          <p:cNvPr id="14" name="Shape 10"/>
          <p:cNvSpPr/>
          <p:nvPr/>
        </p:nvSpPr>
        <p:spPr>
          <a:xfrm>
            <a:off x="3063240" y="2980944"/>
            <a:ext cx="8442655" cy="914400"/>
          </a:xfrm>
          <a:prstGeom prst="roundRect">
            <a:avLst>
              <a:gd name="adj" fmla="val 16000"/>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15" name="Shape 11"/>
          <p:cNvSpPr/>
          <p:nvPr/>
        </p:nvSpPr>
        <p:spPr>
          <a:xfrm>
            <a:off x="3328416" y="3136392"/>
            <a:ext cx="603504" cy="603504"/>
          </a:xfrm>
          <a:prstGeom prst="ellipse">
            <a:avLst/>
          </a:prstGeom>
          <a:solidFill>
            <a:srgbClr val="F0FAF4"/>
          </a:solidFill>
          <a:ln/>
        </p:spPr>
      </p:sp>
      <p:pic>
        <p:nvPicPr>
          <p:cNvPr id="16" name="Image 2" descr="C:\smart bin\deck\assets\icons\brain-green.png">    </p:cNvPr>
          <p:cNvPicPr>
            <a:picLocks noChangeAspect="1"/>
          </p:cNvPicPr>
          <p:nvPr/>
        </p:nvPicPr>
        <p:blipFill>
          <a:blip r:embed="rId3"/>
          <a:stretch>
            <a:fillRect/>
          </a:stretch>
        </p:blipFill>
        <p:spPr>
          <a:xfrm>
            <a:off x="3491362" y="3299338"/>
            <a:ext cx="277612" cy="277612"/>
          </a:xfrm>
          <a:prstGeom prst="rect">
            <a:avLst/>
          </a:prstGeom>
        </p:spPr>
      </p:pic>
      <p:sp>
        <p:nvSpPr>
          <p:cNvPr id="17" name="Text 12"/>
          <p:cNvSpPr txBox="1"/>
          <p:nvPr/>
        </p:nvSpPr>
        <p:spPr>
          <a:xfrm>
            <a:off x="4087368" y="3108960"/>
            <a:ext cx="7071055" cy="292608"/>
          </a:xfrm>
          <a:prstGeom prst="rect">
            <a:avLst/>
          </a:prstGeom>
          <a:noFill/>
          <a:ln/>
        </p:spPr>
        <p:txBody>
          <a:bodyPr wrap="square" lIns="0" tIns="0" rIns="0" bIns="0" rtlCol="0" anchor="ctr"/>
          <a:lstStyle/>
          <a:p>
            <a:pPr indent="0" marL="0">
              <a:buNone/>
            </a:pPr>
            <a:r>
              <a:rPr lang="en-US" sz="1450" b="1" dirty="0">
                <a:solidFill>
                  <a:srgbClr val="0E1A15"/>
                </a:solidFill>
                <a:latin typeface="Calibri" pitchFamily="34" charset="0"/>
                <a:ea typeface="Calibri" pitchFamily="34" charset="-122"/>
                <a:cs typeface="Calibri" pitchFamily="34" charset="-120"/>
              </a:rPr>
              <a:t>Vision model analyses the image</a:t>
            </a:r>
            <a:endParaRPr lang="en-US" sz="1450" dirty="0"/>
          </a:p>
        </p:txBody>
      </p:sp>
      <p:sp>
        <p:nvSpPr>
          <p:cNvPr id="18" name="Text 13"/>
          <p:cNvSpPr txBox="1"/>
          <p:nvPr/>
        </p:nvSpPr>
        <p:spPr>
          <a:xfrm>
            <a:off x="4087368" y="3401568"/>
            <a:ext cx="7071055" cy="310896"/>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A hosted model returns a category and a confidence score.</a:t>
            </a:r>
            <a:endParaRPr lang="en-US" sz="1150" dirty="0"/>
          </a:p>
        </p:txBody>
      </p:sp>
      <p:sp>
        <p:nvSpPr>
          <p:cNvPr id="19" name="Shape 14"/>
          <p:cNvSpPr/>
          <p:nvPr/>
        </p:nvSpPr>
        <p:spPr>
          <a:xfrm>
            <a:off x="3630168" y="3895344"/>
            <a:ext cx="0" cy="219456"/>
          </a:xfrm>
          <a:prstGeom prst="line">
            <a:avLst/>
          </a:prstGeom>
          <a:noFill/>
          <a:ln w="19050">
            <a:solidFill>
              <a:srgbClr val="BCEBCE"/>
            </a:solidFill>
            <a:prstDash val="solid"/>
          </a:ln>
        </p:spPr>
      </p:sp>
      <p:sp>
        <p:nvSpPr>
          <p:cNvPr id="20" name="Shape 15"/>
          <p:cNvSpPr/>
          <p:nvPr/>
        </p:nvSpPr>
        <p:spPr>
          <a:xfrm>
            <a:off x="3063240" y="4114800"/>
            <a:ext cx="8442655" cy="914400"/>
          </a:xfrm>
          <a:prstGeom prst="roundRect">
            <a:avLst>
              <a:gd name="adj" fmla="val 16000"/>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21" name="Shape 16"/>
          <p:cNvSpPr/>
          <p:nvPr/>
        </p:nvSpPr>
        <p:spPr>
          <a:xfrm>
            <a:off x="3328416" y="4270248"/>
            <a:ext cx="603504" cy="603504"/>
          </a:xfrm>
          <a:prstGeom prst="ellipse">
            <a:avLst/>
          </a:prstGeom>
          <a:solidFill>
            <a:srgbClr val="F0FAF4"/>
          </a:solidFill>
          <a:ln/>
        </p:spPr>
      </p:sp>
      <p:pic>
        <p:nvPicPr>
          <p:cNvPr id="22" name="Image 3" descr="C:\smart bin\deck\assets\icons\layers-green.png">    </p:cNvPr>
          <p:cNvPicPr>
            <a:picLocks noChangeAspect="1"/>
          </p:cNvPicPr>
          <p:nvPr/>
        </p:nvPicPr>
        <p:blipFill>
          <a:blip r:embed="rId4"/>
          <a:stretch>
            <a:fillRect/>
          </a:stretch>
        </p:blipFill>
        <p:spPr>
          <a:xfrm>
            <a:off x="3491362" y="4433194"/>
            <a:ext cx="277612" cy="277612"/>
          </a:xfrm>
          <a:prstGeom prst="rect">
            <a:avLst/>
          </a:prstGeom>
        </p:spPr>
      </p:pic>
      <p:sp>
        <p:nvSpPr>
          <p:cNvPr id="23" name="Text 17"/>
          <p:cNvSpPr txBox="1"/>
          <p:nvPr/>
        </p:nvSpPr>
        <p:spPr>
          <a:xfrm>
            <a:off x="4087368" y="4242816"/>
            <a:ext cx="7071055" cy="292608"/>
          </a:xfrm>
          <a:prstGeom prst="rect">
            <a:avLst/>
          </a:prstGeom>
          <a:noFill/>
          <a:ln/>
        </p:spPr>
        <p:txBody>
          <a:bodyPr wrap="square" lIns="0" tIns="0" rIns="0" bIns="0" rtlCol="0" anchor="ctr"/>
          <a:lstStyle/>
          <a:p>
            <a:pPr indent="0" marL="0">
              <a:buNone/>
            </a:pPr>
            <a:r>
              <a:rPr lang="en-US" sz="1450" b="1" dirty="0">
                <a:solidFill>
                  <a:srgbClr val="0E1A15"/>
                </a:solidFill>
                <a:latin typeface="Calibri" pitchFamily="34" charset="0"/>
                <a:ea typeface="Calibri" pitchFamily="34" charset="-122"/>
                <a:cs typeface="Calibri" pitchFamily="34" charset="-120"/>
              </a:rPr>
              <a:t>System decides the outcome</a:t>
            </a:r>
            <a:endParaRPr lang="en-US" sz="1450" dirty="0"/>
          </a:p>
        </p:txBody>
      </p:sp>
      <p:sp>
        <p:nvSpPr>
          <p:cNvPr id="24" name="Text 18"/>
          <p:cNvSpPr txBox="1"/>
          <p:nvPr/>
        </p:nvSpPr>
        <p:spPr>
          <a:xfrm>
            <a:off x="4087368" y="4535424"/>
            <a:ext cx="7071055" cy="310896"/>
          </a:xfrm>
          <a:prstGeom prst="rect">
            <a:avLst/>
          </a:prstGeom>
          <a:noFill/>
          <a:ln/>
        </p:spPr>
        <p:txBody>
          <a:bodyPr wrap="square" lIns="0" tIns="0" rIns="0" bIns="0" rtlCol="0" anchor="ctr"/>
          <a:lstStyle/>
          <a:p>
            <a:pPr indent="0" marL="0">
              <a:buNone/>
            </a:pPr>
            <a:r>
              <a:rPr lang="en-US" sz="1150" dirty="0">
                <a:solidFill>
                  <a:srgbClr val="5C6B64"/>
                </a:solidFill>
                <a:latin typeface="Calibri" pitchFamily="34" charset="0"/>
                <a:ea typeface="Calibri" pitchFamily="34" charset="-122"/>
                <a:cs typeface="Calibri" pitchFamily="34" charset="-120"/>
              </a:rPr>
              <a:t>Accept, flag as incorrect, or reject — then score it.</a:t>
            </a:r>
            <a:endParaRPr lang="en-US" sz="1150" dirty="0"/>
          </a:p>
        </p:txBody>
      </p:sp>
      <p:sp>
        <p:nvSpPr>
          <p:cNvPr id="25" name="Shape 19"/>
          <p:cNvSpPr/>
          <p:nvPr/>
        </p:nvSpPr>
        <p:spPr>
          <a:xfrm>
            <a:off x="3063240" y="5266944"/>
            <a:ext cx="1556857" cy="512064"/>
          </a:xfrm>
          <a:prstGeom prst="roundRect">
            <a:avLst>
              <a:gd name="adj" fmla="val 25000"/>
            </a:avLst>
          </a:prstGeom>
          <a:solidFill>
            <a:srgbClr val="248A5E"/>
          </a:solidFill>
          <a:ln/>
        </p:spPr>
      </p:sp>
      <p:sp>
        <p:nvSpPr>
          <p:cNvPr id="26" name="Text 20"/>
          <p:cNvSpPr txBox="1"/>
          <p:nvPr/>
        </p:nvSpPr>
        <p:spPr>
          <a:xfrm>
            <a:off x="3063240" y="5266944"/>
            <a:ext cx="1556857"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Organic</a:t>
            </a:r>
            <a:endParaRPr lang="en-US" sz="1250" dirty="0"/>
          </a:p>
        </p:txBody>
      </p:sp>
      <p:sp>
        <p:nvSpPr>
          <p:cNvPr id="27" name="Shape 21"/>
          <p:cNvSpPr/>
          <p:nvPr/>
        </p:nvSpPr>
        <p:spPr>
          <a:xfrm>
            <a:off x="4784689" y="5266944"/>
            <a:ext cx="1556857" cy="512064"/>
          </a:xfrm>
          <a:prstGeom prst="roundRect">
            <a:avLst>
              <a:gd name="adj" fmla="val 25000"/>
            </a:avLst>
          </a:prstGeom>
          <a:solidFill>
            <a:srgbClr val="F0FAF4"/>
          </a:solidFill>
          <a:ln w="9525">
            <a:solidFill>
              <a:srgbClr val="DCF5E5"/>
            </a:solidFill>
            <a:prstDash val="solid"/>
          </a:ln>
        </p:spPr>
      </p:sp>
      <p:sp>
        <p:nvSpPr>
          <p:cNvPr id="28" name="Text 22"/>
          <p:cNvSpPr txBox="1"/>
          <p:nvPr/>
        </p:nvSpPr>
        <p:spPr>
          <a:xfrm>
            <a:off x="4784689" y="5266944"/>
            <a:ext cx="1556857" cy="512064"/>
          </a:xfrm>
          <a:prstGeom prst="rect">
            <a:avLst/>
          </a:prstGeom>
          <a:noFill/>
          <a:ln/>
        </p:spPr>
        <p:txBody>
          <a:bodyPr wrap="square" lIns="0" tIns="0" rIns="0" bIns="0" rtlCol="0" anchor="ctr"/>
          <a:lstStyle/>
          <a:p>
            <a:pPr algn="ctr" indent="0" marL="0">
              <a:buNone/>
            </a:pPr>
            <a:r>
              <a:rPr lang="en-US" sz="1250" b="1" dirty="0">
                <a:solidFill>
                  <a:srgbClr val="248A5E"/>
                </a:solidFill>
                <a:latin typeface="Calibri" pitchFamily="34" charset="0"/>
                <a:ea typeface="Calibri" pitchFamily="34" charset="-122"/>
                <a:cs typeface="Calibri" pitchFamily="34" charset="-120"/>
              </a:rPr>
              <a:t>Paper</a:t>
            </a:r>
            <a:endParaRPr lang="en-US" sz="1250" dirty="0"/>
          </a:p>
        </p:txBody>
      </p:sp>
      <p:sp>
        <p:nvSpPr>
          <p:cNvPr id="29" name="Shape 23"/>
          <p:cNvSpPr/>
          <p:nvPr/>
        </p:nvSpPr>
        <p:spPr>
          <a:xfrm>
            <a:off x="6506139" y="5266944"/>
            <a:ext cx="1556857" cy="512064"/>
          </a:xfrm>
          <a:prstGeom prst="roundRect">
            <a:avLst>
              <a:gd name="adj" fmla="val 25000"/>
            </a:avLst>
          </a:prstGeom>
          <a:solidFill>
            <a:srgbClr val="F0FAF4"/>
          </a:solidFill>
          <a:ln w="9525">
            <a:solidFill>
              <a:srgbClr val="DCF5E5"/>
            </a:solidFill>
            <a:prstDash val="solid"/>
          </a:ln>
        </p:spPr>
      </p:sp>
      <p:sp>
        <p:nvSpPr>
          <p:cNvPr id="30" name="Text 24"/>
          <p:cNvSpPr txBox="1"/>
          <p:nvPr/>
        </p:nvSpPr>
        <p:spPr>
          <a:xfrm>
            <a:off x="6506139" y="5266944"/>
            <a:ext cx="1556857" cy="512064"/>
          </a:xfrm>
          <a:prstGeom prst="rect">
            <a:avLst/>
          </a:prstGeom>
          <a:noFill/>
          <a:ln/>
        </p:spPr>
        <p:txBody>
          <a:bodyPr wrap="square" lIns="0" tIns="0" rIns="0" bIns="0" rtlCol="0" anchor="ctr"/>
          <a:lstStyle/>
          <a:p>
            <a:pPr algn="ctr" indent="0" marL="0">
              <a:buNone/>
            </a:pPr>
            <a:r>
              <a:rPr lang="en-US" sz="1250" b="1" dirty="0">
                <a:solidFill>
                  <a:srgbClr val="248A5E"/>
                </a:solidFill>
                <a:latin typeface="Calibri" pitchFamily="34" charset="0"/>
                <a:ea typeface="Calibri" pitchFamily="34" charset="-122"/>
                <a:cs typeface="Calibri" pitchFamily="34" charset="-120"/>
              </a:rPr>
              <a:t>Plastic</a:t>
            </a:r>
            <a:endParaRPr lang="en-US" sz="1250" dirty="0"/>
          </a:p>
        </p:txBody>
      </p:sp>
      <p:sp>
        <p:nvSpPr>
          <p:cNvPr id="31" name="Shape 25"/>
          <p:cNvSpPr/>
          <p:nvPr/>
        </p:nvSpPr>
        <p:spPr>
          <a:xfrm>
            <a:off x="8227588" y="5266944"/>
            <a:ext cx="1556857" cy="512064"/>
          </a:xfrm>
          <a:prstGeom prst="roundRect">
            <a:avLst>
              <a:gd name="adj" fmla="val 25000"/>
            </a:avLst>
          </a:prstGeom>
          <a:solidFill>
            <a:srgbClr val="F0FAF4"/>
          </a:solidFill>
          <a:ln w="9525">
            <a:solidFill>
              <a:srgbClr val="DCF5E5"/>
            </a:solidFill>
            <a:prstDash val="solid"/>
          </a:ln>
        </p:spPr>
      </p:sp>
      <p:sp>
        <p:nvSpPr>
          <p:cNvPr id="32" name="Text 26"/>
          <p:cNvSpPr txBox="1"/>
          <p:nvPr/>
        </p:nvSpPr>
        <p:spPr>
          <a:xfrm>
            <a:off x="8227588" y="5266944"/>
            <a:ext cx="1556857" cy="512064"/>
          </a:xfrm>
          <a:prstGeom prst="rect">
            <a:avLst/>
          </a:prstGeom>
          <a:noFill/>
          <a:ln/>
        </p:spPr>
        <p:txBody>
          <a:bodyPr wrap="square" lIns="0" tIns="0" rIns="0" bIns="0" rtlCol="0" anchor="ctr"/>
          <a:lstStyle/>
          <a:p>
            <a:pPr algn="ctr" indent="0" marL="0">
              <a:buNone/>
            </a:pPr>
            <a:r>
              <a:rPr lang="en-US" sz="1250" b="1" dirty="0">
                <a:solidFill>
                  <a:srgbClr val="248A5E"/>
                </a:solidFill>
                <a:latin typeface="Calibri" pitchFamily="34" charset="0"/>
                <a:ea typeface="Calibri" pitchFamily="34" charset="-122"/>
                <a:cs typeface="Calibri" pitchFamily="34" charset="-120"/>
              </a:rPr>
              <a:t>Metal</a:t>
            </a:r>
            <a:endParaRPr lang="en-US" sz="1250" dirty="0"/>
          </a:p>
        </p:txBody>
      </p:sp>
      <p:sp>
        <p:nvSpPr>
          <p:cNvPr id="33" name="Shape 27"/>
          <p:cNvSpPr/>
          <p:nvPr/>
        </p:nvSpPr>
        <p:spPr>
          <a:xfrm>
            <a:off x="9949038" y="5266944"/>
            <a:ext cx="1556857" cy="512064"/>
          </a:xfrm>
          <a:prstGeom prst="roundRect">
            <a:avLst>
              <a:gd name="adj" fmla="val 25000"/>
            </a:avLst>
          </a:prstGeom>
          <a:solidFill>
            <a:srgbClr val="F0FAF4"/>
          </a:solidFill>
          <a:ln w="9525">
            <a:solidFill>
              <a:srgbClr val="DCF5E5"/>
            </a:solidFill>
            <a:prstDash val="solid"/>
          </a:ln>
        </p:spPr>
      </p:sp>
      <p:sp>
        <p:nvSpPr>
          <p:cNvPr id="34" name="Text 28"/>
          <p:cNvSpPr txBox="1"/>
          <p:nvPr/>
        </p:nvSpPr>
        <p:spPr>
          <a:xfrm>
            <a:off x="9949038" y="5266944"/>
            <a:ext cx="1556857" cy="512064"/>
          </a:xfrm>
          <a:prstGeom prst="rect">
            <a:avLst/>
          </a:prstGeom>
          <a:noFill/>
          <a:ln/>
        </p:spPr>
        <p:txBody>
          <a:bodyPr wrap="square" lIns="0" tIns="0" rIns="0" bIns="0" rtlCol="0" anchor="ctr"/>
          <a:lstStyle/>
          <a:p>
            <a:pPr algn="ctr" indent="0" marL="0">
              <a:buNone/>
            </a:pPr>
            <a:r>
              <a:rPr lang="en-US" sz="1250" b="1" dirty="0">
                <a:solidFill>
                  <a:srgbClr val="248A5E"/>
                </a:solidFill>
                <a:latin typeface="Calibri" pitchFamily="34" charset="0"/>
                <a:ea typeface="Calibri" pitchFamily="34" charset="-122"/>
                <a:cs typeface="Calibri" pitchFamily="34" charset="-120"/>
              </a:rPr>
              <a:t>Other</a:t>
            </a:r>
            <a:endParaRPr lang="en-US" sz="1250" dirty="0"/>
          </a:p>
        </p:txBody>
      </p:sp>
      <p:sp>
        <p:nvSpPr>
          <p:cNvPr id="35" name="Text 29"/>
          <p:cNvSpPr txBox="1"/>
          <p:nvPr/>
        </p:nvSpPr>
        <p:spPr>
          <a:xfrm>
            <a:off x="3063240" y="5943600"/>
            <a:ext cx="8442655" cy="457200"/>
          </a:xfrm>
          <a:prstGeom prst="rect">
            <a:avLst/>
          </a:prstGeom>
          <a:noFill/>
          <a:ln/>
        </p:spPr>
        <p:txBody>
          <a:bodyPr wrap="square" lIns="0" tIns="0" rIns="0" bIns="0" rtlCol="0" anchor="ctr"/>
          <a:lstStyle/>
          <a:p>
            <a:pPr indent="0" marL="0">
              <a:lnSpc>
                <a:spcPct val="115000"/>
              </a:lnSpc>
              <a:buNone/>
            </a:pPr>
            <a:r>
              <a:rPr lang="en-US" sz="1050" i="1" dirty="0">
                <a:solidFill>
                  <a:srgbClr val="8A9993"/>
                </a:solidFill>
                <a:latin typeface="Calibri" pitchFamily="34" charset="0"/>
                <a:ea typeface="Calibri" pitchFamily="34" charset="-122"/>
                <a:cs typeface="Calibri" pitchFamily="34" charset="-120"/>
              </a:rPr>
              <a:t>Today the prototype returns mock classifications from a single aiService module. Swapping it for a hosted vision model — Replicate, for example — needs no change to the interface.</a:t>
            </a:r>
            <a:endParaRPr lang="en-US" sz="1050" dirty="0"/>
          </a:p>
        </p:txBody>
      </p:sp>
      <p:sp>
        <p:nvSpPr>
          <p:cNvPr id="36" name="Text 30"/>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37" name="Text 31"/>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07 / 12</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248A5E"/>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08  REWARDS &amp; ACCOUNTABILITY</a:t>
            </a:r>
            <a:endParaRPr lang="en-US" sz="1050" dirty="0"/>
          </a:p>
        </p:txBody>
      </p:sp>
      <p:sp>
        <p:nvSpPr>
          <p:cNvPr id="4" name="Text 2"/>
          <p:cNvSpPr txBox="1"/>
          <p:nvPr/>
        </p:nvSpPr>
        <p:spPr>
          <a:xfrm>
            <a:off x="685800" y="1005840"/>
            <a:ext cx="8229600" cy="603504"/>
          </a:xfrm>
          <a:prstGeom prst="rect">
            <a:avLst/>
          </a:prstGeom>
          <a:noFill/>
          <a:ln/>
        </p:spPr>
        <p:txBody>
          <a:bodyPr wrap="square" lIns="0" tIns="0" rIns="0" bIns="0" rtlCol="0" anchor="ctr"/>
          <a:lstStyle/>
          <a:p>
            <a:pPr indent="0" marL="0">
              <a:buNone/>
            </a:pPr>
            <a:r>
              <a:rPr lang="en-US" sz="3200" b="1" dirty="0">
                <a:solidFill>
                  <a:srgbClr val="0E1A15"/>
                </a:solidFill>
                <a:latin typeface="Calibri" pitchFamily="34" charset="0"/>
                <a:ea typeface="Calibri" pitchFamily="34" charset="-122"/>
                <a:cs typeface="Calibri" pitchFamily="34" charset="-120"/>
              </a:rPr>
              <a:t>Encourage better habits. Build accountability.</a:t>
            </a:r>
            <a:endParaRPr lang="en-US" sz="3200" dirty="0"/>
          </a:p>
        </p:txBody>
      </p:sp>
      <p:sp>
        <p:nvSpPr>
          <p:cNvPr id="5" name="Shape 3"/>
          <p:cNvSpPr/>
          <p:nvPr/>
        </p:nvSpPr>
        <p:spPr>
          <a:xfrm>
            <a:off x="685800" y="1783080"/>
            <a:ext cx="5218024" cy="4069080"/>
          </a:xfrm>
          <a:prstGeom prst="roundRect">
            <a:avLst>
              <a:gd name="adj" fmla="val 4494"/>
            </a:avLst>
          </a:prstGeom>
          <a:solidFill>
            <a:srgbClr val="F0FAF4"/>
          </a:solidFill>
          <a:ln w="9525">
            <a:solidFill>
              <a:srgbClr val="DCF5E5"/>
            </a:solidFill>
            <a:prstDash val="solid"/>
          </a:ln>
        </p:spPr>
      </p:sp>
      <p:sp>
        <p:nvSpPr>
          <p:cNvPr id="6" name="Shape 4"/>
          <p:cNvSpPr/>
          <p:nvPr/>
        </p:nvSpPr>
        <p:spPr>
          <a:xfrm>
            <a:off x="1069848" y="2093976"/>
            <a:ext cx="1481328" cy="310896"/>
          </a:xfrm>
          <a:prstGeom prst="roundRect">
            <a:avLst>
              <a:gd name="adj" fmla="val 50000"/>
            </a:avLst>
          </a:prstGeom>
          <a:solidFill>
            <a:srgbClr val="248A5E"/>
          </a:solidFill>
          <a:ln/>
        </p:spPr>
      </p:sp>
      <p:sp>
        <p:nvSpPr>
          <p:cNvPr id="7" name="Text 5"/>
          <p:cNvSpPr txBox="1"/>
          <p:nvPr/>
        </p:nvSpPr>
        <p:spPr>
          <a:xfrm>
            <a:off x="1069848" y="2093976"/>
            <a:ext cx="1481328"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REWARD</a:t>
            </a:r>
            <a:endParaRPr lang="en-US" sz="900" dirty="0"/>
          </a:p>
        </p:txBody>
      </p:sp>
      <p:pic>
        <p:nvPicPr>
          <p:cNvPr id="8" name="Image 0" descr="C:\smart bin\deck\assets\phone-rewards.png">    </p:cNvPr>
          <p:cNvPicPr>
            <a:picLocks noChangeAspect="1"/>
          </p:cNvPicPr>
          <p:nvPr/>
        </p:nvPicPr>
        <p:blipFill>
          <a:blip r:embed="rId1"/>
          <a:stretch>
            <a:fillRect/>
          </a:stretch>
        </p:blipFill>
        <p:spPr>
          <a:xfrm>
            <a:off x="905256" y="2487168"/>
            <a:ext cx="1632204" cy="3200400"/>
          </a:xfrm>
          <a:prstGeom prst="rect">
            <a:avLst/>
          </a:prstGeom>
        </p:spPr>
      </p:pic>
      <p:sp>
        <p:nvSpPr>
          <p:cNvPr id="9" name="Shape 6"/>
          <p:cNvSpPr/>
          <p:nvPr/>
        </p:nvSpPr>
        <p:spPr>
          <a:xfrm>
            <a:off x="2683764" y="2752344"/>
            <a:ext cx="512064" cy="512064"/>
          </a:xfrm>
          <a:prstGeom prst="ellipse">
            <a:avLst/>
          </a:prstGeom>
          <a:solidFill>
            <a:srgbClr val="FFFFFF"/>
          </a:solidFill>
          <a:ln/>
        </p:spPr>
      </p:sp>
      <p:pic>
        <p:nvPicPr>
          <p:cNvPr id="10" name="Image 1" descr="C:\smart bin\deck\assets\icons\circle-check-big-green.png">    </p:cNvPr>
          <p:cNvPicPr>
            <a:picLocks noChangeAspect="1"/>
          </p:cNvPicPr>
          <p:nvPr/>
        </p:nvPicPr>
        <p:blipFill>
          <a:blip r:embed="rId2"/>
          <a:stretch>
            <a:fillRect/>
          </a:stretch>
        </p:blipFill>
        <p:spPr>
          <a:xfrm>
            <a:off x="2827142" y="2895722"/>
            <a:ext cx="225308" cy="225308"/>
          </a:xfrm>
          <a:prstGeom prst="rect">
            <a:avLst/>
          </a:prstGeom>
        </p:spPr>
      </p:pic>
      <p:sp>
        <p:nvSpPr>
          <p:cNvPr id="11" name="Text 7"/>
          <p:cNvSpPr txBox="1"/>
          <p:nvPr/>
        </p:nvSpPr>
        <p:spPr>
          <a:xfrm>
            <a:off x="3323844" y="2734056"/>
            <a:ext cx="2195932" cy="274320"/>
          </a:xfrm>
          <a:prstGeom prst="rect">
            <a:avLst/>
          </a:prstGeom>
          <a:noFill/>
          <a:ln/>
        </p:spPr>
        <p:txBody>
          <a:bodyPr wrap="square" lIns="0" tIns="0" rIns="0" bIns="0" rtlCol="0" anchor="ctr"/>
          <a:lstStyle/>
          <a:p>
            <a:pPr indent="0" marL="0">
              <a:buNone/>
            </a:pPr>
            <a:r>
              <a:rPr lang="en-US" sz="1300" b="1" dirty="0">
                <a:solidFill>
                  <a:srgbClr val="0E1A15"/>
                </a:solidFill>
                <a:latin typeface="Calibri" pitchFamily="34" charset="0"/>
                <a:ea typeface="Calibri" pitchFamily="34" charset="-122"/>
                <a:cs typeface="Calibri" pitchFamily="34" charset="-120"/>
              </a:rPr>
              <a:t>Correct disposal</a:t>
            </a:r>
            <a:endParaRPr lang="en-US" sz="1300" dirty="0"/>
          </a:p>
        </p:txBody>
      </p:sp>
      <p:sp>
        <p:nvSpPr>
          <p:cNvPr id="12" name="Text 8"/>
          <p:cNvSpPr txBox="1"/>
          <p:nvPr/>
        </p:nvSpPr>
        <p:spPr>
          <a:xfrm>
            <a:off x="3323844" y="3008376"/>
            <a:ext cx="2195932" cy="329184"/>
          </a:xfrm>
          <a:prstGeom prst="rect">
            <a:avLst/>
          </a:prstGeom>
          <a:noFill/>
          <a:ln/>
        </p:spPr>
        <p:txBody>
          <a:bodyPr wrap="square" lIns="0" tIns="0" rIns="0" bIns="0" rtlCol="0" anchor="ctr"/>
          <a:lstStyle/>
          <a:p>
            <a:pPr indent="0" marL="0">
              <a:lnSpc>
                <a:spcPct val="112000"/>
              </a:lnSpc>
              <a:buNone/>
            </a:pPr>
            <a:r>
              <a:rPr lang="en-US" sz="1050" dirty="0">
                <a:solidFill>
                  <a:srgbClr val="5C6B64"/>
                </a:solidFill>
                <a:latin typeface="Calibri" pitchFamily="34" charset="0"/>
                <a:ea typeface="Calibri" pitchFamily="34" charset="-122"/>
                <a:cs typeface="Calibri" pitchFamily="34" charset="-120"/>
              </a:rPr>
              <a:t>Sorted into the right bin</a:t>
            </a:r>
            <a:endParaRPr lang="en-US" sz="1050" dirty="0"/>
          </a:p>
        </p:txBody>
      </p:sp>
      <p:sp>
        <p:nvSpPr>
          <p:cNvPr id="13" name="Shape 9"/>
          <p:cNvSpPr/>
          <p:nvPr/>
        </p:nvSpPr>
        <p:spPr>
          <a:xfrm>
            <a:off x="2939796" y="3300984"/>
            <a:ext cx="0" cy="384048"/>
          </a:xfrm>
          <a:prstGeom prst="line">
            <a:avLst/>
          </a:prstGeom>
          <a:noFill/>
          <a:ln w="19050">
            <a:solidFill>
              <a:srgbClr val="DCF5E5"/>
            </a:solidFill>
            <a:prstDash val="solid"/>
          </a:ln>
        </p:spPr>
      </p:sp>
      <p:sp>
        <p:nvSpPr>
          <p:cNvPr id="14" name="Shape 10"/>
          <p:cNvSpPr/>
          <p:nvPr/>
        </p:nvSpPr>
        <p:spPr>
          <a:xfrm>
            <a:off x="2683764" y="3685032"/>
            <a:ext cx="512064" cy="512064"/>
          </a:xfrm>
          <a:prstGeom prst="ellipse">
            <a:avLst/>
          </a:prstGeom>
          <a:solidFill>
            <a:srgbClr val="FFFFFF"/>
          </a:solidFill>
          <a:ln/>
        </p:spPr>
      </p:sp>
      <p:pic>
        <p:nvPicPr>
          <p:cNvPr id="15" name="Image 2" descr="C:\smart bin\deck\assets\icons\trending-up-green.png">    </p:cNvPr>
          <p:cNvPicPr>
            <a:picLocks noChangeAspect="1"/>
          </p:cNvPicPr>
          <p:nvPr/>
        </p:nvPicPr>
        <p:blipFill>
          <a:blip r:embed="rId3"/>
          <a:stretch>
            <a:fillRect/>
          </a:stretch>
        </p:blipFill>
        <p:spPr>
          <a:xfrm>
            <a:off x="2827142" y="3828410"/>
            <a:ext cx="225308" cy="225308"/>
          </a:xfrm>
          <a:prstGeom prst="rect">
            <a:avLst/>
          </a:prstGeom>
        </p:spPr>
      </p:pic>
      <p:sp>
        <p:nvSpPr>
          <p:cNvPr id="16" name="Text 11"/>
          <p:cNvSpPr txBox="1"/>
          <p:nvPr/>
        </p:nvSpPr>
        <p:spPr>
          <a:xfrm>
            <a:off x="3323844" y="3666744"/>
            <a:ext cx="2195932" cy="274320"/>
          </a:xfrm>
          <a:prstGeom prst="rect">
            <a:avLst/>
          </a:prstGeom>
          <a:noFill/>
          <a:ln/>
        </p:spPr>
        <p:txBody>
          <a:bodyPr wrap="square" lIns="0" tIns="0" rIns="0" bIns="0" rtlCol="0" anchor="ctr"/>
          <a:lstStyle/>
          <a:p>
            <a:pPr indent="0" marL="0">
              <a:buNone/>
            </a:pPr>
            <a:r>
              <a:rPr lang="en-US" sz="1300" b="1" dirty="0">
                <a:solidFill>
                  <a:srgbClr val="0E1A15"/>
                </a:solidFill>
                <a:latin typeface="Calibri" pitchFamily="34" charset="0"/>
                <a:ea typeface="Calibri" pitchFamily="34" charset="-122"/>
                <a:cs typeface="Calibri" pitchFamily="34" charset="-120"/>
              </a:rPr>
              <a:t>Eco points earned</a:t>
            </a:r>
            <a:endParaRPr lang="en-US" sz="1300" dirty="0"/>
          </a:p>
        </p:txBody>
      </p:sp>
      <p:sp>
        <p:nvSpPr>
          <p:cNvPr id="17" name="Text 12"/>
          <p:cNvSpPr txBox="1"/>
          <p:nvPr/>
        </p:nvSpPr>
        <p:spPr>
          <a:xfrm>
            <a:off x="3323844" y="3941064"/>
            <a:ext cx="2195932" cy="329184"/>
          </a:xfrm>
          <a:prstGeom prst="rect">
            <a:avLst/>
          </a:prstGeom>
          <a:noFill/>
          <a:ln/>
        </p:spPr>
        <p:txBody>
          <a:bodyPr wrap="square" lIns="0" tIns="0" rIns="0" bIns="0" rtlCol="0" anchor="ctr"/>
          <a:lstStyle/>
          <a:p>
            <a:pPr indent="0" marL="0">
              <a:lnSpc>
                <a:spcPct val="112000"/>
              </a:lnSpc>
              <a:buNone/>
            </a:pPr>
            <a:r>
              <a:rPr lang="en-US" sz="1050" dirty="0">
                <a:solidFill>
                  <a:srgbClr val="5C6B64"/>
                </a:solidFill>
                <a:latin typeface="Calibri" pitchFamily="34" charset="0"/>
                <a:ea typeface="Calibri" pitchFamily="34" charset="-122"/>
                <a:cs typeface="Calibri" pitchFamily="34" charset="-120"/>
              </a:rPr>
              <a:t>+20 points per kilogram</a:t>
            </a:r>
            <a:endParaRPr lang="en-US" sz="1050" dirty="0"/>
          </a:p>
        </p:txBody>
      </p:sp>
      <p:sp>
        <p:nvSpPr>
          <p:cNvPr id="18" name="Shape 13"/>
          <p:cNvSpPr/>
          <p:nvPr/>
        </p:nvSpPr>
        <p:spPr>
          <a:xfrm>
            <a:off x="2939796" y="4233672"/>
            <a:ext cx="0" cy="384048"/>
          </a:xfrm>
          <a:prstGeom prst="line">
            <a:avLst/>
          </a:prstGeom>
          <a:noFill/>
          <a:ln w="19050">
            <a:solidFill>
              <a:srgbClr val="DCF5E5"/>
            </a:solidFill>
            <a:prstDash val="solid"/>
          </a:ln>
        </p:spPr>
      </p:sp>
      <p:sp>
        <p:nvSpPr>
          <p:cNvPr id="19" name="Shape 14"/>
          <p:cNvSpPr/>
          <p:nvPr/>
        </p:nvSpPr>
        <p:spPr>
          <a:xfrm>
            <a:off x="2683764" y="4617720"/>
            <a:ext cx="512064" cy="512064"/>
          </a:xfrm>
          <a:prstGeom prst="ellipse">
            <a:avLst/>
          </a:prstGeom>
          <a:solidFill>
            <a:srgbClr val="FFFFFF"/>
          </a:solidFill>
          <a:ln/>
        </p:spPr>
      </p:sp>
      <p:pic>
        <p:nvPicPr>
          <p:cNvPr id="20" name="Image 3" descr="C:\smart bin\deck\assets\icons\gift-green.png">    </p:cNvPr>
          <p:cNvPicPr>
            <a:picLocks noChangeAspect="1"/>
          </p:cNvPicPr>
          <p:nvPr/>
        </p:nvPicPr>
        <p:blipFill>
          <a:blip r:embed="rId4"/>
          <a:stretch>
            <a:fillRect/>
          </a:stretch>
        </p:blipFill>
        <p:spPr>
          <a:xfrm>
            <a:off x="2827142" y="4761098"/>
            <a:ext cx="225308" cy="225308"/>
          </a:xfrm>
          <a:prstGeom prst="rect">
            <a:avLst/>
          </a:prstGeom>
        </p:spPr>
      </p:pic>
      <p:sp>
        <p:nvSpPr>
          <p:cNvPr id="21" name="Text 15"/>
          <p:cNvSpPr txBox="1"/>
          <p:nvPr/>
        </p:nvSpPr>
        <p:spPr>
          <a:xfrm>
            <a:off x="3323844" y="4599432"/>
            <a:ext cx="2195932" cy="274320"/>
          </a:xfrm>
          <a:prstGeom prst="rect">
            <a:avLst/>
          </a:prstGeom>
          <a:noFill/>
          <a:ln/>
        </p:spPr>
        <p:txBody>
          <a:bodyPr wrap="square" lIns="0" tIns="0" rIns="0" bIns="0" rtlCol="0" anchor="ctr"/>
          <a:lstStyle/>
          <a:p>
            <a:pPr indent="0" marL="0">
              <a:buNone/>
            </a:pPr>
            <a:r>
              <a:rPr lang="en-US" sz="1300" b="1" dirty="0">
                <a:solidFill>
                  <a:srgbClr val="0E1A15"/>
                </a:solidFill>
                <a:latin typeface="Calibri" pitchFamily="34" charset="0"/>
                <a:ea typeface="Calibri" pitchFamily="34" charset="-122"/>
                <a:cs typeface="Calibri" pitchFamily="34" charset="-120"/>
              </a:rPr>
              <a:t>Redeem rewards</a:t>
            </a:r>
            <a:endParaRPr lang="en-US" sz="1300" dirty="0"/>
          </a:p>
        </p:txBody>
      </p:sp>
      <p:sp>
        <p:nvSpPr>
          <p:cNvPr id="22" name="Text 16"/>
          <p:cNvSpPr txBox="1"/>
          <p:nvPr/>
        </p:nvSpPr>
        <p:spPr>
          <a:xfrm>
            <a:off x="3323844" y="4873752"/>
            <a:ext cx="2195932" cy="329184"/>
          </a:xfrm>
          <a:prstGeom prst="rect">
            <a:avLst/>
          </a:prstGeom>
          <a:noFill/>
          <a:ln/>
        </p:spPr>
        <p:txBody>
          <a:bodyPr wrap="square" lIns="0" tIns="0" rIns="0" bIns="0" rtlCol="0" anchor="ctr"/>
          <a:lstStyle/>
          <a:p>
            <a:pPr indent="0" marL="0">
              <a:lnSpc>
                <a:spcPct val="112000"/>
              </a:lnSpc>
              <a:buNone/>
            </a:pPr>
            <a:r>
              <a:rPr lang="en-US" sz="1050" dirty="0">
                <a:solidFill>
                  <a:srgbClr val="5C6B64"/>
                </a:solidFill>
                <a:latin typeface="Calibri" pitchFamily="34" charset="0"/>
                <a:ea typeface="Calibri" pitchFamily="34" charset="-122"/>
                <a:cs typeface="Calibri" pitchFamily="34" charset="-120"/>
              </a:rPr>
              <a:t>Badges, coupons, a planted tree</a:t>
            </a:r>
            <a:endParaRPr lang="en-US" sz="1050" dirty="0"/>
          </a:p>
        </p:txBody>
      </p:sp>
      <p:sp>
        <p:nvSpPr>
          <p:cNvPr id="23" name="Shape 17"/>
          <p:cNvSpPr/>
          <p:nvPr/>
        </p:nvSpPr>
        <p:spPr>
          <a:xfrm>
            <a:off x="6287872" y="1783080"/>
            <a:ext cx="5218024" cy="4069080"/>
          </a:xfrm>
          <a:prstGeom prst="roundRect">
            <a:avLst>
              <a:gd name="adj" fmla="val 4494"/>
            </a:avLst>
          </a:prstGeom>
          <a:solidFill>
            <a:srgbClr val="FDF3F2"/>
          </a:solidFill>
          <a:ln w="9525">
            <a:solidFill>
              <a:srgbClr val="F8DEDA"/>
            </a:solidFill>
            <a:prstDash val="solid"/>
          </a:ln>
        </p:spPr>
      </p:sp>
      <p:sp>
        <p:nvSpPr>
          <p:cNvPr id="24" name="Shape 18"/>
          <p:cNvSpPr/>
          <p:nvPr/>
        </p:nvSpPr>
        <p:spPr>
          <a:xfrm>
            <a:off x="6671920" y="2093976"/>
            <a:ext cx="1481328" cy="310896"/>
          </a:xfrm>
          <a:prstGeom prst="roundRect">
            <a:avLst>
              <a:gd name="adj" fmla="val 50000"/>
            </a:avLst>
          </a:prstGeom>
          <a:solidFill>
            <a:srgbClr val="D64545"/>
          </a:solidFill>
          <a:ln/>
        </p:spPr>
      </p:sp>
      <p:sp>
        <p:nvSpPr>
          <p:cNvPr id="25" name="Text 19"/>
          <p:cNvSpPr txBox="1"/>
          <p:nvPr/>
        </p:nvSpPr>
        <p:spPr>
          <a:xfrm>
            <a:off x="6671920" y="2093976"/>
            <a:ext cx="1481328"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ACCOUNTABILITY</a:t>
            </a:r>
            <a:endParaRPr lang="en-US" sz="900" dirty="0"/>
          </a:p>
        </p:txBody>
      </p:sp>
      <p:pic>
        <p:nvPicPr>
          <p:cNvPr id="26" name="Image 4" descr="C:\smart bin\deck\assets\phone-penalties.png">    </p:cNvPr>
          <p:cNvPicPr>
            <a:picLocks noChangeAspect="1"/>
          </p:cNvPicPr>
          <p:nvPr/>
        </p:nvPicPr>
        <p:blipFill>
          <a:blip r:embed="rId5"/>
          <a:stretch>
            <a:fillRect/>
          </a:stretch>
        </p:blipFill>
        <p:spPr>
          <a:xfrm>
            <a:off x="6507328" y="2487168"/>
            <a:ext cx="1632204" cy="3200400"/>
          </a:xfrm>
          <a:prstGeom prst="rect">
            <a:avLst/>
          </a:prstGeom>
        </p:spPr>
      </p:pic>
      <p:sp>
        <p:nvSpPr>
          <p:cNvPr id="27" name="Shape 20"/>
          <p:cNvSpPr/>
          <p:nvPr/>
        </p:nvSpPr>
        <p:spPr>
          <a:xfrm>
            <a:off x="8285836" y="2752344"/>
            <a:ext cx="512064" cy="512064"/>
          </a:xfrm>
          <a:prstGeom prst="ellipse">
            <a:avLst/>
          </a:prstGeom>
          <a:solidFill>
            <a:srgbClr val="FFFFFF"/>
          </a:solidFill>
          <a:ln/>
        </p:spPr>
      </p:sp>
      <p:pic>
        <p:nvPicPr>
          <p:cNvPr id="28" name="Image 5" descr="C:\smart bin\deck\assets\icons\triangle-alert-red.png">    </p:cNvPr>
          <p:cNvPicPr>
            <a:picLocks noChangeAspect="1"/>
          </p:cNvPicPr>
          <p:nvPr/>
        </p:nvPicPr>
        <p:blipFill>
          <a:blip r:embed="rId6"/>
          <a:stretch>
            <a:fillRect/>
          </a:stretch>
        </p:blipFill>
        <p:spPr>
          <a:xfrm>
            <a:off x="8429214" y="2895722"/>
            <a:ext cx="225308" cy="225308"/>
          </a:xfrm>
          <a:prstGeom prst="rect">
            <a:avLst/>
          </a:prstGeom>
        </p:spPr>
      </p:pic>
      <p:sp>
        <p:nvSpPr>
          <p:cNvPr id="29" name="Text 21"/>
          <p:cNvSpPr txBox="1"/>
          <p:nvPr/>
        </p:nvSpPr>
        <p:spPr>
          <a:xfrm>
            <a:off x="8925916" y="2734056"/>
            <a:ext cx="2195932" cy="274320"/>
          </a:xfrm>
          <a:prstGeom prst="rect">
            <a:avLst/>
          </a:prstGeom>
          <a:noFill/>
          <a:ln/>
        </p:spPr>
        <p:txBody>
          <a:bodyPr wrap="square" lIns="0" tIns="0" rIns="0" bIns="0" rtlCol="0" anchor="ctr"/>
          <a:lstStyle/>
          <a:p>
            <a:pPr indent="0" marL="0">
              <a:buNone/>
            </a:pPr>
            <a:r>
              <a:rPr lang="en-US" sz="1300" b="1" dirty="0">
                <a:solidFill>
                  <a:srgbClr val="0E1A15"/>
                </a:solidFill>
                <a:latin typeface="Calibri" pitchFamily="34" charset="0"/>
                <a:ea typeface="Calibri" pitchFamily="34" charset="-122"/>
                <a:cs typeface="Calibri" pitchFamily="34" charset="-120"/>
              </a:rPr>
              <a:t>Incorrect disposal</a:t>
            </a:r>
            <a:endParaRPr lang="en-US" sz="1300" dirty="0"/>
          </a:p>
        </p:txBody>
      </p:sp>
      <p:sp>
        <p:nvSpPr>
          <p:cNvPr id="30" name="Text 22"/>
          <p:cNvSpPr txBox="1"/>
          <p:nvPr/>
        </p:nvSpPr>
        <p:spPr>
          <a:xfrm>
            <a:off x="8925916" y="3008376"/>
            <a:ext cx="2195932" cy="329184"/>
          </a:xfrm>
          <a:prstGeom prst="rect">
            <a:avLst/>
          </a:prstGeom>
          <a:noFill/>
          <a:ln/>
        </p:spPr>
        <p:txBody>
          <a:bodyPr wrap="square" lIns="0" tIns="0" rIns="0" bIns="0" rtlCol="0" anchor="ctr"/>
          <a:lstStyle/>
          <a:p>
            <a:pPr indent="0" marL="0">
              <a:lnSpc>
                <a:spcPct val="112000"/>
              </a:lnSpc>
              <a:buNone/>
            </a:pPr>
            <a:r>
              <a:rPr lang="en-US" sz="1050" dirty="0">
                <a:solidFill>
                  <a:srgbClr val="5C6B64"/>
                </a:solidFill>
                <a:latin typeface="Calibri" pitchFamily="34" charset="0"/>
                <a:ea typeface="Calibri" pitchFamily="34" charset="-122"/>
                <a:cs typeface="Calibri" pitchFamily="34" charset="-120"/>
              </a:rPr>
              <a:t>Wrong bin or contaminated waste</a:t>
            </a:r>
            <a:endParaRPr lang="en-US" sz="1050" dirty="0"/>
          </a:p>
        </p:txBody>
      </p:sp>
      <p:sp>
        <p:nvSpPr>
          <p:cNvPr id="31" name="Shape 23"/>
          <p:cNvSpPr/>
          <p:nvPr/>
        </p:nvSpPr>
        <p:spPr>
          <a:xfrm>
            <a:off x="8541868" y="3300984"/>
            <a:ext cx="0" cy="384048"/>
          </a:xfrm>
          <a:prstGeom prst="line">
            <a:avLst/>
          </a:prstGeom>
          <a:noFill/>
          <a:ln w="19050">
            <a:solidFill>
              <a:srgbClr val="F8DEDA"/>
            </a:solidFill>
            <a:prstDash val="solid"/>
          </a:ln>
        </p:spPr>
      </p:sp>
      <p:sp>
        <p:nvSpPr>
          <p:cNvPr id="32" name="Shape 24"/>
          <p:cNvSpPr/>
          <p:nvPr/>
        </p:nvSpPr>
        <p:spPr>
          <a:xfrm>
            <a:off x="8285836" y="3685032"/>
            <a:ext cx="512064" cy="512064"/>
          </a:xfrm>
          <a:prstGeom prst="ellipse">
            <a:avLst/>
          </a:prstGeom>
          <a:solidFill>
            <a:srgbClr val="FFFFFF"/>
          </a:solidFill>
          <a:ln/>
        </p:spPr>
      </p:sp>
      <p:pic>
        <p:nvPicPr>
          <p:cNvPr id="33" name="Image 6" descr="C:\smart bin\deck\assets\icons\indian-rupee-red.png">    </p:cNvPr>
          <p:cNvPicPr>
            <a:picLocks noChangeAspect="1"/>
          </p:cNvPicPr>
          <p:nvPr/>
        </p:nvPicPr>
        <p:blipFill>
          <a:blip r:embed="rId7"/>
          <a:stretch>
            <a:fillRect/>
          </a:stretch>
        </p:blipFill>
        <p:spPr>
          <a:xfrm>
            <a:off x="8429214" y="3828410"/>
            <a:ext cx="225308" cy="225308"/>
          </a:xfrm>
          <a:prstGeom prst="rect">
            <a:avLst/>
          </a:prstGeom>
        </p:spPr>
      </p:pic>
      <p:sp>
        <p:nvSpPr>
          <p:cNvPr id="34" name="Text 25"/>
          <p:cNvSpPr txBox="1"/>
          <p:nvPr/>
        </p:nvSpPr>
        <p:spPr>
          <a:xfrm>
            <a:off x="8925916" y="3666744"/>
            <a:ext cx="2195932" cy="274320"/>
          </a:xfrm>
          <a:prstGeom prst="rect">
            <a:avLst/>
          </a:prstGeom>
          <a:noFill/>
          <a:ln/>
        </p:spPr>
        <p:txBody>
          <a:bodyPr wrap="square" lIns="0" tIns="0" rIns="0" bIns="0" rtlCol="0" anchor="ctr"/>
          <a:lstStyle/>
          <a:p>
            <a:pPr indent="0" marL="0">
              <a:buNone/>
            </a:pPr>
            <a:r>
              <a:rPr lang="en-US" sz="1300" b="1" dirty="0">
                <a:solidFill>
                  <a:srgbClr val="0E1A15"/>
                </a:solidFill>
                <a:latin typeface="Calibri" pitchFamily="34" charset="0"/>
                <a:ea typeface="Calibri" pitchFamily="34" charset="-122"/>
                <a:cs typeface="Calibri" pitchFamily="34" charset="-120"/>
              </a:rPr>
              <a:t>Penalty applied</a:t>
            </a:r>
            <a:endParaRPr lang="en-US" sz="1300" dirty="0"/>
          </a:p>
        </p:txBody>
      </p:sp>
      <p:sp>
        <p:nvSpPr>
          <p:cNvPr id="35" name="Text 26"/>
          <p:cNvSpPr txBox="1"/>
          <p:nvPr/>
        </p:nvSpPr>
        <p:spPr>
          <a:xfrm>
            <a:off x="8925916" y="3941064"/>
            <a:ext cx="2195932" cy="329184"/>
          </a:xfrm>
          <a:prstGeom prst="rect">
            <a:avLst/>
          </a:prstGeom>
          <a:noFill/>
          <a:ln/>
        </p:spPr>
        <p:txBody>
          <a:bodyPr wrap="square" lIns="0" tIns="0" rIns="0" bIns="0" rtlCol="0" anchor="ctr"/>
          <a:lstStyle/>
          <a:p>
            <a:pPr indent="0" marL="0">
              <a:lnSpc>
                <a:spcPct val="112000"/>
              </a:lnSpc>
              <a:buNone/>
            </a:pPr>
            <a:r>
              <a:rPr lang="en-US" sz="1050" dirty="0">
                <a:solidFill>
                  <a:srgbClr val="5C6B64"/>
                </a:solidFill>
                <a:latin typeface="Calibri" pitchFamily="34" charset="0"/>
                <a:ea typeface="Calibri" pitchFamily="34" charset="-122"/>
                <a:cs typeface="Calibri" pitchFamily="34" charset="-120"/>
              </a:rPr>
              <a:t>Points deducted, small fine logged</a:t>
            </a:r>
            <a:endParaRPr lang="en-US" sz="1050" dirty="0"/>
          </a:p>
        </p:txBody>
      </p:sp>
      <p:sp>
        <p:nvSpPr>
          <p:cNvPr id="36" name="Shape 27"/>
          <p:cNvSpPr/>
          <p:nvPr/>
        </p:nvSpPr>
        <p:spPr>
          <a:xfrm>
            <a:off x="8541868" y="4233672"/>
            <a:ext cx="0" cy="384048"/>
          </a:xfrm>
          <a:prstGeom prst="line">
            <a:avLst/>
          </a:prstGeom>
          <a:noFill/>
          <a:ln w="19050">
            <a:solidFill>
              <a:srgbClr val="F8DEDA"/>
            </a:solidFill>
            <a:prstDash val="solid"/>
          </a:ln>
        </p:spPr>
      </p:sp>
      <p:sp>
        <p:nvSpPr>
          <p:cNvPr id="37" name="Shape 28"/>
          <p:cNvSpPr/>
          <p:nvPr/>
        </p:nvSpPr>
        <p:spPr>
          <a:xfrm>
            <a:off x="8285836" y="4617720"/>
            <a:ext cx="512064" cy="512064"/>
          </a:xfrm>
          <a:prstGeom prst="ellipse">
            <a:avLst/>
          </a:prstGeom>
          <a:solidFill>
            <a:srgbClr val="FFFFFF"/>
          </a:solidFill>
          <a:ln/>
        </p:spPr>
      </p:sp>
      <p:pic>
        <p:nvPicPr>
          <p:cNvPr id="38" name="Image 7" descr="C:\smart bin\deck\assets\icons\shield-check-red.png">    </p:cNvPr>
          <p:cNvPicPr>
            <a:picLocks noChangeAspect="1"/>
          </p:cNvPicPr>
          <p:nvPr/>
        </p:nvPicPr>
        <p:blipFill>
          <a:blip r:embed="rId8"/>
          <a:stretch>
            <a:fillRect/>
          </a:stretch>
        </p:blipFill>
        <p:spPr>
          <a:xfrm>
            <a:off x="8429214" y="4761098"/>
            <a:ext cx="225308" cy="225308"/>
          </a:xfrm>
          <a:prstGeom prst="rect">
            <a:avLst/>
          </a:prstGeom>
        </p:spPr>
      </p:pic>
      <p:sp>
        <p:nvSpPr>
          <p:cNvPr id="39" name="Text 29"/>
          <p:cNvSpPr txBox="1"/>
          <p:nvPr/>
        </p:nvSpPr>
        <p:spPr>
          <a:xfrm>
            <a:off x="8925916" y="4599432"/>
            <a:ext cx="2195932" cy="274320"/>
          </a:xfrm>
          <a:prstGeom prst="rect">
            <a:avLst/>
          </a:prstGeom>
          <a:noFill/>
          <a:ln/>
        </p:spPr>
        <p:txBody>
          <a:bodyPr wrap="square" lIns="0" tIns="0" rIns="0" bIns="0" rtlCol="0" anchor="ctr"/>
          <a:lstStyle/>
          <a:p>
            <a:pPr indent="0" marL="0">
              <a:buNone/>
            </a:pPr>
            <a:r>
              <a:rPr lang="en-US" sz="1300" b="1" dirty="0">
                <a:solidFill>
                  <a:srgbClr val="0E1A15"/>
                </a:solidFill>
                <a:latin typeface="Calibri" pitchFamily="34" charset="0"/>
                <a:ea typeface="Calibri" pitchFamily="34" charset="-122"/>
                <a:cs typeface="Calibri" pitchFamily="34" charset="-120"/>
              </a:rPr>
              <a:t>User awareness</a:t>
            </a:r>
            <a:endParaRPr lang="en-US" sz="1300" dirty="0"/>
          </a:p>
        </p:txBody>
      </p:sp>
      <p:sp>
        <p:nvSpPr>
          <p:cNvPr id="40" name="Text 30"/>
          <p:cNvSpPr txBox="1"/>
          <p:nvPr/>
        </p:nvSpPr>
        <p:spPr>
          <a:xfrm>
            <a:off x="8925916" y="4873752"/>
            <a:ext cx="2195932" cy="329184"/>
          </a:xfrm>
          <a:prstGeom prst="rect">
            <a:avLst/>
          </a:prstGeom>
          <a:noFill/>
          <a:ln/>
        </p:spPr>
        <p:txBody>
          <a:bodyPr wrap="square" lIns="0" tIns="0" rIns="0" bIns="0" rtlCol="0" anchor="ctr"/>
          <a:lstStyle/>
          <a:p>
            <a:pPr indent="0" marL="0">
              <a:lnSpc>
                <a:spcPct val="112000"/>
              </a:lnSpc>
              <a:buNone/>
            </a:pPr>
            <a:r>
              <a:rPr lang="en-US" sz="1050" dirty="0">
                <a:solidFill>
                  <a:srgbClr val="5C6B64"/>
                </a:solidFill>
                <a:latin typeface="Calibri" pitchFamily="34" charset="0"/>
                <a:ea typeface="Calibri" pitchFamily="34" charset="-122"/>
                <a:cs typeface="Calibri" pitchFamily="34" charset="-120"/>
              </a:rPr>
              <a:t>The app explains exactly what went wrong</a:t>
            </a:r>
            <a:endParaRPr lang="en-US" sz="1050" dirty="0"/>
          </a:p>
        </p:txBody>
      </p:sp>
      <p:sp>
        <p:nvSpPr>
          <p:cNvPr id="41" name="Text 31"/>
          <p:cNvSpPr txBox="1"/>
          <p:nvPr/>
        </p:nvSpPr>
        <p:spPr>
          <a:xfrm>
            <a:off x="685800" y="5998464"/>
            <a:ext cx="10820095" cy="292608"/>
          </a:xfrm>
          <a:prstGeom prst="rect">
            <a:avLst/>
          </a:prstGeom>
          <a:noFill/>
          <a:ln/>
        </p:spPr>
        <p:txBody>
          <a:bodyPr wrap="square" lIns="0" tIns="0" rIns="0" bIns="0" rtlCol="0" anchor="ctr"/>
          <a:lstStyle/>
          <a:p>
            <a:pPr indent="0" marL="0">
              <a:buNone/>
            </a:pPr>
            <a:r>
              <a:rPr lang="en-US" sz="1150" i="1" dirty="0">
                <a:solidFill>
                  <a:srgbClr val="8A9993"/>
                </a:solidFill>
                <a:latin typeface="Calibri" pitchFamily="34" charset="0"/>
                <a:ea typeface="Calibri" pitchFamily="34" charset="-122"/>
                <a:cs typeface="Calibri" pitchFamily="34" charset="-120"/>
              </a:rPr>
              <a:t>Penalties are framed as guidance, not punishment: every flagged deposit explains the reason, and points reset after 30 clean days.</a:t>
            </a:r>
            <a:endParaRPr lang="en-US" sz="1150" dirty="0"/>
          </a:p>
        </p:txBody>
      </p:sp>
      <p:sp>
        <p:nvSpPr>
          <p:cNvPr id="42" name="Text 32"/>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43" name="Text 33"/>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08 / 12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261A"/>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5BC98C"/>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5BC98C"/>
                </a:solidFill>
                <a:latin typeface="Calibri" pitchFamily="34" charset="0"/>
                <a:ea typeface="Calibri" pitchFamily="34" charset="-122"/>
                <a:cs typeface="Calibri" pitchFamily="34" charset="-120"/>
              </a:rPr>
              <a:t>09  SYSTEM ARCHITECTURE</a:t>
            </a:r>
            <a:endParaRPr lang="en-US" sz="1050" dirty="0"/>
          </a:p>
        </p:txBody>
      </p:sp>
      <p:sp>
        <p:nvSpPr>
          <p:cNvPr id="4" name="Shape 2"/>
          <p:cNvSpPr/>
          <p:nvPr/>
        </p:nvSpPr>
        <p:spPr>
          <a:xfrm>
            <a:off x="9189720" y="603504"/>
            <a:ext cx="2313432" cy="329184"/>
          </a:xfrm>
          <a:prstGeom prst="roundRect">
            <a:avLst>
              <a:gd name="adj" fmla="val 50000"/>
            </a:avLst>
          </a:prstGeom>
          <a:solidFill>
            <a:srgbClr val="5BC98C"/>
          </a:solidFill>
          <a:ln/>
        </p:spPr>
      </p:sp>
      <p:sp>
        <p:nvSpPr>
          <p:cNvPr id="5" name="Text 3"/>
          <p:cNvSpPr txBox="1"/>
          <p:nvPr/>
        </p:nvSpPr>
        <p:spPr>
          <a:xfrm>
            <a:off x="9189720" y="603504"/>
            <a:ext cx="2313432" cy="329184"/>
          </a:xfrm>
          <a:prstGeom prst="rect">
            <a:avLst/>
          </a:prstGeom>
          <a:noFill/>
          <a:ln/>
        </p:spPr>
        <p:txBody>
          <a:bodyPr wrap="square" lIns="0" tIns="0" rIns="0" bIns="0" rtlCol="0" anchor="ctr"/>
          <a:lstStyle/>
          <a:p>
            <a:pPr algn="ctr" indent="0" marL="0">
              <a:buNone/>
            </a:pPr>
            <a:r>
              <a:rPr lang="en-US" sz="850" b="1" spc="100" kern="0" dirty="0">
                <a:solidFill>
                  <a:srgbClr val="08261A"/>
                </a:solidFill>
                <a:latin typeface="Calibri" pitchFamily="34" charset="0"/>
                <a:ea typeface="Calibri" pitchFamily="34" charset="-122"/>
                <a:cs typeface="Calibri" pitchFamily="34" charset="-120"/>
              </a:rPr>
              <a:t>PROPOSED FINAL ARCHITECTURE</a:t>
            </a:r>
            <a:endParaRPr lang="en-US" sz="850" dirty="0"/>
          </a:p>
        </p:txBody>
      </p:sp>
      <p:sp>
        <p:nvSpPr>
          <p:cNvPr id="6" name="Text 4"/>
          <p:cNvSpPr txBox="1"/>
          <p:nvPr/>
        </p:nvSpPr>
        <p:spPr>
          <a:xfrm>
            <a:off x="685800" y="987552"/>
            <a:ext cx="8229600" cy="566928"/>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Connecting the physical and digital worlds.</a:t>
            </a:r>
            <a:endParaRPr lang="en-US" sz="3200" dirty="0"/>
          </a:p>
        </p:txBody>
      </p:sp>
      <p:sp>
        <p:nvSpPr>
          <p:cNvPr id="7" name="Text 5"/>
          <p:cNvSpPr txBox="1"/>
          <p:nvPr/>
        </p:nvSpPr>
        <p:spPr>
          <a:xfrm>
            <a:off x="685800" y="1691640"/>
            <a:ext cx="1481328" cy="859536"/>
          </a:xfrm>
          <a:prstGeom prst="rect">
            <a:avLst/>
          </a:prstGeom>
          <a:noFill/>
          <a:ln/>
        </p:spPr>
        <p:txBody>
          <a:bodyPr wrap="square" lIns="0" tIns="0" rIns="0" bIns="0" rtlCol="0" anchor="ctr"/>
          <a:lstStyle/>
          <a:p>
            <a:pPr indent="0" marL="0">
              <a:buNone/>
            </a:pPr>
            <a:r>
              <a:rPr lang="en-US" sz="1000" b="1" spc="160" kern="0" dirty="0">
                <a:solidFill>
                  <a:srgbClr val="5BC98C"/>
                </a:solidFill>
                <a:latin typeface="Calibri" pitchFamily="34" charset="0"/>
                <a:ea typeface="Calibri" pitchFamily="34" charset="-122"/>
                <a:cs typeface="Calibri" pitchFamily="34" charset="-120"/>
              </a:rPr>
              <a:t>PRESENTATION</a:t>
            </a:r>
            <a:endParaRPr lang="en-US" sz="1000" dirty="0"/>
          </a:p>
        </p:txBody>
      </p:sp>
      <p:sp>
        <p:nvSpPr>
          <p:cNvPr id="8" name="Shape 6"/>
          <p:cNvSpPr/>
          <p:nvPr/>
        </p:nvSpPr>
        <p:spPr>
          <a:xfrm>
            <a:off x="2386584" y="1691640"/>
            <a:ext cx="9119311" cy="859536"/>
          </a:xfrm>
          <a:prstGeom prst="roundRect">
            <a:avLst>
              <a:gd name="adj" fmla="val 17021"/>
            </a:avLst>
          </a:prstGeom>
          <a:solidFill>
            <a:srgbClr val="134632"/>
          </a:solidFill>
          <a:ln w="13970">
            <a:solidFill>
              <a:srgbClr val="2FA86F"/>
            </a:solidFill>
            <a:prstDash val="solid"/>
          </a:ln>
        </p:spPr>
      </p:sp>
      <p:sp>
        <p:nvSpPr>
          <p:cNvPr id="9" name="Shape 7"/>
          <p:cNvSpPr/>
          <p:nvPr/>
        </p:nvSpPr>
        <p:spPr>
          <a:xfrm>
            <a:off x="2587752" y="1837944"/>
            <a:ext cx="4276192" cy="566928"/>
          </a:xfrm>
          <a:prstGeom prst="roundRect">
            <a:avLst>
              <a:gd name="adj" fmla="val 19355"/>
            </a:avLst>
          </a:prstGeom>
          <a:solidFill>
            <a:srgbClr val="5BC98C"/>
          </a:solidFill>
          <a:ln/>
        </p:spPr>
      </p:sp>
      <p:pic>
        <p:nvPicPr>
          <p:cNvPr id="10" name="Image 0" descr="C:\smart bin\deck\assets\icons\user-round-dark.png">    </p:cNvPr>
          <p:cNvPicPr>
            <a:picLocks noChangeAspect="1"/>
          </p:cNvPicPr>
          <p:nvPr/>
        </p:nvPicPr>
        <p:blipFill>
          <a:blip r:embed="rId1"/>
          <a:stretch>
            <a:fillRect/>
          </a:stretch>
        </p:blipFill>
        <p:spPr>
          <a:xfrm>
            <a:off x="2734056" y="1993392"/>
            <a:ext cx="256032" cy="256032"/>
          </a:xfrm>
          <a:prstGeom prst="rect">
            <a:avLst/>
          </a:prstGeom>
        </p:spPr>
      </p:pic>
      <p:sp>
        <p:nvSpPr>
          <p:cNvPr id="11" name="Text 8"/>
          <p:cNvSpPr txBox="1"/>
          <p:nvPr/>
        </p:nvSpPr>
        <p:spPr>
          <a:xfrm>
            <a:off x="3063240" y="1837944"/>
            <a:ext cx="3672688" cy="566928"/>
          </a:xfrm>
          <a:prstGeom prst="rect">
            <a:avLst/>
          </a:prstGeom>
          <a:noFill/>
          <a:ln/>
        </p:spPr>
        <p:txBody>
          <a:bodyPr wrap="square" lIns="0" tIns="0" rIns="0" bIns="0" rtlCol="0" anchor="ctr"/>
          <a:lstStyle/>
          <a:p>
            <a:pPr indent="0" marL="0">
              <a:buNone/>
            </a:pPr>
            <a:r>
              <a:rPr lang="en-US" sz="1200" b="1" dirty="0">
                <a:solidFill>
                  <a:srgbClr val="08261A"/>
                </a:solidFill>
                <a:latin typeface="Calibri" pitchFamily="34" charset="0"/>
                <a:ea typeface="Calibri" pitchFamily="34" charset="-122"/>
                <a:cs typeface="Calibri" pitchFamily="34" charset="-120"/>
              </a:rPr>
              <a:t>User</a:t>
            </a:r>
            <a:endParaRPr lang="en-US" sz="1200" dirty="0"/>
          </a:p>
        </p:txBody>
      </p:sp>
      <p:pic>
        <p:nvPicPr>
          <p:cNvPr id="12" name="Image 1" descr="C:\smart bin\deck\assets\icons\chevron-right-dark.png">    </p:cNvPr>
          <p:cNvPicPr>
            <a:picLocks noChangeAspect="1"/>
          </p:cNvPicPr>
          <p:nvPr/>
        </p:nvPicPr>
        <p:blipFill>
          <a:blip r:embed="rId2"/>
          <a:stretch>
            <a:fillRect/>
          </a:stretch>
        </p:blipFill>
        <p:spPr>
          <a:xfrm>
            <a:off x="6863944" y="2039112"/>
            <a:ext cx="164592" cy="164592"/>
          </a:xfrm>
          <a:prstGeom prst="rect">
            <a:avLst/>
          </a:prstGeom>
        </p:spPr>
      </p:pic>
      <p:sp>
        <p:nvSpPr>
          <p:cNvPr id="13" name="Shape 9"/>
          <p:cNvSpPr/>
          <p:nvPr/>
        </p:nvSpPr>
        <p:spPr>
          <a:xfrm>
            <a:off x="7028536" y="1837944"/>
            <a:ext cx="4276192" cy="566928"/>
          </a:xfrm>
          <a:prstGeom prst="roundRect">
            <a:avLst>
              <a:gd name="adj" fmla="val 19355"/>
            </a:avLst>
          </a:prstGeom>
          <a:solidFill>
            <a:srgbClr val="5BC98C"/>
          </a:solidFill>
          <a:ln/>
        </p:spPr>
      </p:sp>
      <p:pic>
        <p:nvPicPr>
          <p:cNvPr id="14" name="Image 2" descr="C:\smart bin\deck\assets\icons\smartphone-dark.png">    </p:cNvPr>
          <p:cNvPicPr>
            <a:picLocks noChangeAspect="1"/>
          </p:cNvPicPr>
          <p:nvPr/>
        </p:nvPicPr>
        <p:blipFill>
          <a:blip r:embed="rId3"/>
          <a:stretch>
            <a:fillRect/>
          </a:stretch>
        </p:blipFill>
        <p:spPr>
          <a:xfrm>
            <a:off x="7174840" y="1993392"/>
            <a:ext cx="256032" cy="256032"/>
          </a:xfrm>
          <a:prstGeom prst="rect">
            <a:avLst/>
          </a:prstGeom>
        </p:spPr>
      </p:pic>
      <p:sp>
        <p:nvSpPr>
          <p:cNvPr id="15" name="Text 10"/>
          <p:cNvSpPr txBox="1"/>
          <p:nvPr/>
        </p:nvSpPr>
        <p:spPr>
          <a:xfrm>
            <a:off x="7504024" y="1837944"/>
            <a:ext cx="3672688" cy="566928"/>
          </a:xfrm>
          <a:prstGeom prst="rect">
            <a:avLst/>
          </a:prstGeom>
          <a:noFill/>
          <a:ln/>
        </p:spPr>
        <p:txBody>
          <a:bodyPr wrap="square" lIns="0" tIns="0" rIns="0" bIns="0" rtlCol="0" anchor="ctr"/>
          <a:lstStyle/>
          <a:p>
            <a:pPr indent="0" marL="0">
              <a:buNone/>
            </a:pPr>
            <a:r>
              <a:rPr lang="en-US" sz="1200" b="1" dirty="0">
                <a:solidFill>
                  <a:srgbClr val="08261A"/>
                </a:solidFill>
                <a:latin typeface="Calibri" pitchFamily="34" charset="0"/>
                <a:ea typeface="Calibri" pitchFamily="34" charset="-122"/>
                <a:cs typeface="Calibri" pitchFamily="34" charset="-120"/>
              </a:rPr>
              <a:t>Mobile Application</a:t>
            </a:r>
            <a:endParaRPr lang="en-US" sz="1200" dirty="0"/>
          </a:p>
        </p:txBody>
      </p:sp>
      <p:sp>
        <p:nvSpPr>
          <p:cNvPr id="16" name="Shape 11"/>
          <p:cNvSpPr/>
          <p:nvPr/>
        </p:nvSpPr>
        <p:spPr>
          <a:xfrm>
            <a:off x="2935224" y="2551176"/>
            <a:ext cx="0" cy="155448"/>
          </a:xfrm>
          <a:prstGeom prst="line">
            <a:avLst/>
          </a:prstGeom>
          <a:noFill/>
          <a:ln w="15240">
            <a:solidFill>
              <a:srgbClr val="2FA86F"/>
            </a:solidFill>
            <a:prstDash val="dash"/>
          </a:ln>
        </p:spPr>
      </p:sp>
      <p:sp>
        <p:nvSpPr>
          <p:cNvPr id="17" name="Text 12"/>
          <p:cNvSpPr txBox="1"/>
          <p:nvPr/>
        </p:nvSpPr>
        <p:spPr>
          <a:xfrm>
            <a:off x="685800" y="2706624"/>
            <a:ext cx="1481328" cy="859536"/>
          </a:xfrm>
          <a:prstGeom prst="rect">
            <a:avLst/>
          </a:prstGeom>
          <a:noFill/>
          <a:ln/>
        </p:spPr>
        <p:txBody>
          <a:bodyPr wrap="square" lIns="0" tIns="0" rIns="0" bIns="0" rtlCol="0" anchor="ctr"/>
          <a:lstStyle/>
          <a:p>
            <a:pPr indent="0" marL="0">
              <a:buNone/>
            </a:pPr>
            <a:r>
              <a:rPr lang="en-US" sz="1000" b="1" spc="160" kern="0" dirty="0">
                <a:solidFill>
                  <a:srgbClr val="BCEBCE">
                    <a:alpha val="60000"/>
                  </a:srgbClr>
                </a:solidFill>
                <a:latin typeface="Calibri" pitchFamily="34" charset="0"/>
                <a:ea typeface="Calibri" pitchFamily="34" charset="-122"/>
                <a:cs typeface="Calibri" pitchFamily="34" charset="-120"/>
              </a:rPr>
              <a:t>SERVICES</a:t>
            </a:r>
            <a:endParaRPr lang="en-US" sz="1000" dirty="0"/>
          </a:p>
        </p:txBody>
      </p:sp>
      <p:sp>
        <p:nvSpPr>
          <p:cNvPr id="18" name="Shape 13"/>
          <p:cNvSpPr/>
          <p:nvPr/>
        </p:nvSpPr>
        <p:spPr>
          <a:xfrm>
            <a:off x="2386584" y="2706624"/>
            <a:ext cx="9119311" cy="859536"/>
          </a:xfrm>
          <a:prstGeom prst="roundRect">
            <a:avLst>
              <a:gd name="adj" fmla="val 17021"/>
            </a:avLst>
          </a:prstGeom>
          <a:solidFill>
            <a:srgbClr val="FFFFFF">
              <a:alpha val="8000"/>
            </a:srgbClr>
          </a:solidFill>
          <a:ln w="9525">
            <a:solidFill>
              <a:srgbClr val="BCEBCE"/>
            </a:solidFill>
            <a:prstDash val="dash"/>
          </a:ln>
        </p:spPr>
      </p:sp>
      <p:sp>
        <p:nvSpPr>
          <p:cNvPr id="19" name="Shape 14"/>
          <p:cNvSpPr/>
          <p:nvPr/>
        </p:nvSpPr>
        <p:spPr>
          <a:xfrm>
            <a:off x="2587752" y="2852928"/>
            <a:ext cx="2795930" cy="566928"/>
          </a:xfrm>
          <a:prstGeom prst="roundRect">
            <a:avLst>
              <a:gd name="adj" fmla="val 19355"/>
            </a:avLst>
          </a:prstGeom>
          <a:solidFill>
            <a:srgbClr val="FFFFFF">
              <a:alpha val="12000"/>
            </a:srgbClr>
          </a:solidFill>
          <a:ln/>
        </p:spPr>
      </p:sp>
      <p:pic>
        <p:nvPicPr>
          <p:cNvPr id="20" name="Image 3" descr="C:\smart bin\deck\assets\icons\server-mint.png">    </p:cNvPr>
          <p:cNvPicPr>
            <a:picLocks noChangeAspect="1"/>
          </p:cNvPicPr>
          <p:nvPr/>
        </p:nvPicPr>
        <p:blipFill>
          <a:blip r:embed="rId4"/>
          <a:stretch>
            <a:fillRect/>
          </a:stretch>
        </p:blipFill>
        <p:spPr>
          <a:xfrm>
            <a:off x="2734056" y="3008376"/>
            <a:ext cx="256032" cy="256032"/>
          </a:xfrm>
          <a:prstGeom prst="rect">
            <a:avLst/>
          </a:prstGeom>
        </p:spPr>
      </p:pic>
      <p:sp>
        <p:nvSpPr>
          <p:cNvPr id="21" name="Text 15"/>
          <p:cNvSpPr txBox="1"/>
          <p:nvPr/>
        </p:nvSpPr>
        <p:spPr>
          <a:xfrm>
            <a:off x="3063240" y="2852928"/>
            <a:ext cx="2192426"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Backend / API</a:t>
            </a:r>
            <a:endParaRPr lang="en-US" sz="1200" dirty="0"/>
          </a:p>
        </p:txBody>
      </p:sp>
      <p:pic>
        <p:nvPicPr>
          <p:cNvPr id="22" name="Image 4" descr="C:\smart bin\deck\assets\icons\chevron-right-mint.png">    </p:cNvPr>
          <p:cNvPicPr>
            <a:picLocks noChangeAspect="1"/>
          </p:cNvPicPr>
          <p:nvPr/>
        </p:nvPicPr>
        <p:blipFill>
          <a:blip r:embed="rId5"/>
          <a:stretch>
            <a:fillRect/>
          </a:stretch>
        </p:blipFill>
        <p:spPr>
          <a:xfrm>
            <a:off x="5383682" y="3054096"/>
            <a:ext cx="164592" cy="164592"/>
          </a:xfrm>
          <a:prstGeom prst="rect">
            <a:avLst/>
          </a:prstGeom>
        </p:spPr>
      </p:pic>
      <p:sp>
        <p:nvSpPr>
          <p:cNvPr id="23" name="Shape 16"/>
          <p:cNvSpPr/>
          <p:nvPr/>
        </p:nvSpPr>
        <p:spPr>
          <a:xfrm>
            <a:off x="5548274" y="2852928"/>
            <a:ext cx="2795930" cy="566928"/>
          </a:xfrm>
          <a:prstGeom prst="roundRect">
            <a:avLst>
              <a:gd name="adj" fmla="val 19355"/>
            </a:avLst>
          </a:prstGeom>
          <a:solidFill>
            <a:srgbClr val="FFFFFF">
              <a:alpha val="12000"/>
            </a:srgbClr>
          </a:solidFill>
          <a:ln/>
        </p:spPr>
      </p:sp>
      <p:pic>
        <p:nvPicPr>
          <p:cNvPr id="24" name="Image 5" descr="C:\smart bin\deck\assets\icons\database-mint.png">    </p:cNvPr>
          <p:cNvPicPr>
            <a:picLocks noChangeAspect="1"/>
          </p:cNvPicPr>
          <p:nvPr/>
        </p:nvPicPr>
        <p:blipFill>
          <a:blip r:embed="rId6"/>
          <a:stretch>
            <a:fillRect/>
          </a:stretch>
        </p:blipFill>
        <p:spPr>
          <a:xfrm>
            <a:off x="5694578" y="3008376"/>
            <a:ext cx="256032" cy="256032"/>
          </a:xfrm>
          <a:prstGeom prst="rect">
            <a:avLst/>
          </a:prstGeom>
        </p:spPr>
      </p:pic>
      <p:sp>
        <p:nvSpPr>
          <p:cNvPr id="25" name="Text 17"/>
          <p:cNvSpPr txBox="1"/>
          <p:nvPr/>
        </p:nvSpPr>
        <p:spPr>
          <a:xfrm>
            <a:off x="6023762" y="2852928"/>
            <a:ext cx="2192426"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pic>
        <p:nvPicPr>
          <p:cNvPr id="26" name="Image 6" descr="C:\smart bin\deck\assets\icons\chevron-right-mint.png">    </p:cNvPr>
          <p:cNvPicPr>
            <a:picLocks noChangeAspect="1"/>
          </p:cNvPicPr>
          <p:nvPr/>
        </p:nvPicPr>
        <p:blipFill>
          <a:blip r:embed="rId7"/>
          <a:stretch>
            <a:fillRect/>
          </a:stretch>
        </p:blipFill>
        <p:spPr>
          <a:xfrm>
            <a:off x="8344205" y="3054096"/>
            <a:ext cx="164592" cy="164592"/>
          </a:xfrm>
          <a:prstGeom prst="rect">
            <a:avLst/>
          </a:prstGeom>
        </p:spPr>
      </p:pic>
      <p:sp>
        <p:nvSpPr>
          <p:cNvPr id="27" name="Shape 18"/>
          <p:cNvSpPr/>
          <p:nvPr/>
        </p:nvSpPr>
        <p:spPr>
          <a:xfrm>
            <a:off x="8508797" y="2852928"/>
            <a:ext cx="2795930" cy="566928"/>
          </a:xfrm>
          <a:prstGeom prst="roundRect">
            <a:avLst>
              <a:gd name="adj" fmla="val 19355"/>
            </a:avLst>
          </a:prstGeom>
          <a:solidFill>
            <a:srgbClr val="FFFFFF">
              <a:alpha val="12000"/>
            </a:srgbClr>
          </a:solidFill>
          <a:ln/>
        </p:spPr>
      </p:sp>
      <p:pic>
        <p:nvPicPr>
          <p:cNvPr id="28" name="Image 7" descr="C:\smart bin\deck\assets\icons\brain-mint.png">    </p:cNvPr>
          <p:cNvPicPr>
            <a:picLocks noChangeAspect="1"/>
          </p:cNvPicPr>
          <p:nvPr/>
        </p:nvPicPr>
        <p:blipFill>
          <a:blip r:embed="rId8"/>
          <a:stretch>
            <a:fillRect/>
          </a:stretch>
        </p:blipFill>
        <p:spPr>
          <a:xfrm>
            <a:off x="8655101" y="3008376"/>
            <a:ext cx="256032" cy="256032"/>
          </a:xfrm>
          <a:prstGeom prst="rect">
            <a:avLst/>
          </a:prstGeom>
        </p:spPr>
      </p:pic>
      <p:sp>
        <p:nvSpPr>
          <p:cNvPr id="29" name="Text 19"/>
          <p:cNvSpPr txBox="1"/>
          <p:nvPr/>
        </p:nvSpPr>
        <p:spPr>
          <a:xfrm>
            <a:off x="8984285" y="2852928"/>
            <a:ext cx="2192426"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Vision Service</a:t>
            </a:r>
            <a:endParaRPr lang="en-US" sz="1200" dirty="0"/>
          </a:p>
        </p:txBody>
      </p:sp>
      <p:sp>
        <p:nvSpPr>
          <p:cNvPr id="30" name="Shape 20"/>
          <p:cNvSpPr/>
          <p:nvPr/>
        </p:nvSpPr>
        <p:spPr>
          <a:xfrm>
            <a:off x="2935224" y="3566160"/>
            <a:ext cx="0" cy="155448"/>
          </a:xfrm>
          <a:prstGeom prst="line">
            <a:avLst/>
          </a:prstGeom>
          <a:noFill/>
          <a:ln w="15240">
            <a:solidFill>
              <a:srgbClr val="2FA86F"/>
            </a:solidFill>
            <a:prstDash val="dash"/>
          </a:ln>
        </p:spPr>
      </p:sp>
      <p:sp>
        <p:nvSpPr>
          <p:cNvPr id="31" name="Text 21"/>
          <p:cNvSpPr txBox="1"/>
          <p:nvPr/>
        </p:nvSpPr>
        <p:spPr>
          <a:xfrm>
            <a:off x="685800" y="3721608"/>
            <a:ext cx="1481328" cy="859536"/>
          </a:xfrm>
          <a:prstGeom prst="rect">
            <a:avLst/>
          </a:prstGeom>
          <a:noFill/>
          <a:ln/>
        </p:spPr>
        <p:txBody>
          <a:bodyPr wrap="square" lIns="0" tIns="0" rIns="0" bIns="0" rtlCol="0" anchor="ctr"/>
          <a:lstStyle/>
          <a:p>
            <a:pPr indent="0" marL="0">
              <a:buNone/>
            </a:pPr>
            <a:r>
              <a:rPr lang="en-US" sz="1000" b="1" spc="160" kern="0" dirty="0">
                <a:solidFill>
                  <a:srgbClr val="BCEBCE">
                    <a:alpha val="60000"/>
                  </a:srgbClr>
                </a:solidFill>
                <a:latin typeface="Calibri" pitchFamily="34" charset="0"/>
                <a:ea typeface="Calibri" pitchFamily="34" charset="-122"/>
                <a:cs typeface="Calibri" pitchFamily="34" charset="-120"/>
              </a:rPr>
              <a:t>CONNECTIVITY</a:t>
            </a:r>
            <a:endParaRPr lang="en-US" sz="1000" dirty="0"/>
          </a:p>
        </p:txBody>
      </p:sp>
      <p:sp>
        <p:nvSpPr>
          <p:cNvPr id="32" name="Shape 22"/>
          <p:cNvSpPr/>
          <p:nvPr/>
        </p:nvSpPr>
        <p:spPr>
          <a:xfrm>
            <a:off x="2386584" y="3721608"/>
            <a:ext cx="9119311" cy="859536"/>
          </a:xfrm>
          <a:prstGeom prst="roundRect">
            <a:avLst>
              <a:gd name="adj" fmla="val 17021"/>
            </a:avLst>
          </a:prstGeom>
          <a:solidFill>
            <a:srgbClr val="FFFFFF">
              <a:alpha val="8000"/>
            </a:srgbClr>
          </a:solidFill>
          <a:ln w="9525">
            <a:solidFill>
              <a:srgbClr val="BCEBCE"/>
            </a:solidFill>
            <a:prstDash val="dash"/>
          </a:ln>
        </p:spPr>
      </p:sp>
      <p:sp>
        <p:nvSpPr>
          <p:cNvPr id="33" name="Shape 23"/>
          <p:cNvSpPr/>
          <p:nvPr/>
        </p:nvSpPr>
        <p:spPr>
          <a:xfrm>
            <a:off x="2587752" y="3867912"/>
            <a:ext cx="4276192" cy="566928"/>
          </a:xfrm>
          <a:prstGeom prst="roundRect">
            <a:avLst>
              <a:gd name="adj" fmla="val 19355"/>
            </a:avLst>
          </a:prstGeom>
          <a:solidFill>
            <a:srgbClr val="FFFFFF">
              <a:alpha val="12000"/>
            </a:srgbClr>
          </a:solidFill>
          <a:ln/>
        </p:spPr>
      </p:sp>
      <p:pic>
        <p:nvPicPr>
          <p:cNvPr id="34" name="Image 8" descr="C:\smart bin\deck\assets\icons\radio-tower-mint.png">    </p:cNvPr>
          <p:cNvPicPr>
            <a:picLocks noChangeAspect="1"/>
          </p:cNvPicPr>
          <p:nvPr/>
        </p:nvPicPr>
        <p:blipFill>
          <a:blip r:embed="rId9"/>
          <a:stretch>
            <a:fillRect/>
          </a:stretch>
        </p:blipFill>
        <p:spPr>
          <a:xfrm>
            <a:off x="2734056" y="4023360"/>
            <a:ext cx="256032" cy="256032"/>
          </a:xfrm>
          <a:prstGeom prst="rect">
            <a:avLst/>
          </a:prstGeom>
        </p:spPr>
      </p:pic>
      <p:sp>
        <p:nvSpPr>
          <p:cNvPr id="35" name="Text 24"/>
          <p:cNvSpPr txBox="1"/>
          <p:nvPr/>
        </p:nvSpPr>
        <p:spPr>
          <a:xfrm>
            <a:off x="3063240" y="3867912"/>
            <a:ext cx="3672688"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IoT Gateway</a:t>
            </a:r>
            <a:endParaRPr lang="en-US" sz="1200" dirty="0"/>
          </a:p>
        </p:txBody>
      </p:sp>
      <p:pic>
        <p:nvPicPr>
          <p:cNvPr id="36" name="Image 9" descr="C:\smart bin\deck\assets\icons\chevron-right-mint.png">    </p:cNvPr>
          <p:cNvPicPr>
            <a:picLocks noChangeAspect="1"/>
          </p:cNvPicPr>
          <p:nvPr/>
        </p:nvPicPr>
        <p:blipFill>
          <a:blip r:embed="rId10"/>
          <a:stretch>
            <a:fillRect/>
          </a:stretch>
        </p:blipFill>
        <p:spPr>
          <a:xfrm>
            <a:off x="6863944" y="4069080"/>
            <a:ext cx="164592" cy="164592"/>
          </a:xfrm>
          <a:prstGeom prst="rect">
            <a:avLst/>
          </a:prstGeom>
        </p:spPr>
      </p:pic>
      <p:sp>
        <p:nvSpPr>
          <p:cNvPr id="37" name="Shape 25"/>
          <p:cNvSpPr/>
          <p:nvPr/>
        </p:nvSpPr>
        <p:spPr>
          <a:xfrm>
            <a:off x="7028536" y="3867912"/>
            <a:ext cx="4276192" cy="566928"/>
          </a:xfrm>
          <a:prstGeom prst="roundRect">
            <a:avLst>
              <a:gd name="adj" fmla="val 19355"/>
            </a:avLst>
          </a:prstGeom>
          <a:solidFill>
            <a:srgbClr val="FFFFFF">
              <a:alpha val="12000"/>
            </a:srgbClr>
          </a:solidFill>
          <a:ln/>
        </p:spPr>
      </p:sp>
      <p:pic>
        <p:nvPicPr>
          <p:cNvPr id="38" name="Image 10" descr="C:\smart bin\deck\assets\icons\wifi-mint.png">    </p:cNvPr>
          <p:cNvPicPr>
            <a:picLocks noChangeAspect="1"/>
          </p:cNvPicPr>
          <p:nvPr/>
        </p:nvPicPr>
        <p:blipFill>
          <a:blip r:embed="rId11"/>
          <a:stretch>
            <a:fillRect/>
          </a:stretch>
        </p:blipFill>
        <p:spPr>
          <a:xfrm>
            <a:off x="7174840" y="4023360"/>
            <a:ext cx="256032" cy="256032"/>
          </a:xfrm>
          <a:prstGeom prst="rect">
            <a:avLst/>
          </a:prstGeom>
        </p:spPr>
      </p:pic>
      <p:sp>
        <p:nvSpPr>
          <p:cNvPr id="39" name="Text 26"/>
          <p:cNvSpPr txBox="1"/>
          <p:nvPr/>
        </p:nvSpPr>
        <p:spPr>
          <a:xfrm>
            <a:off x="7504024" y="3867912"/>
            <a:ext cx="3672688"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MQTT / WebSocket</a:t>
            </a:r>
            <a:endParaRPr lang="en-US" sz="1200" dirty="0"/>
          </a:p>
        </p:txBody>
      </p:sp>
      <p:sp>
        <p:nvSpPr>
          <p:cNvPr id="40" name="Shape 27"/>
          <p:cNvSpPr/>
          <p:nvPr/>
        </p:nvSpPr>
        <p:spPr>
          <a:xfrm>
            <a:off x="2935224" y="4581144"/>
            <a:ext cx="0" cy="155448"/>
          </a:xfrm>
          <a:prstGeom prst="line">
            <a:avLst/>
          </a:prstGeom>
          <a:noFill/>
          <a:ln w="15240">
            <a:solidFill>
              <a:srgbClr val="2FA86F"/>
            </a:solidFill>
            <a:prstDash val="dash"/>
          </a:ln>
        </p:spPr>
      </p:sp>
      <p:sp>
        <p:nvSpPr>
          <p:cNvPr id="41" name="Text 28"/>
          <p:cNvSpPr txBox="1"/>
          <p:nvPr/>
        </p:nvSpPr>
        <p:spPr>
          <a:xfrm>
            <a:off x="685800" y="4736592"/>
            <a:ext cx="1481328" cy="859536"/>
          </a:xfrm>
          <a:prstGeom prst="rect">
            <a:avLst/>
          </a:prstGeom>
          <a:noFill/>
          <a:ln/>
        </p:spPr>
        <p:txBody>
          <a:bodyPr wrap="square" lIns="0" tIns="0" rIns="0" bIns="0" rtlCol="0" anchor="ctr"/>
          <a:lstStyle/>
          <a:p>
            <a:pPr indent="0" marL="0">
              <a:buNone/>
            </a:pPr>
            <a:r>
              <a:rPr lang="en-US" sz="1000" b="1" spc="160" kern="0" dirty="0">
                <a:solidFill>
                  <a:srgbClr val="BCEBCE">
                    <a:alpha val="60000"/>
                  </a:srgbClr>
                </a:solidFill>
                <a:latin typeface="Calibri" pitchFamily="34" charset="0"/>
                <a:ea typeface="Calibri" pitchFamily="34" charset="-122"/>
                <a:cs typeface="Calibri" pitchFamily="34" charset="-120"/>
              </a:rPr>
              <a:t>DEVICE</a:t>
            </a:r>
            <a:endParaRPr lang="en-US" sz="1000" dirty="0"/>
          </a:p>
        </p:txBody>
      </p:sp>
      <p:sp>
        <p:nvSpPr>
          <p:cNvPr id="42" name="Shape 29"/>
          <p:cNvSpPr/>
          <p:nvPr/>
        </p:nvSpPr>
        <p:spPr>
          <a:xfrm>
            <a:off x="2386584" y="4736592"/>
            <a:ext cx="9119311" cy="859536"/>
          </a:xfrm>
          <a:prstGeom prst="roundRect">
            <a:avLst>
              <a:gd name="adj" fmla="val 17021"/>
            </a:avLst>
          </a:prstGeom>
          <a:solidFill>
            <a:srgbClr val="FFFFFF">
              <a:alpha val="8000"/>
            </a:srgbClr>
          </a:solidFill>
          <a:ln w="9525">
            <a:solidFill>
              <a:srgbClr val="BCEBCE"/>
            </a:solidFill>
            <a:prstDash val="dash"/>
          </a:ln>
        </p:spPr>
      </p:sp>
      <p:sp>
        <p:nvSpPr>
          <p:cNvPr id="43" name="Shape 30"/>
          <p:cNvSpPr/>
          <p:nvPr/>
        </p:nvSpPr>
        <p:spPr>
          <a:xfrm>
            <a:off x="2587752" y="4882896"/>
            <a:ext cx="1315669" cy="566928"/>
          </a:xfrm>
          <a:prstGeom prst="roundRect">
            <a:avLst>
              <a:gd name="adj" fmla="val 19355"/>
            </a:avLst>
          </a:prstGeom>
          <a:solidFill>
            <a:srgbClr val="FFFFFF">
              <a:alpha val="12000"/>
            </a:srgbClr>
          </a:solidFill>
          <a:ln/>
        </p:spPr>
      </p:sp>
      <p:pic>
        <p:nvPicPr>
          <p:cNvPr id="44" name="Image 11" descr="C:\smart bin\deck\assets\icons\cpu-mint.png">    </p:cNvPr>
          <p:cNvPicPr>
            <a:picLocks noChangeAspect="1"/>
          </p:cNvPicPr>
          <p:nvPr/>
        </p:nvPicPr>
        <p:blipFill>
          <a:blip r:embed="rId12"/>
          <a:stretch>
            <a:fillRect/>
          </a:stretch>
        </p:blipFill>
        <p:spPr>
          <a:xfrm>
            <a:off x="2734056" y="5038344"/>
            <a:ext cx="256032" cy="256032"/>
          </a:xfrm>
          <a:prstGeom prst="rect">
            <a:avLst/>
          </a:prstGeom>
        </p:spPr>
      </p:pic>
      <p:sp>
        <p:nvSpPr>
          <p:cNvPr id="45" name="Text 31"/>
          <p:cNvSpPr txBox="1"/>
          <p:nvPr/>
        </p:nvSpPr>
        <p:spPr>
          <a:xfrm>
            <a:off x="3063240" y="4882896"/>
            <a:ext cx="712165" cy="56692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ESP32</a:t>
            </a:r>
            <a:endParaRPr lang="en-US" sz="1000" dirty="0"/>
          </a:p>
        </p:txBody>
      </p:sp>
      <p:pic>
        <p:nvPicPr>
          <p:cNvPr id="46" name="Image 12" descr="C:\smart bin\deck\assets\icons\chevron-right-mint.png">    </p:cNvPr>
          <p:cNvPicPr>
            <a:picLocks noChangeAspect="1"/>
          </p:cNvPicPr>
          <p:nvPr/>
        </p:nvPicPr>
        <p:blipFill>
          <a:blip r:embed="rId13"/>
          <a:stretch>
            <a:fillRect/>
          </a:stretch>
        </p:blipFill>
        <p:spPr>
          <a:xfrm>
            <a:off x="3903421" y="5084064"/>
            <a:ext cx="164592" cy="164592"/>
          </a:xfrm>
          <a:prstGeom prst="rect">
            <a:avLst/>
          </a:prstGeom>
        </p:spPr>
      </p:pic>
      <p:sp>
        <p:nvSpPr>
          <p:cNvPr id="47" name="Shape 32"/>
          <p:cNvSpPr/>
          <p:nvPr/>
        </p:nvSpPr>
        <p:spPr>
          <a:xfrm>
            <a:off x="4068013" y="4882896"/>
            <a:ext cx="1315669" cy="566928"/>
          </a:xfrm>
          <a:prstGeom prst="roundRect">
            <a:avLst>
              <a:gd name="adj" fmla="val 19355"/>
            </a:avLst>
          </a:prstGeom>
          <a:solidFill>
            <a:srgbClr val="FFFFFF">
              <a:alpha val="12000"/>
            </a:srgbClr>
          </a:solidFill>
          <a:ln/>
        </p:spPr>
      </p:sp>
      <p:pic>
        <p:nvPicPr>
          <p:cNvPr id="48" name="Image 13" descr="C:\smart bin\deck\assets\icons\nfc-mint.png">    </p:cNvPr>
          <p:cNvPicPr>
            <a:picLocks noChangeAspect="1"/>
          </p:cNvPicPr>
          <p:nvPr/>
        </p:nvPicPr>
        <p:blipFill>
          <a:blip r:embed="rId14"/>
          <a:stretch>
            <a:fillRect/>
          </a:stretch>
        </p:blipFill>
        <p:spPr>
          <a:xfrm>
            <a:off x="4214317" y="5038344"/>
            <a:ext cx="256032" cy="256032"/>
          </a:xfrm>
          <a:prstGeom prst="rect">
            <a:avLst/>
          </a:prstGeom>
        </p:spPr>
      </p:pic>
      <p:sp>
        <p:nvSpPr>
          <p:cNvPr id="49" name="Text 33"/>
          <p:cNvSpPr txBox="1"/>
          <p:nvPr/>
        </p:nvSpPr>
        <p:spPr>
          <a:xfrm>
            <a:off x="4543501" y="4882896"/>
            <a:ext cx="712165" cy="56692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RFID Reader</a:t>
            </a:r>
            <a:endParaRPr lang="en-US" sz="1000" dirty="0"/>
          </a:p>
        </p:txBody>
      </p:sp>
      <p:pic>
        <p:nvPicPr>
          <p:cNvPr id="50" name="Image 14" descr="C:\smart bin\deck\assets\icons\chevron-right-mint.png">    </p:cNvPr>
          <p:cNvPicPr>
            <a:picLocks noChangeAspect="1"/>
          </p:cNvPicPr>
          <p:nvPr/>
        </p:nvPicPr>
        <p:blipFill>
          <a:blip r:embed="rId15"/>
          <a:stretch>
            <a:fillRect/>
          </a:stretch>
        </p:blipFill>
        <p:spPr>
          <a:xfrm>
            <a:off x="5383682" y="5084064"/>
            <a:ext cx="164592" cy="164592"/>
          </a:xfrm>
          <a:prstGeom prst="rect">
            <a:avLst/>
          </a:prstGeom>
        </p:spPr>
      </p:pic>
      <p:sp>
        <p:nvSpPr>
          <p:cNvPr id="51" name="Shape 34"/>
          <p:cNvSpPr/>
          <p:nvPr/>
        </p:nvSpPr>
        <p:spPr>
          <a:xfrm>
            <a:off x="5548274" y="4882896"/>
            <a:ext cx="1315669" cy="566928"/>
          </a:xfrm>
          <a:prstGeom prst="roundRect">
            <a:avLst>
              <a:gd name="adj" fmla="val 19355"/>
            </a:avLst>
          </a:prstGeom>
          <a:solidFill>
            <a:srgbClr val="FFFFFF">
              <a:alpha val="12000"/>
            </a:srgbClr>
          </a:solidFill>
          <a:ln/>
        </p:spPr>
      </p:sp>
      <p:pic>
        <p:nvPicPr>
          <p:cNvPr id="52" name="Image 15" descr="C:\smart bin\deck\assets\icons\gauge-mint.png">    </p:cNvPr>
          <p:cNvPicPr>
            <a:picLocks noChangeAspect="1"/>
          </p:cNvPicPr>
          <p:nvPr/>
        </p:nvPicPr>
        <p:blipFill>
          <a:blip r:embed="rId16"/>
          <a:stretch>
            <a:fillRect/>
          </a:stretch>
        </p:blipFill>
        <p:spPr>
          <a:xfrm>
            <a:off x="5694578" y="5038344"/>
            <a:ext cx="256032" cy="256032"/>
          </a:xfrm>
          <a:prstGeom prst="rect">
            <a:avLst/>
          </a:prstGeom>
        </p:spPr>
      </p:pic>
      <p:sp>
        <p:nvSpPr>
          <p:cNvPr id="53" name="Text 35"/>
          <p:cNvSpPr txBox="1"/>
          <p:nvPr/>
        </p:nvSpPr>
        <p:spPr>
          <a:xfrm>
            <a:off x="6023762" y="4882896"/>
            <a:ext cx="712165" cy="56692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Sensors</a:t>
            </a:r>
            <a:endParaRPr lang="en-US" sz="1000" dirty="0"/>
          </a:p>
        </p:txBody>
      </p:sp>
      <p:pic>
        <p:nvPicPr>
          <p:cNvPr id="54" name="Image 16" descr="C:\smart bin\deck\assets\icons\chevron-right-mint.png">    </p:cNvPr>
          <p:cNvPicPr>
            <a:picLocks noChangeAspect="1"/>
          </p:cNvPicPr>
          <p:nvPr/>
        </p:nvPicPr>
        <p:blipFill>
          <a:blip r:embed="rId17"/>
          <a:stretch>
            <a:fillRect/>
          </a:stretch>
        </p:blipFill>
        <p:spPr>
          <a:xfrm>
            <a:off x="6863944" y="5084064"/>
            <a:ext cx="164592" cy="164592"/>
          </a:xfrm>
          <a:prstGeom prst="rect">
            <a:avLst/>
          </a:prstGeom>
        </p:spPr>
      </p:pic>
      <p:sp>
        <p:nvSpPr>
          <p:cNvPr id="55" name="Shape 36"/>
          <p:cNvSpPr/>
          <p:nvPr/>
        </p:nvSpPr>
        <p:spPr>
          <a:xfrm>
            <a:off x="7028536" y="4882896"/>
            <a:ext cx="1315669" cy="566928"/>
          </a:xfrm>
          <a:prstGeom prst="roundRect">
            <a:avLst>
              <a:gd name="adj" fmla="val 19355"/>
            </a:avLst>
          </a:prstGeom>
          <a:solidFill>
            <a:srgbClr val="FFFFFF">
              <a:alpha val="12000"/>
            </a:srgbClr>
          </a:solidFill>
          <a:ln/>
        </p:spPr>
      </p:sp>
      <p:pic>
        <p:nvPicPr>
          <p:cNvPr id="56" name="Image 17" descr="C:\smart bin\deck\assets\icons\camera-mint.png">    </p:cNvPr>
          <p:cNvPicPr>
            <a:picLocks noChangeAspect="1"/>
          </p:cNvPicPr>
          <p:nvPr/>
        </p:nvPicPr>
        <p:blipFill>
          <a:blip r:embed="rId18"/>
          <a:stretch>
            <a:fillRect/>
          </a:stretch>
        </p:blipFill>
        <p:spPr>
          <a:xfrm>
            <a:off x="7174840" y="5038344"/>
            <a:ext cx="256032" cy="256032"/>
          </a:xfrm>
          <a:prstGeom prst="rect">
            <a:avLst/>
          </a:prstGeom>
        </p:spPr>
      </p:pic>
      <p:sp>
        <p:nvSpPr>
          <p:cNvPr id="57" name="Text 37"/>
          <p:cNvSpPr txBox="1"/>
          <p:nvPr/>
        </p:nvSpPr>
        <p:spPr>
          <a:xfrm>
            <a:off x="7504024" y="4882896"/>
            <a:ext cx="712165" cy="56692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Camera</a:t>
            </a:r>
            <a:endParaRPr lang="en-US" sz="1000" dirty="0"/>
          </a:p>
        </p:txBody>
      </p:sp>
      <p:pic>
        <p:nvPicPr>
          <p:cNvPr id="58" name="Image 18" descr="C:\smart bin\deck\assets\icons\chevron-right-mint.png">    </p:cNvPr>
          <p:cNvPicPr>
            <a:picLocks noChangeAspect="1"/>
          </p:cNvPicPr>
          <p:nvPr/>
        </p:nvPicPr>
        <p:blipFill>
          <a:blip r:embed="rId19"/>
          <a:stretch>
            <a:fillRect/>
          </a:stretch>
        </p:blipFill>
        <p:spPr>
          <a:xfrm>
            <a:off x="8344205" y="5084064"/>
            <a:ext cx="164592" cy="164592"/>
          </a:xfrm>
          <a:prstGeom prst="rect">
            <a:avLst/>
          </a:prstGeom>
        </p:spPr>
      </p:pic>
      <p:sp>
        <p:nvSpPr>
          <p:cNvPr id="59" name="Shape 38"/>
          <p:cNvSpPr/>
          <p:nvPr/>
        </p:nvSpPr>
        <p:spPr>
          <a:xfrm>
            <a:off x="8508797" y="4882896"/>
            <a:ext cx="1315669" cy="566928"/>
          </a:xfrm>
          <a:prstGeom prst="roundRect">
            <a:avLst>
              <a:gd name="adj" fmla="val 19355"/>
            </a:avLst>
          </a:prstGeom>
          <a:solidFill>
            <a:srgbClr val="FFFFFF">
              <a:alpha val="12000"/>
            </a:srgbClr>
          </a:solidFill>
          <a:ln/>
        </p:spPr>
      </p:sp>
      <p:pic>
        <p:nvPicPr>
          <p:cNvPr id="60" name="Image 19" descr="C:\smart bin\deck\assets\icons\cog-mint.png">    </p:cNvPr>
          <p:cNvPicPr>
            <a:picLocks noChangeAspect="1"/>
          </p:cNvPicPr>
          <p:nvPr/>
        </p:nvPicPr>
        <p:blipFill>
          <a:blip r:embed="rId20"/>
          <a:stretch>
            <a:fillRect/>
          </a:stretch>
        </p:blipFill>
        <p:spPr>
          <a:xfrm>
            <a:off x="8655101" y="5038344"/>
            <a:ext cx="256032" cy="256032"/>
          </a:xfrm>
          <a:prstGeom prst="rect">
            <a:avLst/>
          </a:prstGeom>
        </p:spPr>
      </p:pic>
      <p:sp>
        <p:nvSpPr>
          <p:cNvPr id="61" name="Text 39"/>
          <p:cNvSpPr txBox="1"/>
          <p:nvPr/>
        </p:nvSpPr>
        <p:spPr>
          <a:xfrm>
            <a:off x="8984285" y="4882896"/>
            <a:ext cx="712165" cy="56692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Actuators</a:t>
            </a:r>
            <a:endParaRPr lang="en-US" sz="1000" dirty="0"/>
          </a:p>
        </p:txBody>
      </p:sp>
      <p:pic>
        <p:nvPicPr>
          <p:cNvPr id="62" name="Image 20" descr="C:\smart bin\deck\assets\icons\chevron-right-mint.png">    </p:cNvPr>
          <p:cNvPicPr>
            <a:picLocks noChangeAspect="1"/>
          </p:cNvPicPr>
          <p:nvPr/>
        </p:nvPicPr>
        <p:blipFill>
          <a:blip r:embed="rId21"/>
          <a:stretch>
            <a:fillRect/>
          </a:stretch>
        </p:blipFill>
        <p:spPr>
          <a:xfrm>
            <a:off x="9824466" y="5084064"/>
            <a:ext cx="164592" cy="164592"/>
          </a:xfrm>
          <a:prstGeom prst="rect">
            <a:avLst/>
          </a:prstGeom>
        </p:spPr>
      </p:pic>
      <p:sp>
        <p:nvSpPr>
          <p:cNvPr id="63" name="Shape 40"/>
          <p:cNvSpPr/>
          <p:nvPr/>
        </p:nvSpPr>
        <p:spPr>
          <a:xfrm>
            <a:off x="9989058" y="4882896"/>
            <a:ext cx="1315669" cy="566928"/>
          </a:xfrm>
          <a:prstGeom prst="roundRect">
            <a:avLst>
              <a:gd name="adj" fmla="val 19355"/>
            </a:avLst>
          </a:prstGeom>
          <a:solidFill>
            <a:srgbClr val="FFFFFF">
              <a:alpha val="12000"/>
            </a:srgbClr>
          </a:solidFill>
          <a:ln/>
        </p:spPr>
      </p:sp>
      <p:pic>
        <p:nvPicPr>
          <p:cNvPr id="64" name="Image 21" descr="C:\smart bin\deck\assets\icons\factory-mint.png">    </p:cNvPr>
          <p:cNvPicPr>
            <a:picLocks noChangeAspect="1"/>
          </p:cNvPicPr>
          <p:nvPr/>
        </p:nvPicPr>
        <p:blipFill>
          <a:blip r:embed="rId22"/>
          <a:stretch>
            <a:fillRect/>
          </a:stretch>
        </p:blipFill>
        <p:spPr>
          <a:xfrm>
            <a:off x="10135362" y="5038344"/>
            <a:ext cx="256032" cy="256032"/>
          </a:xfrm>
          <a:prstGeom prst="rect">
            <a:avLst/>
          </a:prstGeom>
        </p:spPr>
      </p:pic>
      <p:sp>
        <p:nvSpPr>
          <p:cNvPr id="65" name="Text 41"/>
          <p:cNvSpPr txBox="1"/>
          <p:nvPr/>
        </p:nvSpPr>
        <p:spPr>
          <a:xfrm>
            <a:off x="10464546" y="4882896"/>
            <a:ext cx="712165" cy="56692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Waste Processing</a:t>
            </a:r>
            <a:endParaRPr lang="en-US" sz="1000" dirty="0"/>
          </a:p>
        </p:txBody>
      </p:sp>
      <p:sp>
        <p:nvSpPr>
          <p:cNvPr id="66" name="Shape 42"/>
          <p:cNvSpPr/>
          <p:nvPr/>
        </p:nvSpPr>
        <p:spPr>
          <a:xfrm>
            <a:off x="685800" y="5870448"/>
            <a:ext cx="274320" cy="164592"/>
          </a:xfrm>
          <a:prstGeom prst="roundRect">
            <a:avLst>
              <a:gd name="adj" fmla="val 33333"/>
            </a:avLst>
          </a:prstGeom>
          <a:solidFill>
            <a:srgbClr val="5BC98C"/>
          </a:solidFill>
          <a:ln/>
        </p:spPr>
      </p:sp>
      <p:sp>
        <p:nvSpPr>
          <p:cNvPr id="67" name="Text 43"/>
          <p:cNvSpPr txBox="1"/>
          <p:nvPr/>
        </p:nvSpPr>
        <p:spPr>
          <a:xfrm>
            <a:off x="1069848" y="5815584"/>
            <a:ext cx="3657600" cy="274320"/>
          </a:xfrm>
          <a:prstGeom prst="rect">
            <a:avLst/>
          </a:prstGeom>
          <a:noFill/>
          <a:ln/>
        </p:spPr>
        <p:txBody>
          <a:bodyPr wrap="square" lIns="0" tIns="0" rIns="0" bIns="0" rtlCol="0" anchor="ctr"/>
          <a:lstStyle/>
          <a:p>
            <a:pPr indent="0" marL="0">
              <a:buNone/>
            </a:pPr>
            <a:r>
              <a:rPr lang="en-US" sz="1050" dirty="0">
                <a:solidFill>
                  <a:srgbClr val="BCEBCE"/>
                </a:solidFill>
                <a:latin typeface="Calibri" pitchFamily="34" charset="0"/>
                <a:ea typeface="Calibri" pitchFamily="34" charset="-122"/>
                <a:cs typeface="Calibri" pitchFamily="34" charset="-120"/>
              </a:rPr>
              <a:t>Built — running in the prototype today</a:t>
            </a:r>
            <a:endParaRPr lang="en-US" sz="1050" dirty="0"/>
          </a:p>
        </p:txBody>
      </p:sp>
      <p:sp>
        <p:nvSpPr>
          <p:cNvPr id="68" name="Shape 44"/>
          <p:cNvSpPr/>
          <p:nvPr/>
        </p:nvSpPr>
        <p:spPr>
          <a:xfrm>
            <a:off x="4663440" y="5870448"/>
            <a:ext cx="274320" cy="164592"/>
          </a:xfrm>
          <a:prstGeom prst="roundRect">
            <a:avLst>
              <a:gd name="adj" fmla="val 33333"/>
            </a:avLst>
          </a:prstGeom>
          <a:solidFill>
            <a:srgbClr val="FFFFFF">
              <a:alpha val="12000"/>
            </a:srgbClr>
          </a:solidFill>
          <a:ln w="9525">
            <a:solidFill>
              <a:srgbClr val="BCEBCE"/>
            </a:solidFill>
            <a:prstDash val="dash"/>
          </a:ln>
        </p:spPr>
      </p:sp>
      <p:sp>
        <p:nvSpPr>
          <p:cNvPr id="69" name="Text 45"/>
          <p:cNvSpPr txBox="1"/>
          <p:nvPr/>
        </p:nvSpPr>
        <p:spPr>
          <a:xfrm>
            <a:off x="5047488" y="5815584"/>
            <a:ext cx="4023360" cy="274320"/>
          </a:xfrm>
          <a:prstGeom prst="rect">
            <a:avLst/>
          </a:prstGeom>
          <a:noFill/>
          <a:ln/>
        </p:spPr>
        <p:txBody>
          <a:bodyPr wrap="square" lIns="0" tIns="0" rIns="0" bIns="0" rtlCol="0" anchor="ctr"/>
          <a:lstStyle/>
          <a:p>
            <a:pPr indent="0" marL="0">
              <a:buNone/>
            </a:pPr>
            <a:r>
              <a:rPr lang="en-US" sz="1050" dirty="0">
                <a:solidFill>
                  <a:srgbClr val="BCEBCE">
                    <a:alpha val="75000"/>
                  </a:srgbClr>
                </a:solidFill>
                <a:latin typeface="Calibri" pitchFamily="34" charset="0"/>
                <a:ea typeface="Calibri" pitchFamily="34" charset="-122"/>
                <a:cs typeface="Calibri" pitchFamily="34" charset="-120"/>
              </a:rPr>
              <a:t>Proposed — planned for later phases</a:t>
            </a:r>
            <a:endParaRPr lang="en-US" sz="1050" dirty="0"/>
          </a:p>
        </p:txBody>
      </p:sp>
      <p:sp>
        <p:nvSpPr>
          <p:cNvPr id="70" name="Text 46"/>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5BC98C"/>
                </a:solidFill>
                <a:latin typeface="Calibri" pitchFamily="34" charset="0"/>
                <a:ea typeface="Calibri" pitchFamily="34" charset="-122"/>
                <a:cs typeface="Calibri" pitchFamily="34" charset="-120"/>
              </a:rPr>
              <a:t>ENGO</a:t>
            </a:r>
            <a:endParaRPr lang="en-US" sz="950" dirty="0"/>
          </a:p>
        </p:txBody>
      </p:sp>
      <p:sp>
        <p:nvSpPr>
          <p:cNvPr id="71" name="Text 47"/>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FFFFFF">
                    <a:alpha val="55000"/>
                  </a:srgbClr>
                </a:solidFill>
                <a:latin typeface="Calibri" pitchFamily="34" charset="0"/>
                <a:ea typeface="Calibri" pitchFamily="34" charset="-122"/>
                <a:cs typeface="Calibri" pitchFamily="34" charset="-120"/>
              </a:rPr>
              <a:t>09 / 12</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248A5E"/>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10  HARDWARE + SOFTWARE</a:t>
            </a:r>
            <a:endParaRPr lang="en-US" sz="1050" dirty="0"/>
          </a:p>
        </p:txBody>
      </p:sp>
      <p:sp>
        <p:nvSpPr>
          <p:cNvPr id="4" name="Text 2"/>
          <p:cNvSpPr txBox="1"/>
          <p:nvPr/>
        </p:nvSpPr>
        <p:spPr>
          <a:xfrm>
            <a:off x="685800" y="987552"/>
            <a:ext cx="8595360" cy="566928"/>
          </a:xfrm>
          <a:prstGeom prst="rect">
            <a:avLst/>
          </a:prstGeom>
          <a:noFill/>
          <a:ln/>
        </p:spPr>
        <p:txBody>
          <a:bodyPr wrap="square" lIns="0" tIns="0" rIns="0" bIns="0" rtlCol="0" anchor="ctr"/>
          <a:lstStyle/>
          <a:p>
            <a:pPr indent="0" marL="0">
              <a:buNone/>
            </a:pPr>
            <a:r>
              <a:rPr lang="en-US" sz="3200" b="1" dirty="0">
                <a:solidFill>
                  <a:srgbClr val="0E1A15"/>
                </a:solidFill>
                <a:latin typeface="Calibri" pitchFamily="34" charset="0"/>
                <a:ea typeface="Calibri" pitchFamily="34" charset="-122"/>
                <a:cs typeface="Calibri" pitchFamily="34" charset="-120"/>
              </a:rPr>
              <a:t>Every physical action creates a digital event.</a:t>
            </a:r>
            <a:endParaRPr lang="en-US" sz="3200" dirty="0"/>
          </a:p>
        </p:txBody>
      </p:sp>
      <p:sp>
        <p:nvSpPr>
          <p:cNvPr id="5" name="Text 3"/>
          <p:cNvSpPr txBox="1"/>
          <p:nvPr/>
        </p:nvSpPr>
        <p:spPr>
          <a:xfrm>
            <a:off x="685800" y="1847088"/>
            <a:ext cx="3840480" cy="256032"/>
          </a:xfrm>
          <a:prstGeom prst="rect">
            <a:avLst/>
          </a:prstGeom>
          <a:noFill/>
          <a:ln/>
        </p:spPr>
        <p:txBody>
          <a:bodyPr wrap="square" lIns="0" tIns="0" rIns="0" bIns="0" rtlCol="0" anchor="ctr"/>
          <a:lstStyle/>
          <a:p>
            <a:pPr indent="0" marL="0">
              <a:buNone/>
            </a:pPr>
            <a:r>
              <a:rPr lang="en-US" sz="1000" b="1" spc="200" kern="0" dirty="0">
                <a:solidFill>
                  <a:srgbClr val="8A9993"/>
                </a:solidFill>
                <a:latin typeface="Calibri" pitchFamily="34" charset="0"/>
                <a:ea typeface="Calibri" pitchFamily="34" charset="-122"/>
                <a:cs typeface="Calibri" pitchFamily="34" charset="-120"/>
              </a:rPr>
              <a:t>PHYSICAL WORLD</a:t>
            </a:r>
            <a:endParaRPr lang="en-US" sz="1000" dirty="0"/>
          </a:p>
        </p:txBody>
      </p:sp>
      <p:sp>
        <p:nvSpPr>
          <p:cNvPr id="6" name="Text 4"/>
          <p:cNvSpPr txBox="1"/>
          <p:nvPr/>
        </p:nvSpPr>
        <p:spPr>
          <a:xfrm>
            <a:off x="7665415" y="1847088"/>
            <a:ext cx="3840480" cy="256032"/>
          </a:xfrm>
          <a:prstGeom prst="rect">
            <a:avLst/>
          </a:prstGeom>
          <a:noFill/>
          <a:ln/>
        </p:spPr>
        <p:txBody>
          <a:bodyPr wrap="square" lIns="0" tIns="0" rIns="0" bIns="0" rtlCol="0" anchor="ctr"/>
          <a:lstStyle/>
          <a:p>
            <a:pPr algn="r" indent="0" marL="0">
              <a:buNone/>
            </a:pPr>
            <a:r>
              <a:rPr lang="en-US" sz="1000" b="1" spc="200" kern="0" dirty="0">
                <a:solidFill>
                  <a:srgbClr val="248A5E"/>
                </a:solidFill>
                <a:latin typeface="Calibri" pitchFamily="34" charset="0"/>
                <a:ea typeface="Calibri" pitchFamily="34" charset="-122"/>
                <a:cs typeface="Calibri" pitchFamily="34" charset="-120"/>
              </a:rPr>
              <a:t>DIGITAL WORLD</a:t>
            </a:r>
            <a:endParaRPr lang="en-US" sz="1000" dirty="0"/>
          </a:p>
        </p:txBody>
      </p:sp>
      <p:sp>
        <p:nvSpPr>
          <p:cNvPr id="7" name="Shape 5"/>
          <p:cNvSpPr/>
          <p:nvPr/>
        </p:nvSpPr>
        <p:spPr>
          <a:xfrm>
            <a:off x="685800" y="2157984"/>
            <a:ext cx="3840480" cy="512064"/>
          </a:xfrm>
          <a:prstGeom prst="roundRect">
            <a:avLst>
              <a:gd name="adj" fmla="val 23214"/>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8" name="Shape 6"/>
          <p:cNvSpPr/>
          <p:nvPr/>
        </p:nvSpPr>
        <p:spPr>
          <a:xfrm>
            <a:off x="886968" y="2231136"/>
            <a:ext cx="365760" cy="365760"/>
          </a:xfrm>
          <a:prstGeom prst="ellipse">
            <a:avLst/>
          </a:prstGeom>
          <a:solidFill>
            <a:srgbClr val="F5F7F6"/>
          </a:solidFill>
          <a:ln/>
        </p:spPr>
      </p:sp>
      <p:pic>
        <p:nvPicPr>
          <p:cNvPr id="9" name="Image 0" descr="C:\smart bin\deck\assets\icons\nfc-ink.png">    </p:cNvPr>
          <p:cNvPicPr>
            <a:picLocks noChangeAspect="1"/>
          </p:cNvPicPr>
          <p:nvPr/>
        </p:nvPicPr>
        <p:blipFill>
          <a:blip r:embed="rId1"/>
          <a:stretch>
            <a:fillRect/>
          </a:stretch>
        </p:blipFill>
        <p:spPr>
          <a:xfrm>
            <a:off x="978408" y="2322576"/>
            <a:ext cx="182880" cy="182880"/>
          </a:xfrm>
          <a:prstGeom prst="rect">
            <a:avLst/>
          </a:prstGeom>
        </p:spPr>
      </p:pic>
      <p:sp>
        <p:nvSpPr>
          <p:cNvPr id="10" name="Text 7"/>
          <p:cNvSpPr txBox="1"/>
          <p:nvPr/>
        </p:nvSpPr>
        <p:spPr>
          <a:xfrm>
            <a:off x="1344168" y="2157984"/>
            <a:ext cx="3017520" cy="512064"/>
          </a:xfrm>
          <a:prstGeom prst="rect">
            <a:avLst/>
          </a:prstGeom>
          <a:noFill/>
          <a:ln/>
        </p:spPr>
        <p:txBody>
          <a:bodyPr wrap="square" lIns="0" tIns="0" rIns="0" bIns="0" rtlCol="0" anchor="ctr"/>
          <a:lstStyle/>
          <a:p>
            <a:pPr indent="0" marL="0">
              <a:buNone/>
            </a:pPr>
            <a:r>
              <a:rPr lang="en-US" sz="1250" b="1" dirty="0">
                <a:solidFill>
                  <a:srgbClr val="2C3A34"/>
                </a:solidFill>
                <a:latin typeface="Calibri" pitchFamily="34" charset="0"/>
                <a:ea typeface="Calibri" pitchFamily="34" charset="-122"/>
                <a:cs typeface="Calibri" pitchFamily="34" charset="-120"/>
              </a:rPr>
              <a:t>RFID Reader</a:t>
            </a:r>
            <a:endParaRPr lang="en-US" sz="1250" dirty="0"/>
          </a:p>
        </p:txBody>
      </p:sp>
      <p:sp>
        <p:nvSpPr>
          <p:cNvPr id="11" name="Shape 8"/>
          <p:cNvSpPr/>
          <p:nvPr/>
        </p:nvSpPr>
        <p:spPr>
          <a:xfrm>
            <a:off x="7665415" y="2157984"/>
            <a:ext cx="3840480" cy="512064"/>
          </a:xfrm>
          <a:prstGeom prst="roundRect">
            <a:avLst>
              <a:gd name="adj" fmla="val 23214"/>
            </a:avLst>
          </a:prstGeom>
          <a:solidFill>
            <a:srgbClr val="F0FAF4"/>
          </a:solidFill>
          <a:ln w="9525">
            <a:solidFill>
              <a:srgbClr val="DCF5E5"/>
            </a:solidFill>
            <a:prstDash val="solid"/>
          </a:ln>
        </p:spPr>
      </p:sp>
      <p:sp>
        <p:nvSpPr>
          <p:cNvPr id="12" name="Text 9"/>
          <p:cNvSpPr txBox="1"/>
          <p:nvPr/>
        </p:nvSpPr>
        <p:spPr>
          <a:xfrm>
            <a:off x="7921447" y="2157984"/>
            <a:ext cx="3328416" cy="512064"/>
          </a:xfrm>
          <a:prstGeom prst="rect">
            <a:avLst/>
          </a:prstGeom>
          <a:noFill/>
          <a:ln/>
        </p:spPr>
        <p:txBody>
          <a:bodyPr wrap="square" lIns="0" tIns="0" rIns="0" bIns="0" rtlCol="0" anchor="ctr"/>
          <a:lstStyle/>
          <a:p>
            <a:pPr indent="0" marL="0">
              <a:buNone/>
            </a:pPr>
            <a:r>
              <a:rPr lang="en-US" sz="1250" b="1" dirty="0">
                <a:solidFill>
                  <a:srgbClr val="0F3B2A"/>
                </a:solidFill>
                <a:latin typeface="Calibri" pitchFamily="34" charset="0"/>
                <a:ea typeface="Calibri" pitchFamily="34" charset="-122"/>
                <a:cs typeface="Calibri" pitchFamily="34" charset="-120"/>
              </a:rPr>
              <a:t>User Identification</a:t>
            </a:r>
            <a:endParaRPr lang="en-US" sz="1250" dirty="0"/>
          </a:p>
        </p:txBody>
      </p:sp>
      <p:sp>
        <p:nvSpPr>
          <p:cNvPr id="13" name="Shape 10"/>
          <p:cNvSpPr/>
          <p:nvPr/>
        </p:nvSpPr>
        <p:spPr>
          <a:xfrm>
            <a:off x="4672584" y="2414016"/>
            <a:ext cx="2846527" cy="0"/>
          </a:xfrm>
          <a:prstGeom prst="line">
            <a:avLst/>
          </a:prstGeom>
          <a:noFill/>
          <a:ln w="13970">
            <a:solidFill>
              <a:srgbClr val="BCEBCE"/>
            </a:solidFill>
            <a:prstDash val="dash"/>
          </a:ln>
        </p:spPr>
      </p:sp>
      <p:pic>
        <p:nvPicPr>
          <p:cNvPr id="14" name="Image 1" descr="C:\smart bin\deck\assets\icons\arrow-right-green.png">    </p:cNvPr>
          <p:cNvPicPr>
            <a:picLocks noChangeAspect="1"/>
          </p:cNvPicPr>
          <p:nvPr/>
        </p:nvPicPr>
        <p:blipFill>
          <a:blip r:embed="rId2"/>
          <a:stretch>
            <a:fillRect/>
          </a:stretch>
        </p:blipFill>
        <p:spPr>
          <a:xfrm>
            <a:off x="5976976" y="2295144"/>
            <a:ext cx="237744" cy="237744"/>
          </a:xfrm>
          <a:prstGeom prst="rect">
            <a:avLst/>
          </a:prstGeom>
        </p:spPr>
      </p:pic>
      <p:sp>
        <p:nvSpPr>
          <p:cNvPr id="15" name="Shape 11"/>
          <p:cNvSpPr/>
          <p:nvPr/>
        </p:nvSpPr>
        <p:spPr>
          <a:xfrm>
            <a:off x="685800" y="2770632"/>
            <a:ext cx="3840480" cy="512064"/>
          </a:xfrm>
          <a:prstGeom prst="roundRect">
            <a:avLst>
              <a:gd name="adj" fmla="val 23214"/>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16" name="Shape 12"/>
          <p:cNvSpPr/>
          <p:nvPr/>
        </p:nvSpPr>
        <p:spPr>
          <a:xfrm>
            <a:off x="886968" y="2843784"/>
            <a:ext cx="365760" cy="365760"/>
          </a:xfrm>
          <a:prstGeom prst="ellipse">
            <a:avLst/>
          </a:prstGeom>
          <a:solidFill>
            <a:srgbClr val="F5F7F6"/>
          </a:solidFill>
          <a:ln/>
        </p:spPr>
      </p:sp>
      <p:pic>
        <p:nvPicPr>
          <p:cNvPr id="17" name="Image 2" descr="C:\smart bin\deck\assets\icons\weight-ink.png">    </p:cNvPr>
          <p:cNvPicPr>
            <a:picLocks noChangeAspect="1"/>
          </p:cNvPicPr>
          <p:nvPr/>
        </p:nvPicPr>
        <p:blipFill>
          <a:blip r:embed="rId3"/>
          <a:stretch>
            <a:fillRect/>
          </a:stretch>
        </p:blipFill>
        <p:spPr>
          <a:xfrm>
            <a:off x="978408" y="2935224"/>
            <a:ext cx="182880" cy="182880"/>
          </a:xfrm>
          <a:prstGeom prst="rect">
            <a:avLst/>
          </a:prstGeom>
        </p:spPr>
      </p:pic>
      <p:sp>
        <p:nvSpPr>
          <p:cNvPr id="18" name="Text 13"/>
          <p:cNvSpPr txBox="1"/>
          <p:nvPr/>
        </p:nvSpPr>
        <p:spPr>
          <a:xfrm>
            <a:off x="1344168" y="2770632"/>
            <a:ext cx="3017520" cy="512064"/>
          </a:xfrm>
          <a:prstGeom prst="rect">
            <a:avLst/>
          </a:prstGeom>
          <a:noFill/>
          <a:ln/>
        </p:spPr>
        <p:txBody>
          <a:bodyPr wrap="square" lIns="0" tIns="0" rIns="0" bIns="0" rtlCol="0" anchor="ctr"/>
          <a:lstStyle/>
          <a:p>
            <a:pPr indent="0" marL="0">
              <a:buNone/>
            </a:pPr>
            <a:r>
              <a:rPr lang="en-US" sz="1250" b="1" dirty="0">
                <a:solidFill>
                  <a:srgbClr val="2C3A34"/>
                </a:solidFill>
                <a:latin typeface="Calibri" pitchFamily="34" charset="0"/>
                <a:ea typeface="Calibri" pitchFamily="34" charset="-122"/>
                <a:cs typeface="Calibri" pitchFamily="34" charset="-120"/>
              </a:rPr>
              <a:t>Weight Sensor</a:t>
            </a:r>
            <a:endParaRPr lang="en-US" sz="1250" dirty="0"/>
          </a:p>
        </p:txBody>
      </p:sp>
      <p:sp>
        <p:nvSpPr>
          <p:cNvPr id="19" name="Shape 14"/>
          <p:cNvSpPr/>
          <p:nvPr/>
        </p:nvSpPr>
        <p:spPr>
          <a:xfrm>
            <a:off x="7665415" y="2770632"/>
            <a:ext cx="3840480" cy="512064"/>
          </a:xfrm>
          <a:prstGeom prst="roundRect">
            <a:avLst>
              <a:gd name="adj" fmla="val 23214"/>
            </a:avLst>
          </a:prstGeom>
          <a:solidFill>
            <a:srgbClr val="F0FAF4"/>
          </a:solidFill>
          <a:ln w="9525">
            <a:solidFill>
              <a:srgbClr val="DCF5E5"/>
            </a:solidFill>
            <a:prstDash val="solid"/>
          </a:ln>
        </p:spPr>
      </p:sp>
      <p:sp>
        <p:nvSpPr>
          <p:cNvPr id="20" name="Text 15"/>
          <p:cNvSpPr txBox="1"/>
          <p:nvPr/>
        </p:nvSpPr>
        <p:spPr>
          <a:xfrm>
            <a:off x="7921447" y="2770632"/>
            <a:ext cx="3328416" cy="512064"/>
          </a:xfrm>
          <a:prstGeom prst="rect">
            <a:avLst/>
          </a:prstGeom>
          <a:noFill/>
          <a:ln/>
        </p:spPr>
        <p:txBody>
          <a:bodyPr wrap="square" lIns="0" tIns="0" rIns="0" bIns="0" rtlCol="0" anchor="ctr"/>
          <a:lstStyle/>
          <a:p>
            <a:pPr indent="0" marL="0">
              <a:buNone/>
            </a:pPr>
            <a:r>
              <a:rPr lang="en-US" sz="1250" b="1" dirty="0">
                <a:solidFill>
                  <a:srgbClr val="0F3B2A"/>
                </a:solidFill>
                <a:latin typeface="Calibri" pitchFamily="34" charset="0"/>
                <a:ea typeface="Calibri" pitchFamily="34" charset="-122"/>
                <a:cs typeface="Calibri" pitchFamily="34" charset="-120"/>
              </a:rPr>
              <a:t>Waste Weight</a:t>
            </a:r>
            <a:endParaRPr lang="en-US" sz="1250" dirty="0"/>
          </a:p>
        </p:txBody>
      </p:sp>
      <p:sp>
        <p:nvSpPr>
          <p:cNvPr id="21" name="Shape 16"/>
          <p:cNvSpPr/>
          <p:nvPr/>
        </p:nvSpPr>
        <p:spPr>
          <a:xfrm>
            <a:off x="4672584" y="3026664"/>
            <a:ext cx="2846527" cy="0"/>
          </a:xfrm>
          <a:prstGeom prst="line">
            <a:avLst/>
          </a:prstGeom>
          <a:noFill/>
          <a:ln w="13970">
            <a:solidFill>
              <a:srgbClr val="BCEBCE"/>
            </a:solidFill>
            <a:prstDash val="dash"/>
          </a:ln>
        </p:spPr>
      </p:sp>
      <p:pic>
        <p:nvPicPr>
          <p:cNvPr id="22" name="Image 3" descr="C:\smart bin\deck\assets\icons\arrow-right-green.png">    </p:cNvPr>
          <p:cNvPicPr>
            <a:picLocks noChangeAspect="1"/>
          </p:cNvPicPr>
          <p:nvPr/>
        </p:nvPicPr>
        <p:blipFill>
          <a:blip r:embed="rId4"/>
          <a:stretch>
            <a:fillRect/>
          </a:stretch>
        </p:blipFill>
        <p:spPr>
          <a:xfrm>
            <a:off x="5976976" y="2907792"/>
            <a:ext cx="237744" cy="237744"/>
          </a:xfrm>
          <a:prstGeom prst="rect">
            <a:avLst/>
          </a:prstGeom>
        </p:spPr>
      </p:pic>
      <p:sp>
        <p:nvSpPr>
          <p:cNvPr id="23" name="Shape 17"/>
          <p:cNvSpPr/>
          <p:nvPr/>
        </p:nvSpPr>
        <p:spPr>
          <a:xfrm>
            <a:off x="685800" y="3383280"/>
            <a:ext cx="3840480" cy="512064"/>
          </a:xfrm>
          <a:prstGeom prst="roundRect">
            <a:avLst>
              <a:gd name="adj" fmla="val 23214"/>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24" name="Shape 18"/>
          <p:cNvSpPr/>
          <p:nvPr/>
        </p:nvSpPr>
        <p:spPr>
          <a:xfrm>
            <a:off x="886968" y="3456432"/>
            <a:ext cx="365760" cy="365760"/>
          </a:xfrm>
          <a:prstGeom prst="ellipse">
            <a:avLst/>
          </a:prstGeom>
          <a:solidFill>
            <a:srgbClr val="F5F7F6"/>
          </a:solidFill>
          <a:ln/>
        </p:spPr>
      </p:sp>
      <p:pic>
        <p:nvPicPr>
          <p:cNvPr id="25" name="Image 4" descr="C:\smart bin\deck\assets\icons\gauge-ink.png">    </p:cNvPr>
          <p:cNvPicPr>
            <a:picLocks noChangeAspect="1"/>
          </p:cNvPicPr>
          <p:nvPr/>
        </p:nvPicPr>
        <p:blipFill>
          <a:blip r:embed="rId5"/>
          <a:stretch>
            <a:fillRect/>
          </a:stretch>
        </p:blipFill>
        <p:spPr>
          <a:xfrm>
            <a:off x="978408" y="3547872"/>
            <a:ext cx="182880" cy="182880"/>
          </a:xfrm>
          <a:prstGeom prst="rect">
            <a:avLst/>
          </a:prstGeom>
        </p:spPr>
      </p:pic>
      <p:sp>
        <p:nvSpPr>
          <p:cNvPr id="26" name="Text 19"/>
          <p:cNvSpPr txBox="1"/>
          <p:nvPr/>
        </p:nvSpPr>
        <p:spPr>
          <a:xfrm>
            <a:off x="1344168" y="3383280"/>
            <a:ext cx="3017520" cy="512064"/>
          </a:xfrm>
          <a:prstGeom prst="rect">
            <a:avLst/>
          </a:prstGeom>
          <a:noFill/>
          <a:ln/>
        </p:spPr>
        <p:txBody>
          <a:bodyPr wrap="square" lIns="0" tIns="0" rIns="0" bIns="0" rtlCol="0" anchor="ctr"/>
          <a:lstStyle/>
          <a:p>
            <a:pPr indent="0" marL="0">
              <a:buNone/>
            </a:pPr>
            <a:r>
              <a:rPr lang="en-US" sz="1250" b="1" dirty="0">
                <a:solidFill>
                  <a:srgbClr val="2C3A34"/>
                </a:solidFill>
                <a:latin typeface="Calibri" pitchFamily="34" charset="0"/>
                <a:ea typeface="Calibri" pitchFamily="34" charset="-122"/>
                <a:cs typeface="Calibri" pitchFamily="34" charset="-120"/>
              </a:rPr>
              <a:t>Fill Sensor</a:t>
            </a:r>
            <a:endParaRPr lang="en-US" sz="1250" dirty="0"/>
          </a:p>
        </p:txBody>
      </p:sp>
      <p:sp>
        <p:nvSpPr>
          <p:cNvPr id="27" name="Shape 20"/>
          <p:cNvSpPr/>
          <p:nvPr/>
        </p:nvSpPr>
        <p:spPr>
          <a:xfrm>
            <a:off x="7665415" y="3383280"/>
            <a:ext cx="3840480" cy="512064"/>
          </a:xfrm>
          <a:prstGeom prst="roundRect">
            <a:avLst>
              <a:gd name="adj" fmla="val 23214"/>
            </a:avLst>
          </a:prstGeom>
          <a:solidFill>
            <a:srgbClr val="F0FAF4"/>
          </a:solidFill>
          <a:ln w="9525">
            <a:solidFill>
              <a:srgbClr val="DCF5E5"/>
            </a:solidFill>
            <a:prstDash val="solid"/>
          </a:ln>
        </p:spPr>
      </p:sp>
      <p:sp>
        <p:nvSpPr>
          <p:cNvPr id="28" name="Text 21"/>
          <p:cNvSpPr txBox="1"/>
          <p:nvPr/>
        </p:nvSpPr>
        <p:spPr>
          <a:xfrm>
            <a:off x="7921447" y="3383280"/>
            <a:ext cx="3328416" cy="512064"/>
          </a:xfrm>
          <a:prstGeom prst="rect">
            <a:avLst/>
          </a:prstGeom>
          <a:noFill/>
          <a:ln/>
        </p:spPr>
        <p:txBody>
          <a:bodyPr wrap="square" lIns="0" tIns="0" rIns="0" bIns="0" rtlCol="0" anchor="ctr"/>
          <a:lstStyle/>
          <a:p>
            <a:pPr indent="0" marL="0">
              <a:buNone/>
            </a:pPr>
            <a:r>
              <a:rPr lang="en-US" sz="1250" b="1" dirty="0">
                <a:solidFill>
                  <a:srgbClr val="0F3B2A"/>
                </a:solidFill>
                <a:latin typeface="Calibri" pitchFamily="34" charset="0"/>
                <a:ea typeface="Calibri" pitchFamily="34" charset="-122"/>
                <a:cs typeface="Calibri" pitchFamily="34" charset="-120"/>
              </a:rPr>
              <a:t>Bin Status</a:t>
            </a:r>
            <a:endParaRPr lang="en-US" sz="1250" dirty="0"/>
          </a:p>
        </p:txBody>
      </p:sp>
      <p:sp>
        <p:nvSpPr>
          <p:cNvPr id="29" name="Shape 22"/>
          <p:cNvSpPr/>
          <p:nvPr/>
        </p:nvSpPr>
        <p:spPr>
          <a:xfrm>
            <a:off x="4672584" y="3639312"/>
            <a:ext cx="2846527" cy="0"/>
          </a:xfrm>
          <a:prstGeom prst="line">
            <a:avLst/>
          </a:prstGeom>
          <a:noFill/>
          <a:ln w="13970">
            <a:solidFill>
              <a:srgbClr val="BCEBCE"/>
            </a:solidFill>
            <a:prstDash val="dash"/>
          </a:ln>
        </p:spPr>
      </p:sp>
      <p:pic>
        <p:nvPicPr>
          <p:cNvPr id="30" name="Image 5" descr="C:\smart bin\deck\assets\icons\arrow-right-green.png">    </p:cNvPr>
          <p:cNvPicPr>
            <a:picLocks noChangeAspect="1"/>
          </p:cNvPicPr>
          <p:nvPr/>
        </p:nvPicPr>
        <p:blipFill>
          <a:blip r:embed="rId6"/>
          <a:stretch>
            <a:fillRect/>
          </a:stretch>
        </p:blipFill>
        <p:spPr>
          <a:xfrm>
            <a:off x="5976976" y="3520440"/>
            <a:ext cx="237744" cy="237744"/>
          </a:xfrm>
          <a:prstGeom prst="rect">
            <a:avLst/>
          </a:prstGeom>
        </p:spPr>
      </p:pic>
      <p:sp>
        <p:nvSpPr>
          <p:cNvPr id="31" name="Shape 23"/>
          <p:cNvSpPr/>
          <p:nvPr/>
        </p:nvSpPr>
        <p:spPr>
          <a:xfrm>
            <a:off x="685800" y="3995928"/>
            <a:ext cx="3840480" cy="512064"/>
          </a:xfrm>
          <a:prstGeom prst="roundRect">
            <a:avLst>
              <a:gd name="adj" fmla="val 23214"/>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32" name="Shape 24"/>
          <p:cNvSpPr/>
          <p:nvPr/>
        </p:nvSpPr>
        <p:spPr>
          <a:xfrm>
            <a:off x="886968" y="4069080"/>
            <a:ext cx="365760" cy="365760"/>
          </a:xfrm>
          <a:prstGeom prst="ellipse">
            <a:avLst/>
          </a:prstGeom>
          <a:solidFill>
            <a:srgbClr val="F5F7F6"/>
          </a:solidFill>
          <a:ln/>
        </p:spPr>
      </p:sp>
      <p:pic>
        <p:nvPicPr>
          <p:cNvPr id="33" name="Image 6" descr="C:\smart bin\deck\assets\icons\camera-ink.png">    </p:cNvPr>
          <p:cNvPicPr>
            <a:picLocks noChangeAspect="1"/>
          </p:cNvPicPr>
          <p:nvPr/>
        </p:nvPicPr>
        <p:blipFill>
          <a:blip r:embed="rId7"/>
          <a:stretch>
            <a:fillRect/>
          </a:stretch>
        </p:blipFill>
        <p:spPr>
          <a:xfrm>
            <a:off x="978408" y="4160520"/>
            <a:ext cx="182880" cy="182880"/>
          </a:xfrm>
          <a:prstGeom prst="rect">
            <a:avLst/>
          </a:prstGeom>
        </p:spPr>
      </p:pic>
      <p:sp>
        <p:nvSpPr>
          <p:cNvPr id="34" name="Text 25"/>
          <p:cNvSpPr txBox="1"/>
          <p:nvPr/>
        </p:nvSpPr>
        <p:spPr>
          <a:xfrm>
            <a:off x="1344168" y="3995928"/>
            <a:ext cx="3017520" cy="512064"/>
          </a:xfrm>
          <a:prstGeom prst="rect">
            <a:avLst/>
          </a:prstGeom>
          <a:noFill/>
          <a:ln/>
        </p:spPr>
        <p:txBody>
          <a:bodyPr wrap="square" lIns="0" tIns="0" rIns="0" bIns="0" rtlCol="0" anchor="ctr"/>
          <a:lstStyle/>
          <a:p>
            <a:pPr indent="0" marL="0">
              <a:buNone/>
            </a:pPr>
            <a:r>
              <a:rPr lang="en-US" sz="1250" b="1" dirty="0">
                <a:solidFill>
                  <a:srgbClr val="2C3A34"/>
                </a:solidFill>
                <a:latin typeface="Calibri" pitchFamily="34" charset="0"/>
                <a:ea typeface="Calibri" pitchFamily="34" charset="-122"/>
                <a:cs typeface="Calibri" pitchFamily="34" charset="-120"/>
              </a:rPr>
              <a:t>Camera</a:t>
            </a:r>
            <a:endParaRPr lang="en-US" sz="1250" dirty="0"/>
          </a:p>
        </p:txBody>
      </p:sp>
      <p:sp>
        <p:nvSpPr>
          <p:cNvPr id="35" name="Shape 26"/>
          <p:cNvSpPr/>
          <p:nvPr/>
        </p:nvSpPr>
        <p:spPr>
          <a:xfrm>
            <a:off x="7665415" y="3995928"/>
            <a:ext cx="3840480" cy="512064"/>
          </a:xfrm>
          <a:prstGeom prst="roundRect">
            <a:avLst>
              <a:gd name="adj" fmla="val 23214"/>
            </a:avLst>
          </a:prstGeom>
          <a:solidFill>
            <a:srgbClr val="F0FAF4"/>
          </a:solidFill>
          <a:ln w="9525">
            <a:solidFill>
              <a:srgbClr val="DCF5E5"/>
            </a:solidFill>
            <a:prstDash val="solid"/>
          </a:ln>
        </p:spPr>
      </p:sp>
      <p:sp>
        <p:nvSpPr>
          <p:cNvPr id="36" name="Text 27"/>
          <p:cNvSpPr txBox="1"/>
          <p:nvPr/>
        </p:nvSpPr>
        <p:spPr>
          <a:xfrm>
            <a:off x="7921447" y="3995928"/>
            <a:ext cx="3328416" cy="512064"/>
          </a:xfrm>
          <a:prstGeom prst="rect">
            <a:avLst/>
          </a:prstGeom>
          <a:noFill/>
          <a:ln/>
        </p:spPr>
        <p:txBody>
          <a:bodyPr wrap="square" lIns="0" tIns="0" rIns="0" bIns="0" rtlCol="0" anchor="ctr"/>
          <a:lstStyle/>
          <a:p>
            <a:pPr indent="0" marL="0">
              <a:buNone/>
            </a:pPr>
            <a:r>
              <a:rPr lang="en-US" sz="1250" b="1" dirty="0">
                <a:solidFill>
                  <a:srgbClr val="0F3B2A"/>
                </a:solidFill>
                <a:latin typeface="Calibri" pitchFamily="34" charset="0"/>
                <a:ea typeface="Calibri" pitchFamily="34" charset="-122"/>
                <a:cs typeface="Calibri" pitchFamily="34" charset="-120"/>
              </a:rPr>
              <a:t>AI Classification</a:t>
            </a:r>
            <a:endParaRPr lang="en-US" sz="1250" dirty="0"/>
          </a:p>
        </p:txBody>
      </p:sp>
      <p:sp>
        <p:nvSpPr>
          <p:cNvPr id="37" name="Shape 28"/>
          <p:cNvSpPr/>
          <p:nvPr/>
        </p:nvSpPr>
        <p:spPr>
          <a:xfrm>
            <a:off x="4672584" y="4251960"/>
            <a:ext cx="2846527" cy="0"/>
          </a:xfrm>
          <a:prstGeom prst="line">
            <a:avLst/>
          </a:prstGeom>
          <a:noFill/>
          <a:ln w="13970">
            <a:solidFill>
              <a:srgbClr val="BCEBCE"/>
            </a:solidFill>
            <a:prstDash val="dash"/>
          </a:ln>
        </p:spPr>
      </p:sp>
      <p:pic>
        <p:nvPicPr>
          <p:cNvPr id="38" name="Image 7" descr="C:\smart bin\deck\assets\icons\arrow-right-green.png">    </p:cNvPr>
          <p:cNvPicPr>
            <a:picLocks noChangeAspect="1"/>
          </p:cNvPicPr>
          <p:nvPr/>
        </p:nvPicPr>
        <p:blipFill>
          <a:blip r:embed="rId8"/>
          <a:stretch>
            <a:fillRect/>
          </a:stretch>
        </p:blipFill>
        <p:spPr>
          <a:xfrm>
            <a:off x="5976976" y="4133088"/>
            <a:ext cx="237744" cy="237744"/>
          </a:xfrm>
          <a:prstGeom prst="rect">
            <a:avLst/>
          </a:prstGeom>
        </p:spPr>
      </p:pic>
      <p:sp>
        <p:nvSpPr>
          <p:cNvPr id="39" name="Shape 29"/>
          <p:cNvSpPr/>
          <p:nvPr/>
        </p:nvSpPr>
        <p:spPr>
          <a:xfrm>
            <a:off x="685800" y="4608576"/>
            <a:ext cx="3840480" cy="512064"/>
          </a:xfrm>
          <a:prstGeom prst="roundRect">
            <a:avLst>
              <a:gd name="adj" fmla="val 23214"/>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40" name="Shape 30"/>
          <p:cNvSpPr/>
          <p:nvPr/>
        </p:nvSpPr>
        <p:spPr>
          <a:xfrm>
            <a:off x="886968" y="4681728"/>
            <a:ext cx="365760" cy="365760"/>
          </a:xfrm>
          <a:prstGeom prst="ellipse">
            <a:avLst/>
          </a:prstGeom>
          <a:solidFill>
            <a:srgbClr val="F5F7F6"/>
          </a:solidFill>
          <a:ln/>
        </p:spPr>
      </p:sp>
      <p:pic>
        <p:nvPicPr>
          <p:cNvPr id="41" name="Image 8" descr="C:\smart bin\deck\assets\icons\cog-ink.png">    </p:cNvPr>
          <p:cNvPicPr>
            <a:picLocks noChangeAspect="1"/>
          </p:cNvPicPr>
          <p:nvPr/>
        </p:nvPicPr>
        <p:blipFill>
          <a:blip r:embed="rId9"/>
          <a:stretch>
            <a:fillRect/>
          </a:stretch>
        </p:blipFill>
        <p:spPr>
          <a:xfrm>
            <a:off x="978408" y="4773168"/>
            <a:ext cx="182880" cy="182880"/>
          </a:xfrm>
          <a:prstGeom prst="rect">
            <a:avLst/>
          </a:prstGeom>
        </p:spPr>
      </p:pic>
      <p:sp>
        <p:nvSpPr>
          <p:cNvPr id="42" name="Text 31"/>
          <p:cNvSpPr txBox="1"/>
          <p:nvPr/>
        </p:nvSpPr>
        <p:spPr>
          <a:xfrm>
            <a:off x="1344168" y="4608576"/>
            <a:ext cx="3017520" cy="512064"/>
          </a:xfrm>
          <a:prstGeom prst="rect">
            <a:avLst/>
          </a:prstGeom>
          <a:noFill/>
          <a:ln/>
        </p:spPr>
        <p:txBody>
          <a:bodyPr wrap="square" lIns="0" tIns="0" rIns="0" bIns="0" rtlCol="0" anchor="ctr"/>
          <a:lstStyle/>
          <a:p>
            <a:pPr indent="0" marL="0">
              <a:buNone/>
            </a:pPr>
            <a:r>
              <a:rPr lang="en-US" sz="1250" b="1" dirty="0">
                <a:solidFill>
                  <a:srgbClr val="2C3A34"/>
                </a:solidFill>
                <a:latin typeface="Calibri" pitchFamily="34" charset="0"/>
                <a:ea typeface="Calibri" pitchFamily="34" charset="-122"/>
                <a:cs typeface="Calibri" pitchFamily="34" charset="-120"/>
              </a:rPr>
              <a:t>Servo / Motor</a:t>
            </a:r>
            <a:endParaRPr lang="en-US" sz="1250" dirty="0"/>
          </a:p>
        </p:txBody>
      </p:sp>
      <p:sp>
        <p:nvSpPr>
          <p:cNvPr id="43" name="Shape 32"/>
          <p:cNvSpPr/>
          <p:nvPr/>
        </p:nvSpPr>
        <p:spPr>
          <a:xfrm>
            <a:off x="7665415" y="4608576"/>
            <a:ext cx="3840480" cy="512064"/>
          </a:xfrm>
          <a:prstGeom prst="roundRect">
            <a:avLst>
              <a:gd name="adj" fmla="val 23214"/>
            </a:avLst>
          </a:prstGeom>
          <a:solidFill>
            <a:srgbClr val="F0FAF4"/>
          </a:solidFill>
          <a:ln w="9525">
            <a:solidFill>
              <a:srgbClr val="DCF5E5"/>
            </a:solidFill>
            <a:prstDash val="solid"/>
          </a:ln>
        </p:spPr>
      </p:sp>
      <p:sp>
        <p:nvSpPr>
          <p:cNvPr id="44" name="Text 33"/>
          <p:cNvSpPr txBox="1"/>
          <p:nvPr/>
        </p:nvSpPr>
        <p:spPr>
          <a:xfrm>
            <a:off x="7921447" y="4608576"/>
            <a:ext cx="3328416" cy="512064"/>
          </a:xfrm>
          <a:prstGeom prst="rect">
            <a:avLst/>
          </a:prstGeom>
          <a:noFill/>
          <a:ln/>
        </p:spPr>
        <p:txBody>
          <a:bodyPr wrap="square" lIns="0" tIns="0" rIns="0" bIns="0" rtlCol="0" anchor="ctr"/>
          <a:lstStyle/>
          <a:p>
            <a:pPr indent="0" marL="0">
              <a:buNone/>
            </a:pPr>
            <a:r>
              <a:rPr lang="en-US" sz="1250" b="1" dirty="0">
                <a:solidFill>
                  <a:srgbClr val="0F3B2A"/>
                </a:solidFill>
                <a:latin typeface="Calibri" pitchFamily="34" charset="0"/>
                <a:ea typeface="Calibri" pitchFamily="34" charset="-122"/>
                <a:cs typeface="Calibri" pitchFamily="34" charset="-120"/>
              </a:rPr>
              <a:t>Sorting Command</a:t>
            </a:r>
            <a:endParaRPr lang="en-US" sz="1250" dirty="0"/>
          </a:p>
        </p:txBody>
      </p:sp>
      <p:sp>
        <p:nvSpPr>
          <p:cNvPr id="45" name="Shape 34"/>
          <p:cNvSpPr/>
          <p:nvPr/>
        </p:nvSpPr>
        <p:spPr>
          <a:xfrm>
            <a:off x="4672584" y="4864608"/>
            <a:ext cx="2846527" cy="0"/>
          </a:xfrm>
          <a:prstGeom prst="line">
            <a:avLst/>
          </a:prstGeom>
          <a:noFill/>
          <a:ln w="13970">
            <a:solidFill>
              <a:srgbClr val="BCEBCE"/>
            </a:solidFill>
            <a:prstDash val="dash"/>
          </a:ln>
        </p:spPr>
      </p:sp>
      <p:pic>
        <p:nvPicPr>
          <p:cNvPr id="46" name="Image 9" descr="C:\smart bin\deck\assets\icons\arrow-right-green.png">    </p:cNvPr>
          <p:cNvPicPr>
            <a:picLocks noChangeAspect="1"/>
          </p:cNvPicPr>
          <p:nvPr/>
        </p:nvPicPr>
        <p:blipFill>
          <a:blip r:embed="rId10"/>
          <a:stretch>
            <a:fillRect/>
          </a:stretch>
        </p:blipFill>
        <p:spPr>
          <a:xfrm>
            <a:off x="5976976" y="4745736"/>
            <a:ext cx="237744" cy="237744"/>
          </a:xfrm>
          <a:prstGeom prst="rect">
            <a:avLst/>
          </a:prstGeom>
        </p:spPr>
      </p:pic>
      <p:sp>
        <p:nvSpPr>
          <p:cNvPr id="47" name="Shape 35"/>
          <p:cNvSpPr/>
          <p:nvPr/>
        </p:nvSpPr>
        <p:spPr>
          <a:xfrm>
            <a:off x="685800" y="5221224"/>
            <a:ext cx="3840480" cy="512064"/>
          </a:xfrm>
          <a:prstGeom prst="roundRect">
            <a:avLst>
              <a:gd name="adj" fmla="val 23214"/>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48" name="Shape 36"/>
          <p:cNvSpPr/>
          <p:nvPr/>
        </p:nvSpPr>
        <p:spPr>
          <a:xfrm>
            <a:off x="886968" y="5294376"/>
            <a:ext cx="365760" cy="365760"/>
          </a:xfrm>
          <a:prstGeom prst="ellipse">
            <a:avLst/>
          </a:prstGeom>
          <a:solidFill>
            <a:srgbClr val="F5F7F6"/>
          </a:solidFill>
          <a:ln/>
        </p:spPr>
      </p:sp>
      <p:pic>
        <p:nvPicPr>
          <p:cNvPr id="49" name="Image 10" descr="C:\smart bin\deck\assets\icons\cpu-ink.png">    </p:cNvPr>
          <p:cNvPicPr>
            <a:picLocks noChangeAspect="1"/>
          </p:cNvPicPr>
          <p:nvPr/>
        </p:nvPicPr>
        <p:blipFill>
          <a:blip r:embed="rId11"/>
          <a:stretch>
            <a:fillRect/>
          </a:stretch>
        </p:blipFill>
        <p:spPr>
          <a:xfrm>
            <a:off x="978408" y="5385816"/>
            <a:ext cx="182880" cy="182880"/>
          </a:xfrm>
          <a:prstGeom prst="rect">
            <a:avLst/>
          </a:prstGeom>
        </p:spPr>
      </p:pic>
      <p:sp>
        <p:nvSpPr>
          <p:cNvPr id="50" name="Text 37"/>
          <p:cNvSpPr txBox="1"/>
          <p:nvPr/>
        </p:nvSpPr>
        <p:spPr>
          <a:xfrm>
            <a:off x="1344168" y="5221224"/>
            <a:ext cx="3017520" cy="512064"/>
          </a:xfrm>
          <a:prstGeom prst="rect">
            <a:avLst/>
          </a:prstGeom>
          <a:noFill/>
          <a:ln/>
        </p:spPr>
        <p:txBody>
          <a:bodyPr wrap="square" lIns="0" tIns="0" rIns="0" bIns="0" rtlCol="0" anchor="ctr"/>
          <a:lstStyle/>
          <a:p>
            <a:pPr indent="0" marL="0">
              <a:buNone/>
            </a:pPr>
            <a:r>
              <a:rPr lang="en-US" sz="1250" b="1" dirty="0">
                <a:solidFill>
                  <a:srgbClr val="2C3A34"/>
                </a:solidFill>
                <a:latin typeface="Calibri" pitchFamily="34" charset="0"/>
                <a:ea typeface="Calibri" pitchFamily="34" charset="-122"/>
                <a:cs typeface="Calibri" pitchFamily="34" charset="-120"/>
              </a:rPr>
              <a:t>Processing Unit</a:t>
            </a:r>
            <a:endParaRPr lang="en-US" sz="1250" dirty="0"/>
          </a:p>
        </p:txBody>
      </p:sp>
      <p:sp>
        <p:nvSpPr>
          <p:cNvPr id="51" name="Shape 38"/>
          <p:cNvSpPr/>
          <p:nvPr/>
        </p:nvSpPr>
        <p:spPr>
          <a:xfrm>
            <a:off x="7665415" y="5221224"/>
            <a:ext cx="3840480" cy="512064"/>
          </a:xfrm>
          <a:prstGeom prst="roundRect">
            <a:avLst>
              <a:gd name="adj" fmla="val 23214"/>
            </a:avLst>
          </a:prstGeom>
          <a:solidFill>
            <a:srgbClr val="F0FAF4"/>
          </a:solidFill>
          <a:ln w="9525">
            <a:solidFill>
              <a:srgbClr val="DCF5E5"/>
            </a:solidFill>
            <a:prstDash val="solid"/>
          </a:ln>
        </p:spPr>
      </p:sp>
      <p:sp>
        <p:nvSpPr>
          <p:cNvPr id="52" name="Text 39"/>
          <p:cNvSpPr txBox="1"/>
          <p:nvPr/>
        </p:nvSpPr>
        <p:spPr>
          <a:xfrm>
            <a:off x="7921447" y="5221224"/>
            <a:ext cx="3328416" cy="512064"/>
          </a:xfrm>
          <a:prstGeom prst="rect">
            <a:avLst/>
          </a:prstGeom>
          <a:noFill/>
          <a:ln/>
        </p:spPr>
        <p:txBody>
          <a:bodyPr wrap="square" lIns="0" tIns="0" rIns="0" bIns="0" rtlCol="0" anchor="ctr"/>
          <a:lstStyle/>
          <a:p>
            <a:pPr indent="0" marL="0">
              <a:buNone/>
            </a:pPr>
            <a:r>
              <a:rPr lang="en-US" sz="1250" b="1" dirty="0">
                <a:solidFill>
                  <a:srgbClr val="0F3B2A"/>
                </a:solidFill>
                <a:latin typeface="Calibri" pitchFamily="34" charset="0"/>
                <a:ea typeface="Calibri" pitchFamily="34" charset="-122"/>
                <a:cs typeface="Calibri" pitchFamily="34" charset="-120"/>
              </a:rPr>
              <a:t>Processing Status</a:t>
            </a:r>
            <a:endParaRPr lang="en-US" sz="1250" dirty="0"/>
          </a:p>
        </p:txBody>
      </p:sp>
      <p:sp>
        <p:nvSpPr>
          <p:cNvPr id="53" name="Shape 40"/>
          <p:cNvSpPr/>
          <p:nvPr/>
        </p:nvSpPr>
        <p:spPr>
          <a:xfrm>
            <a:off x="4672584" y="5477256"/>
            <a:ext cx="2846527" cy="0"/>
          </a:xfrm>
          <a:prstGeom prst="line">
            <a:avLst/>
          </a:prstGeom>
          <a:noFill/>
          <a:ln w="13970">
            <a:solidFill>
              <a:srgbClr val="BCEBCE"/>
            </a:solidFill>
            <a:prstDash val="dash"/>
          </a:ln>
        </p:spPr>
      </p:sp>
      <p:pic>
        <p:nvPicPr>
          <p:cNvPr id="54" name="Image 11" descr="C:\smart bin\deck\assets\icons\arrow-right-green.png">    </p:cNvPr>
          <p:cNvPicPr>
            <a:picLocks noChangeAspect="1"/>
          </p:cNvPicPr>
          <p:nvPr/>
        </p:nvPicPr>
        <p:blipFill>
          <a:blip r:embed="rId12"/>
          <a:stretch>
            <a:fillRect/>
          </a:stretch>
        </p:blipFill>
        <p:spPr>
          <a:xfrm>
            <a:off x="5976976" y="5358384"/>
            <a:ext cx="237744" cy="237744"/>
          </a:xfrm>
          <a:prstGeom prst="rect">
            <a:avLst/>
          </a:prstGeom>
        </p:spPr>
      </p:pic>
      <p:sp>
        <p:nvSpPr>
          <p:cNvPr id="55" name="Text 41"/>
          <p:cNvSpPr txBox="1"/>
          <p:nvPr/>
        </p:nvSpPr>
        <p:spPr>
          <a:xfrm>
            <a:off x="685800" y="5907024"/>
            <a:ext cx="10820095" cy="329184"/>
          </a:xfrm>
          <a:prstGeom prst="rect">
            <a:avLst/>
          </a:prstGeom>
          <a:noFill/>
          <a:ln/>
        </p:spPr>
        <p:txBody>
          <a:bodyPr wrap="square" lIns="0" tIns="0" rIns="0" bIns="0" rtlCol="0" anchor="ctr"/>
          <a:lstStyle/>
          <a:p>
            <a:pPr indent="0" marL="0">
              <a:buNone/>
            </a:pPr>
            <a:r>
              <a:rPr lang="en-US" sz="1150" i="1" dirty="0">
                <a:solidFill>
                  <a:srgbClr val="8A9993"/>
                </a:solidFill>
                <a:latin typeface="Calibri" pitchFamily="34" charset="0"/>
                <a:ea typeface="Calibri" pitchFamily="34" charset="-122"/>
                <a:cs typeface="Calibri" pitchFamily="34" charset="-120"/>
              </a:rPr>
              <a:t>In the current prototype these six events are produced by a built-in Smart Bin Simulator, so the app already consumes them in the exact shape the hardware will send.</a:t>
            </a:r>
            <a:endParaRPr lang="en-US" sz="1150" dirty="0"/>
          </a:p>
        </p:txBody>
      </p:sp>
      <p:sp>
        <p:nvSpPr>
          <p:cNvPr id="56" name="Text 42"/>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57" name="Text 43"/>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10 / 12</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Shape 0"/>
          <p:cNvSpPr/>
          <p:nvPr/>
        </p:nvSpPr>
        <p:spPr>
          <a:xfrm>
            <a:off x="685800" y="736092"/>
            <a:ext cx="256032" cy="50292"/>
          </a:xfrm>
          <a:prstGeom prst="rect">
            <a:avLst/>
          </a:prstGeom>
          <a:solidFill>
            <a:srgbClr val="248A5E"/>
          </a:solidFill>
          <a:ln/>
        </p:spPr>
      </p:sp>
      <p:sp>
        <p:nvSpPr>
          <p:cNvPr id="3" name="Text 1"/>
          <p:cNvSpPr txBox="1"/>
          <p:nvPr/>
        </p:nvSpPr>
        <p:spPr>
          <a:xfrm>
            <a:off x="1069848" y="658368"/>
            <a:ext cx="7315200" cy="219456"/>
          </a:xfrm>
          <a:prstGeom prst="rect">
            <a:avLst/>
          </a:prstGeom>
          <a:noFill/>
          <a:ln/>
        </p:spPr>
        <p:txBody>
          <a:bodyPr wrap="square" lIns="0" tIns="0" rIns="0" bIns="0" rtlCol="0" anchor="ctr"/>
          <a:lstStyle/>
          <a:p>
            <a:pPr indent="0" marL="0">
              <a:buNone/>
            </a:pPr>
            <a:r>
              <a:rPr lang="en-US" sz="1050" b="1" spc="240" kern="0" dirty="0">
                <a:solidFill>
                  <a:srgbClr val="248A5E"/>
                </a:solidFill>
                <a:latin typeface="Calibri" pitchFamily="34" charset="0"/>
                <a:ea typeface="Calibri" pitchFamily="34" charset="-122"/>
                <a:cs typeface="Calibri" pitchFamily="34" charset="-120"/>
              </a:rPr>
              <a:t>11  DEVELOPMENT ROADMAP</a:t>
            </a:r>
            <a:endParaRPr lang="en-US" sz="1050" dirty="0"/>
          </a:p>
        </p:txBody>
      </p:sp>
      <p:sp>
        <p:nvSpPr>
          <p:cNvPr id="4" name="Text 2"/>
          <p:cNvSpPr txBox="1"/>
          <p:nvPr/>
        </p:nvSpPr>
        <p:spPr>
          <a:xfrm>
            <a:off x="685800" y="987552"/>
            <a:ext cx="7315200" cy="566928"/>
          </a:xfrm>
          <a:prstGeom prst="rect">
            <a:avLst/>
          </a:prstGeom>
          <a:noFill/>
          <a:ln/>
        </p:spPr>
        <p:txBody>
          <a:bodyPr wrap="square" lIns="0" tIns="0" rIns="0" bIns="0" rtlCol="0" anchor="ctr"/>
          <a:lstStyle/>
          <a:p>
            <a:pPr indent="0" marL="0">
              <a:buNone/>
            </a:pPr>
            <a:r>
              <a:rPr lang="en-US" sz="3200" b="1" dirty="0">
                <a:solidFill>
                  <a:srgbClr val="0E1A15"/>
                </a:solidFill>
                <a:latin typeface="Calibri" pitchFamily="34" charset="0"/>
                <a:ea typeface="Calibri" pitchFamily="34" charset="-122"/>
                <a:cs typeface="Calibri" pitchFamily="34" charset="-120"/>
              </a:rPr>
              <a:t>From prototype to working system.</a:t>
            </a:r>
            <a:endParaRPr lang="en-US" sz="3200" dirty="0"/>
          </a:p>
        </p:txBody>
      </p:sp>
      <p:sp>
        <p:nvSpPr>
          <p:cNvPr id="5" name="Text 3"/>
          <p:cNvSpPr txBox="1"/>
          <p:nvPr/>
        </p:nvSpPr>
        <p:spPr>
          <a:xfrm>
            <a:off x="8229600" y="1097280"/>
            <a:ext cx="3273552" cy="365760"/>
          </a:xfrm>
          <a:prstGeom prst="rect">
            <a:avLst/>
          </a:prstGeom>
          <a:noFill/>
          <a:ln/>
        </p:spPr>
        <p:txBody>
          <a:bodyPr wrap="square" lIns="0" tIns="0" rIns="0" bIns="0" rtlCol="0" anchor="ctr"/>
          <a:lstStyle/>
          <a:p>
            <a:pPr algn="r" indent="0" marL="0">
              <a:buNone/>
            </a:pPr>
            <a:r>
              <a:rPr lang="en-US" sz="1250" b="1" dirty="0">
                <a:solidFill>
                  <a:srgbClr val="248A5E"/>
                </a:solidFill>
                <a:latin typeface="Calibri" pitchFamily="34" charset="0"/>
                <a:ea typeface="Calibri" pitchFamily="34" charset="-122"/>
                <a:cs typeface="Calibri" pitchFamily="34" charset="-120"/>
              </a:rPr>
              <a:t>One of six phases complete.</a:t>
            </a:r>
            <a:endParaRPr lang="en-US" sz="1250" dirty="0"/>
          </a:p>
        </p:txBody>
      </p:sp>
      <p:sp>
        <p:nvSpPr>
          <p:cNvPr id="6" name="Shape 4"/>
          <p:cNvSpPr/>
          <p:nvPr/>
        </p:nvSpPr>
        <p:spPr>
          <a:xfrm>
            <a:off x="1511275" y="2542032"/>
            <a:ext cx="9169146" cy="0"/>
          </a:xfrm>
          <a:prstGeom prst="line">
            <a:avLst/>
          </a:prstGeom>
          <a:noFill/>
          <a:ln w="25400">
            <a:solidFill>
              <a:srgbClr val="DFE5E2"/>
            </a:solidFill>
            <a:prstDash val="solid"/>
          </a:ln>
        </p:spPr>
      </p:sp>
      <p:sp>
        <p:nvSpPr>
          <p:cNvPr id="7" name="Shape 5"/>
          <p:cNvSpPr/>
          <p:nvPr/>
        </p:nvSpPr>
        <p:spPr>
          <a:xfrm>
            <a:off x="1511275" y="2542032"/>
            <a:ext cx="1833829" cy="0"/>
          </a:xfrm>
          <a:prstGeom prst="line">
            <a:avLst/>
          </a:prstGeom>
          <a:noFill/>
          <a:ln w="31750">
            <a:solidFill>
              <a:srgbClr val="2FA86F"/>
            </a:solidFill>
            <a:prstDash val="solid"/>
          </a:ln>
        </p:spPr>
      </p:sp>
      <p:sp>
        <p:nvSpPr>
          <p:cNvPr id="8" name="Text 6"/>
          <p:cNvSpPr txBox="1"/>
          <p:nvPr/>
        </p:nvSpPr>
        <p:spPr>
          <a:xfrm>
            <a:off x="685800" y="1883664"/>
            <a:ext cx="1650949" cy="237744"/>
          </a:xfrm>
          <a:prstGeom prst="rect">
            <a:avLst/>
          </a:prstGeom>
          <a:noFill/>
          <a:ln/>
        </p:spPr>
        <p:txBody>
          <a:bodyPr wrap="square" lIns="0" tIns="0" rIns="0" bIns="0" rtlCol="0" anchor="ctr"/>
          <a:lstStyle/>
          <a:p>
            <a:pPr algn="ctr" indent="0" marL="0">
              <a:buNone/>
            </a:pPr>
            <a:r>
              <a:rPr lang="en-US" sz="950" b="1" spc="160" kern="0" dirty="0">
                <a:solidFill>
                  <a:srgbClr val="248A5E"/>
                </a:solidFill>
                <a:latin typeface="Calibri" pitchFamily="34" charset="0"/>
                <a:ea typeface="Calibri" pitchFamily="34" charset="-122"/>
                <a:cs typeface="Calibri" pitchFamily="34" charset="-120"/>
              </a:rPr>
              <a:t>PHASE 01</a:t>
            </a:r>
            <a:endParaRPr lang="en-US" sz="950" dirty="0"/>
          </a:p>
        </p:txBody>
      </p:sp>
      <p:sp>
        <p:nvSpPr>
          <p:cNvPr id="9" name="Shape 7"/>
          <p:cNvSpPr/>
          <p:nvPr/>
        </p:nvSpPr>
        <p:spPr>
          <a:xfrm>
            <a:off x="1163803" y="2194560"/>
            <a:ext cx="694944" cy="694944"/>
          </a:xfrm>
          <a:prstGeom prst="ellipse">
            <a:avLst/>
          </a:prstGeom>
          <a:solidFill>
            <a:srgbClr val="F5F7F6"/>
          </a:solidFill>
          <a:ln/>
        </p:spPr>
      </p:sp>
      <p:sp>
        <p:nvSpPr>
          <p:cNvPr id="10" name="Shape 8"/>
          <p:cNvSpPr/>
          <p:nvPr/>
        </p:nvSpPr>
        <p:spPr>
          <a:xfrm>
            <a:off x="1255243" y="2286000"/>
            <a:ext cx="512064" cy="512064"/>
          </a:xfrm>
          <a:prstGeom prst="ellipse">
            <a:avLst/>
          </a:prstGeom>
          <a:solidFill>
            <a:srgbClr val="248A5E"/>
          </a:solidFill>
          <a:ln/>
        </p:spPr>
      </p:sp>
      <p:pic>
        <p:nvPicPr>
          <p:cNvPr id="11" name="Image 0" descr="C:\smart bin\deck\assets\icons\check-white.png">    </p:cNvPr>
          <p:cNvPicPr>
            <a:picLocks noChangeAspect="1"/>
          </p:cNvPicPr>
          <p:nvPr/>
        </p:nvPicPr>
        <p:blipFill>
          <a:blip r:embed="rId1"/>
          <a:stretch>
            <a:fillRect/>
          </a:stretch>
        </p:blipFill>
        <p:spPr>
          <a:xfrm>
            <a:off x="1374115" y="2404872"/>
            <a:ext cx="274320" cy="274320"/>
          </a:xfrm>
          <a:prstGeom prst="rect">
            <a:avLst/>
          </a:prstGeom>
        </p:spPr>
      </p:pic>
      <p:sp>
        <p:nvSpPr>
          <p:cNvPr id="12" name="Shape 9"/>
          <p:cNvSpPr/>
          <p:nvPr/>
        </p:nvSpPr>
        <p:spPr>
          <a:xfrm>
            <a:off x="685800" y="3127248"/>
            <a:ext cx="1650949" cy="2286000"/>
          </a:xfrm>
          <a:prstGeom prst="roundRect">
            <a:avLst>
              <a:gd name="adj" fmla="val 8862"/>
            </a:avLst>
          </a:prstGeom>
          <a:solidFill>
            <a:srgbClr val="0F3B2A"/>
          </a:solidFill>
          <a:ln/>
          <a:effectLst>
            <a:outerShdw sx="100000" sy="100000" kx="0" ky="0" algn="bl" rotWithShape="0" blurRad="177800" dist="38100" dir="5400000">
              <a:srgbClr val="0E1A15">
                <a:alpha val="10000"/>
              </a:srgbClr>
            </a:outerShdw>
          </a:effectLst>
        </p:spPr>
      </p:sp>
      <p:sp>
        <p:nvSpPr>
          <p:cNvPr id="13" name="Text 10"/>
          <p:cNvSpPr txBox="1"/>
          <p:nvPr/>
        </p:nvSpPr>
        <p:spPr>
          <a:xfrm>
            <a:off x="905256" y="3364992"/>
            <a:ext cx="1212037" cy="694944"/>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UI / UX Prototype</a:t>
            </a:r>
            <a:endParaRPr lang="en-US" sz="1400" dirty="0"/>
          </a:p>
        </p:txBody>
      </p:sp>
      <p:sp>
        <p:nvSpPr>
          <p:cNvPr id="14" name="Text 11"/>
          <p:cNvSpPr txBox="1"/>
          <p:nvPr/>
        </p:nvSpPr>
        <p:spPr>
          <a:xfrm>
            <a:off x="905256" y="4059936"/>
            <a:ext cx="1212037" cy="914400"/>
          </a:xfrm>
          <a:prstGeom prst="rect">
            <a:avLst/>
          </a:prstGeom>
          <a:noFill/>
          <a:ln/>
        </p:spPr>
        <p:txBody>
          <a:bodyPr wrap="square" lIns="0" tIns="0" rIns="0" bIns="0" rtlCol="0" anchor="ctr"/>
          <a:lstStyle/>
          <a:p>
            <a:pPr indent="0" marL="0">
              <a:lnSpc>
                <a:spcPct val="118000"/>
              </a:lnSpc>
              <a:buNone/>
            </a:pPr>
            <a:r>
              <a:rPr lang="en-US" sz="1050" dirty="0">
                <a:solidFill>
                  <a:srgbClr val="BCEBCE"/>
                </a:solidFill>
                <a:latin typeface="Calibri" pitchFamily="34" charset="0"/>
                <a:ea typeface="Calibri" pitchFamily="34" charset="-122"/>
                <a:cs typeface="Calibri" pitchFamily="34" charset="-120"/>
              </a:rPr>
              <a:t>Full mobile app on mock data, with the complete deposit journey.</a:t>
            </a:r>
            <a:endParaRPr lang="en-US" sz="1050" dirty="0"/>
          </a:p>
        </p:txBody>
      </p:sp>
      <p:sp>
        <p:nvSpPr>
          <p:cNvPr id="15" name="Shape 12"/>
          <p:cNvSpPr/>
          <p:nvPr/>
        </p:nvSpPr>
        <p:spPr>
          <a:xfrm>
            <a:off x="905256" y="4974336"/>
            <a:ext cx="960120" cy="256032"/>
          </a:xfrm>
          <a:prstGeom prst="roundRect">
            <a:avLst>
              <a:gd name="adj" fmla="val 50000"/>
            </a:avLst>
          </a:prstGeom>
          <a:solidFill>
            <a:srgbClr val="5BC98C"/>
          </a:solidFill>
          <a:ln/>
        </p:spPr>
      </p:sp>
      <p:sp>
        <p:nvSpPr>
          <p:cNvPr id="16" name="Text 13"/>
          <p:cNvSpPr txBox="1"/>
          <p:nvPr/>
        </p:nvSpPr>
        <p:spPr>
          <a:xfrm>
            <a:off x="905256" y="4974336"/>
            <a:ext cx="960120" cy="256032"/>
          </a:xfrm>
          <a:prstGeom prst="rect">
            <a:avLst/>
          </a:prstGeom>
          <a:noFill/>
          <a:ln/>
        </p:spPr>
        <p:txBody>
          <a:bodyPr wrap="square" lIns="0" tIns="0" rIns="0" bIns="0" rtlCol="0" anchor="ctr"/>
          <a:lstStyle/>
          <a:p>
            <a:pPr algn="ctr" indent="0" marL="0">
              <a:buNone/>
            </a:pPr>
            <a:r>
              <a:rPr lang="en-US" sz="850" b="1" spc="100" kern="0" dirty="0">
                <a:solidFill>
                  <a:srgbClr val="0F3B2A"/>
                </a:solidFill>
                <a:latin typeface="Calibri" pitchFamily="34" charset="0"/>
                <a:ea typeface="Calibri" pitchFamily="34" charset="-122"/>
                <a:cs typeface="Calibri" pitchFamily="34" charset="-120"/>
              </a:rPr>
              <a:t>COMPLETE</a:t>
            </a:r>
            <a:endParaRPr lang="en-US" sz="850" dirty="0"/>
          </a:p>
        </p:txBody>
      </p:sp>
      <p:sp>
        <p:nvSpPr>
          <p:cNvPr id="17" name="Text 14"/>
          <p:cNvSpPr txBox="1"/>
          <p:nvPr/>
        </p:nvSpPr>
        <p:spPr>
          <a:xfrm>
            <a:off x="2519629" y="1883664"/>
            <a:ext cx="1650949" cy="237744"/>
          </a:xfrm>
          <a:prstGeom prst="rect">
            <a:avLst/>
          </a:prstGeom>
          <a:noFill/>
          <a:ln/>
        </p:spPr>
        <p:txBody>
          <a:bodyPr wrap="square" lIns="0" tIns="0" rIns="0" bIns="0" rtlCol="0" anchor="ctr"/>
          <a:lstStyle/>
          <a:p>
            <a:pPr algn="ctr" indent="0" marL="0">
              <a:buNone/>
            </a:pPr>
            <a:r>
              <a:rPr lang="en-US" sz="950" b="1" spc="160" kern="0" dirty="0">
                <a:solidFill>
                  <a:srgbClr val="8A9993"/>
                </a:solidFill>
                <a:latin typeface="Calibri" pitchFamily="34" charset="0"/>
                <a:ea typeface="Calibri" pitchFamily="34" charset="-122"/>
                <a:cs typeface="Calibri" pitchFamily="34" charset="-120"/>
              </a:rPr>
              <a:t>PHASE 02</a:t>
            </a:r>
            <a:endParaRPr lang="en-US" sz="950" dirty="0"/>
          </a:p>
        </p:txBody>
      </p:sp>
      <p:sp>
        <p:nvSpPr>
          <p:cNvPr id="18" name="Shape 15"/>
          <p:cNvSpPr/>
          <p:nvPr/>
        </p:nvSpPr>
        <p:spPr>
          <a:xfrm>
            <a:off x="2997632" y="2194560"/>
            <a:ext cx="694944" cy="694944"/>
          </a:xfrm>
          <a:prstGeom prst="ellipse">
            <a:avLst/>
          </a:prstGeom>
          <a:solidFill>
            <a:srgbClr val="F5F7F6"/>
          </a:solidFill>
          <a:ln/>
        </p:spPr>
      </p:sp>
      <p:sp>
        <p:nvSpPr>
          <p:cNvPr id="19" name="Shape 16"/>
          <p:cNvSpPr/>
          <p:nvPr/>
        </p:nvSpPr>
        <p:spPr>
          <a:xfrm>
            <a:off x="3089072" y="2286000"/>
            <a:ext cx="512064" cy="512064"/>
          </a:xfrm>
          <a:prstGeom prst="ellipse">
            <a:avLst/>
          </a:prstGeom>
          <a:solidFill>
            <a:srgbClr val="FFFFFF"/>
          </a:solidFill>
          <a:ln w="17780">
            <a:solidFill>
              <a:srgbClr val="DFE5E2"/>
            </a:solidFill>
            <a:prstDash val="solid"/>
          </a:ln>
        </p:spPr>
      </p:sp>
      <p:sp>
        <p:nvSpPr>
          <p:cNvPr id="20" name="Text 17"/>
          <p:cNvSpPr txBox="1"/>
          <p:nvPr/>
        </p:nvSpPr>
        <p:spPr>
          <a:xfrm>
            <a:off x="3089072" y="2286000"/>
            <a:ext cx="512064" cy="512064"/>
          </a:xfrm>
          <a:prstGeom prst="rect">
            <a:avLst/>
          </a:prstGeom>
          <a:noFill/>
          <a:ln/>
        </p:spPr>
        <p:txBody>
          <a:bodyPr wrap="square" lIns="0" tIns="0" rIns="0" bIns="0" rtlCol="0" anchor="ctr"/>
          <a:lstStyle/>
          <a:p>
            <a:pPr algn="ctr" indent="0" marL="0">
              <a:buNone/>
            </a:pPr>
            <a:r>
              <a:rPr lang="en-US" sz="1300" b="1" dirty="0">
                <a:solidFill>
                  <a:srgbClr val="8A9993"/>
                </a:solidFill>
                <a:latin typeface="Calibri" pitchFamily="34" charset="0"/>
                <a:ea typeface="Calibri" pitchFamily="34" charset="-122"/>
                <a:cs typeface="Calibri" pitchFamily="34" charset="-120"/>
              </a:rPr>
              <a:t>2</a:t>
            </a:r>
            <a:endParaRPr lang="en-US" sz="1300" dirty="0"/>
          </a:p>
        </p:txBody>
      </p:sp>
      <p:sp>
        <p:nvSpPr>
          <p:cNvPr id="21" name="Shape 18"/>
          <p:cNvSpPr/>
          <p:nvPr/>
        </p:nvSpPr>
        <p:spPr>
          <a:xfrm>
            <a:off x="2519629" y="3127248"/>
            <a:ext cx="1650949" cy="2286000"/>
          </a:xfrm>
          <a:prstGeom prst="roundRect">
            <a:avLst>
              <a:gd name="adj" fmla="val 886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22" name="Text 19"/>
          <p:cNvSpPr txBox="1"/>
          <p:nvPr/>
        </p:nvSpPr>
        <p:spPr>
          <a:xfrm>
            <a:off x="2739085" y="3364992"/>
            <a:ext cx="1212037" cy="694944"/>
          </a:xfrm>
          <a:prstGeom prst="rect">
            <a:avLst/>
          </a:prstGeom>
          <a:noFill/>
          <a:ln/>
        </p:spPr>
        <p:txBody>
          <a:bodyPr wrap="square" lIns="0" tIns="0" rIns="0" bIns="0" rtlCol="0" anchor="ctr"/>
          <a:lstStyle/>
          <a:p>
            <a:pPr indent="0" marL="0">
              <a:lnSpc>
                <a:spcPct val="105000"/>
              </a:lnSpc>
              <a:buNone/>
            </a:pPr>
            <a:r>
              <a:rPr lang="en-US" sz="1400" b="1" dirty="0">
                <a:solidFill>
                  <a:srgbClr val="0E1A15"/>
                </a:solidFill>
                <a:latin typeface="Calibri" pitchFamily="34" charset="0"/>
                <a:ea typeface="Calibri" pitchFamily="34" charset="-122"/>
                <a:cs typeface="Calibri" pitchFamily="34" charset="-120"/>
              </a:rPr>
              <a:t>AI Integration</a:t>
            </a:r>
            <a:endParaRPr lang="en-US" sz="1400" dirty="0"/>
          </a:p>
        </p:txBody>
      </p:sp>
      <p:sp>
        <p:nvSpPr>
          <p:cNvPr id="23" name="Text 20"/>
          <p:cNvSpPr txBox="1"/>
          <p:nvPr/>
        </p:nvSpPr>
        <p:spPr>
          <a:xfrm>
            <a:off x="2739085" y="4059936"/>
            <a:ext cx="1212037" cy="914400"/>
          </a:xfrm>
          <a:prstGeom prst="rect">
            <a:avLst/>
          </a:prstGeom>
          <a:noFill/>
          <a:ln/>
        </p:spPr>
        <p:txBody>
          <a:bodyPr wrap="square" lIns="0" tIns="0" rIns="0" bIns="0" rtlCol="0" anchor="ctr"/>
          <a:lstStyle/>
          <a:p>
            <a:pPr indent="0" marL="0">
              <a:lnSpc>
                <a:spcPct val="118000"/>
              </a:lnSpc>
              <a:buNone/>
            </a:pPr>
            <a:r>
              <a:rPr lang="en-US" sz="1050" dirty="0">
                <a:solidFill>
                  <a:srgbClr val="5C6B64"/>
                </a:solidFill>
                <a:latin typeface="Calibri" pitchFamily="34" charset="0"/>
                <a:ea typeface="Calibri" pitchFamily="34" charset="-122"/>
                <a:cs typeface="Calibri" pitchFamily="34" charset="-120"/>
              </a:rPr>
              <a:t>A hosted vision model returns real waste classifications.</a:t>
            </a:r>
            <a:endParaRPr lang="en-US" sz="1050" dirty="0"/>
          </a:p>
        </p:txBody>
      </p:sp>
      <p:sp>
        <p:nvSpPr>
          <p:cNvPr id="24" name="Shape 21"/>
          <p:cNvSpPr/>
          <p:nvPr/>
        </p:nvSpPr>
        <p:spPr>
          <a:xfrm>
            <a:off x="2739085" y="4974336"/>
            <a:ext cx="960120" cy="256032"/>
          </a:xfrm>
          <a:prstGeom prst="roundRect">
            <a:avLst>
              <a:gd name="adj" fmla="val 50000"/>
            </a:avLst>
          </a:prstGeom>
          <a:solidFill>
            <a:srgbClr val="EDF1EF"/>
          </a:solidFill>
          <a:ln/>
        </p:spPr>
      </p:sp>
      <p:sp>
        <p:nvSpPr>
          <p:cNvPr id="25" name="Text 22"/>
          <p:cNvSpPr txBox="1"/>
          <p:nvPr/>
        </p:nvSpPr>
        <p:spPr>
          <a:xfrm>
            <a:off x="2739085" y="4974336"/>
            <a:ext cx="960120" cy="256032"/>
          </a:xfrm>
          <a:prstGeom prst="rect">
            <a:avLst/>
          </a:prstGeom>
          <a:noFill/>
          <a:ln/>
        </p:spPr>
        <p:txBody>
          <a:bodyPr wrap="square" lIns="0" tIns="0" rIns="0" bIns="0" rtlCol="0" anchor="ctr"/>
          <a:lstStyle/>
          <a:p>
            <a:pPr algn="ctr" indent="0" marL="0">
              <a:buNone/>
            </a:pPr>
            <a:r>
              <a:rPr lang="en-US" sz="850" b="1" spc="100" kern="0" dirty="0">
                <a:solidFill>
                  <a:srgbClr val="8A9993"/>
                </a:solidFill>
                <a:latin typeface="Calibri" pitchFamily="34" charset="0"/>
                <a:ea typeface="Calibri" pitchFamily="34" charset="-122"/>
                <a:cs typeface="Calibri" pitchFamily="34" charset="-120"/>
              </a:rPr>
              <a:t>PLANNED</a:t>
            </a:r>
            <a:endParaRPr lang="en-US" sz="850" dirty="0"/>
          </a:p>
        </p:txBody>
      </p:sp>
      <p:sp>
        <p:nvSpPr>
          <p:cNvPr id="26" name="Text 23"/>
          <p:cNvSpPr txBox="1"/>
          <p:nvPr/>
        </p:nvSpPr>
        <p:spPr>
          <a:xfrm>
            <a:off x="4353458" y="1883664"/>
            <a:ext cx="1650949" cy="237744"/>
          </a:xfrm>
          <a:prstGeom prst="rect">
            <a:avLst/>
          </a:prstGeom>
          <a:noFill/>
          <a:ln/>
        </p:spPr>
        <p:txBody>
          <a:bodyPr wrap="square" lIns="0" tIns="0" rIns="0" bIns="0" rtlCol="0" anchor="ctr"/>
          <a:lstStyle/>
          <a:p>
            <a:pPr algn="ctr" indent="0" marL="0">
              <a:buNone/>
            </a:pPr>
            <a:r>
              <a:rPr lang="en-US" sz="950" b="1" spc="160" kern="0" dirty="0">
                <a:solidFill>
                  <a:srgbClr val="8A9993"/>
                </a:solidFill>
                <a:latin typeface="Calibri" pitchFamily="34" charset="0"/>
                <a:ea typeface="Calibri" pitchFamily="34" charset="-122"/>
                <a:cs typeface="Calibri" pitchFamily="34" charset="-120"/>
              </a:rPr>
              <a:t>PHASE 03</a:t>
            </a:r>
            <a:endParaRPr lang="en-US" sz="950" dirty="0"/>
          </a:p>
        </p:txBody>
      </p:sp>
      <p:sp>
        <p:nvSpPr>
          <p:cNvPr id="27" name="Shape 24"/>
          <p:cNvSpPr/>
          <p:nvPr/>
        </p:nvSpPr>
        <p:spPr>
          <a:xfrm>
            <a:off x="4831461" y="2194560"/>
            <a:ext cx="694944" cy="694944"/>
          </a:xfrm>
          <a:prstGeom prst="ellipse">
            <a:avLst/>
          </a:prstGeom>
          <a:solidFill>
            <a:srgbClr val="F5F7F6"/>
          </a:solidFill>
          <a:ln/>
        </p:spPr>
      </p:sp>
      <p:sp>
        <p:nvSpPr>
          <p:cNvPr id="28" name="Shape 25"/>
          <p:cNvSpPr/>
          <p:nvPr/>
        </p:nvSpPr>
        <p:spPr>
          <a:xfrm>
            <a:off x="4922901" y="2286000"/>
            <a:ext cx="512064" cy="512064"/>
          </a:xfrm>
          <a:prstGeom prst="ellipse">
            <a:avLst/>
          </a:prstGeom>
          <a:solidFill>
            <a:srgbClr val="FFFFFF"/>
          </a:solidFill>
          <a:ln w="17780">
            <a:solidFill>
              <a:srgbClr val="DFE5E2"/>
            </a:solidFill>
            <a:prstDash val="solid"/>
          </a:ln>
        </p:spPr>
      </p:sp>
      <p:sp>
        <p:nvSpPr>
          <p:cNvPr id="29" name="Text 26"/>
          <p:cNvSpPr txBox="1"/>
          <p:nvPr/>
        </p:nvSpPr>
        <p:spPr>
          <a:xfrm>
            <a:off x="4922901" y="2286000"/>
            <a:ext cx="512064" cy="512064"/>
          </a:xfrm>
          <a:prstGeom prst="rect">
            <a:avLst/>
          </a:prstGeom>
          <a:noFill/>
          <a:ln/>
        </p:spPr>
        <p:txBody>
          <a:bodyPr wrap="square" lIns="0" tIns="0" rIns="0" bIns="0" rtlCol="0" anchor="ctr"/>
          <a:lstStyle/>
          <a:p>
            <a:pPr algn="ctr" indent="0" marL="0">
              <a:buNone/>
            </a:pPr>
            <a:r>
              <a:rPr lang="en-US" sz="1300" b="1" dirty="0">
                <a:solidFill>
                  <a:srgbClr val="8A9993"/>
                </a:solidFill>
                <a:latin typeface="Calibri" pitchFamily="34" charset="0"/>
                <a:ea typeface="Calibri" pitchFamily="34" charset="-122"/>
                <a:cs typeface="Calibri" pitchFamily="34" charset="-120"/>
              </a:rPr>
              <a:t>3</a:t>
            </a:r>
            <a:endParaRPr lang="en-US" sz="1300" dirty="0"/>
          </a:p>
        </p:txBody>
      </p:sp>
      <p:sp>
        <p:nvSpPr>
          <p:cNvPr id="30" name="Shape 27"/>
          <p:cNvSpPr/>
          <p:nvPr/>
        </p:nvSpPr>
        <p:spPr>
          <a:xfrm>
            <a:off x="4353458" y="3127248"/>
            <a:ext cx="1650949" cy="2286000"/>
          </a:xfrm>
          <a:prstGeom prst="roundRect">
            <a:avLst>
              <a:gd name="adj" fmla="val 886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31" name="Text 28"/>
          <p:cNvSpPr txBox="1"/>
          <p:nvPr/>
        </p:nvSpPr>
        <p:spPr>
          <a:xfrm>
            <a:off x="4572914" y="3364992"/>
            <a:ext cx="1212037" cy="694944"/>
          </a:xfrm>
          <a:prstGeom prst="rect">
            <a:avLst/>
          </a:prstGeom>
          <a:noFill/>
          <a:ln/>
        </p:spPr>
        <p:txBody>
          <a:bodyPr wrap="square" lIns="0" tIns="0" rIns="0" bIns="0" rtlCol="0" anchor="ctr"/>
          <a:lstStyle/>
          <a:p>
            <a:pPr indent="0" marL="0">
              <a:lnSpc>
                <a:spcPct val="105000"/>
              </a:lnSpc>
              <a:buNone/>
            </a:pPr>
            <a:r>
              <a:rPr lang="en-US" sz="1400" b="1" dirty="0">
                <a:solidFill>
                  <a:srgbClr val="0E1A15"/>
                </a:solidFill>
                <a:latin typeface="Calibri" pitchFamily="34" charset="0"/>
                <a:ea typeface="Calibri" pitchFamily="34" charset="-122"/>
                <a:cs typeface="Calibri" pitchFamily="34" charset="-120"/>
              </a:rPr>
              <a:t>Backend + Database</a:t>
            </a:r>
            <a:endParaRPr lang="en-US" sz="1400" dirty="0"/>
          </a:p>
        </p:txBody>
      </p:sp>
      <p:sp>
        <p:nvSpPr>
          <p:cNvPr id="32" name="Text 29"/>
          <p:cNvSpPr txBox="1"/>
          <p:nvPr/>
        </p:nvSpPr>
        <p:spPr>
          <a:xfrm>
            <a:off x="4572914" y="4059936"/>
            <a:ext cx="1212037" cy="914400"/>
          </a:xfrm>
          <a:prstGeom prst="rect">
            <a:avLst/>
          </a:prstGeom>
          <a:noFill/>
          <a:ln/>
        </p:spPr>
        <p:txBody>
          <a:bodyPr wrap="square" lIns="0" tIns="0" rIns="0" bIns="0" rtlCol="0" anchor="ctr"/>
          <a:lstStyle/>
          <a:p>
            <a:pPr indent="0" marL="0">
              <a:lnSpc>
                <a:spcPct val="118000"/>
              </a:lnSpc>
              <a:buNone/>
            </a:pPr>
            <a:r>
              <a:rPr lang="en-US" sz="1050" dirty="0">
                <a:solidFill>
                  <a:srgbClr val="5C6B64"/>
                </a:solidFill>
                <a:latin typeface="Calibri" pitchFamily="34" charset="0"/>
                <a:ea typeface="Calibri" pitchFamily="34" charset="-122"/>
                <a:cs typeface="Calibri" pitchFamily="34" charset="-120"/>
              </a:rPr>
              <a:t>Accounts, transactions and rewards persisted server-side.</a:t>
            </a:r>
            <a:endParaRPr lang="en-US" sz="1050" dirty="0"/>
          </a:p>
        </p:txBody>
      </p:sp>
      <p:sp>
        <p:nvSpPr>
          <p:cNvPr id="33" name="Shape 30"/>
          <p:cNvSpPr/>
          <p:nvPr/>
        </p:nvSpPr>
        <p:spPr>
          <a:xfrm>
            <a:off x="4572914" y="4974336"/>
            <a:ext cx="960120" cy="256032"/>
          </a:xfrm>
          <a:prstGeom prst="roundRect">
            <a:avLst>
              <a:gd name="adj" fmla="val 50000"/>
            </a:avLst>
          </a:prstGeom>
          <a:solidFill>
            <a:srgbClr val="EDF1EF"/>
          </a:solidFill>
          <a:ln/>
        </p:spPr>
      </p:sp>
      <p:sp>
        <p:nvSpPr>
          <p:cNvPr id="34" name="Text 31"/>
          <p:cNvSpPr txBox="1"/>
          <p:nvPr/>
        </p:nvSpPr>
        <p:spPr>
          <a:xfrm>
            <a:off x="4572914" y="4974336"/>
            <a:ext cx="960120" cy="256032"/>
          </a:xfrm>
          <a:prstGeom prst="rect">
            <a:avLst/>
          </a:prstGeom>
          <a:noFill/>
          <a:ln/>
        </p:spPr>
        <p:txBody>
          <a:bodyPr wrap="square" lIns="0" tIns="0" rIns="0" bIns="0" rtlCol="0" anchor="ctr"/>
          <a:lstStyle/>
          <a:p>
            <a:pPr algn="ctr" indent="0" marL="0">
              <a:buNone/>
            </a:pPr>
            <a:r>
              <a:rPr lang="en-US" sz="850" b="1" spc="100" kern="0" dirty="0">
                <a:solidFill>
                  <a:srgbClr val="8A9993"/>
                </a:solidFill>
                <a:latin typeface="Calibri" pitchFamily="34" charset="0"/>
                <a:ea typeface="Calibri" pitchFamily="34" charset="-122"/>
                <a:cs typeface="Calibri" pitchFamily="34" charset="-120"/>
              </a:rPr>
              <a:t>PLANNED</a:t>
            </a:r>
            <a:endParaRPr lang="en-US" sz="850" dirty="0"/>
          </a:p>
        </p:txBody>
      </p:sp>
      <p:sp>
        <p:nvSpPr>
          <p:cNvPr id="35" name="Text 32"/>
          <p:cNvSpPr txBox="1"/>
          <p:nvPr/>
        </p:nvSpPr>
        <p:spPr>
          <a:xfrm>
            <a:off x="6187288" y="1883664"/>
            <a:ext cx="1650949" cy="237744"/>
          </a:xfrm>
          <a:prstGeom prst="rect">
            <a:avLst/>
          </a:prstGeom>
          <a:noFill/>
          <a:ln/>
        </p:spPr>
        <p:txBody>
          <a:bodyPr wrap="square" lIns="0" tIns="0" rIns="0" bIns="0" rtlCol="0" anchor="ctr"/>
          <a:lstStyle/>
          <a:p>
            <a:pPr algn="ctr" indent="0" marL="0">
              <a:buNone/>
            </a:pPr>
            <a:r>
              <a:rPr lang="en-US" sz="950" b="1" spc="160" kern="0" dirty="0">
                <a:solidFill>
                  <a:srgbClr val="8A9993"/>
                </a:solidFill>
                <a:latin typeface="Calibri" pitchFamily="34" charset="0"/>
                <a:ea typeface="Calibri" pitchFamily="34" charset="-122"/>
                <a:cs typeface="Calibri" pitchFamily="34" charset="-120"/>
              </a:rPr>
              <a:t>PHASE 04</a:t>
            </a:r>
            <a:endParaRPr lang="en-US" sz="950" dirty="0"/>
          </a:p>
        </p:txBody>
      </p:sp>
      <p:sp>
        <p:nvSpPr>
          <p:cNvPr id="36" name="Shape 33"/>
          <p:cNvSpPr/>
          <p:nvPr/>
        </p:nvSpPr>
        <p:spPr>
          <a:xfrm>
            <a:off x="6665290" y="2194560"/>
            <a:ext cx="694944" cy="694944"/>
          </a:xfrm>
          <a:prstGeom prst="ellipse">
            <a:avLst/>
          </a:prstGeom>
          <a:solidFill>
            <a:srgbClr val="F5F7F6"/>
          </a:solidFill>
          <a:ln/>
        </p:spPr>
      </p:sp>
      <p:sp>
        <p:nvSpPr>
          <p:cNvPr id="37" name="Shape 34"/>
          <p:cNvSpPr/>
          <p:nvPr/>
        </p:nvSpPr>
        <p:spPr>
          <a:xfrm>
            <a:off x="6756730" y="2286000"/>
            <a:ext cx="512064" cy="512064"/>
          </a:xfrm>
          <a:prstGeom prst="ellipse">
            <a:avLst/>
          </a:prstGeom>
          <a:solidFill>
            <a:srgbClr val="FFFFFF"/>
          </a:solidFill>
          <a:ln w="17780">
            <a:solidFill>
              <a:srgbClr val="DFE5E2"/>
            </a:solidFill>
            <a:prstDash val="solid"/>
          </a:ln>
        </p:spPr>
      </p:sp>
      <p:sp>
        <p:nvSpPr>
          <p:cNvPr id="38" name="Text 35"/>
          <p:cNvSpPr txBox="1"/>
          <p:nvPr/>
        </p:nvSpPr>
        <p:spPr>
          <a:xfrm>
            <a:off x="6756730" y="2286000"/>
            <a:ext cx="512064" cy="512064"/>
          </a:xfrm>
          <a:prstGeom prst="rect">
            <a:avLst/>
          </a:prstGeom>
          <a:noFill/>
          <a:ln/>
        </p:spPr>
        <p:txBody>
          <a:bodyPr wrap="square" lIns="0" tIns="0" rIns="0" bIns="0" rtlCol="0" anchor="ctr"/>
          <a:lstStyle/>
          <a:p>
            <a:pPr algn="ctr" indent="0" marL="0">
              <a:buNone/>
            </a:pPr>
            <a:r>
              <a:rPr lang="en-US" sz="1300" b="1" dirty="0">
                <a:solidFill>
                  <a:srgbClr val="8A9993"/>
                </a:solidFill>
                <a:latin typeface="Calibri" pitchFamily="34" charset="0"/>
                <a:ea typeface="Calibri" pitchFamily="34" charset="-122"/>
                <a:cs typeface="Calibri" pitchFamily="34" charset="-120"/>
              </a:rPr>
              <a:t>4</a:t>
            </a:r>
            <a:endParaRPr lang="en-US" sz="1300" dirty="0"/>
          </a:p>
        </p:txBody>
      </p:sp>
      <p:sp>
        <p:nvSpPr>
          <p:cNvPr id="39" name="Shape 36"/>
          <p:cNvSpPr/>
          <p:nvPr/>
        </p:nvSpPr>
        <p:spPr>
          <a:xfrm>
            <a:off x="6187288" y="3127248"/>
            <a:ext cx="1650949" cy="2286000"/>
          </a:xfrm>
          <a:prstGeom prst="roundRect">
            <a:avLst>
              <a:gd name="adj" fmla="val 886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40" name="Text 37"/>
          <p:cNvSpPr txBox="1"/>
          <p:nvPr/>
        </p:nvSpPr>
        <p:spPr>
          <a:xfrm>
            <a:off x="6406744" y="3364992"/>
            <a:ext cx="1212037" cy="694944"/>
          </a:xfrm>
          <a:prstGeom prst="rect">
            <a:avLst/>
          </a:prstGeom>
          <a:noFill/>
          <a:ln/>
        </p:spPr>
        <p:txBody>
          <a:bodyPr wrap="square" lIns="0" tIns="0" rIns="0" bIns="0" rtlCol="0" anchor="ctr"/>
          <a:lstStyle/>
          <a:p>
            <a:pPr indent="0" marL="0">
              <a:lnSpc>
                <a:spcPct val="105000"/>
              </a:lnSpc>
              <a:buNone/>
            </a:pPr>
            <a:r>
              <a:rPr lang="en-US" sz="1400" b="1" dirty="0">
                <a:solidFill>
                  <a:srgbClr val="0E1A15"/>
                </a:solidFill>
                <a:latin typeface="Calibri" pitchFamily="34" charset="0"/>
                <a:ea typeface="Calibri" pitchFamily="34" charset="-122"/>
                <a:cs typeface="Calibri" pitchFamily="34" charset="-120"/>
              </a:rPr>
              <a:t>ESP32 + RFID + Sensors</a:t>
            </a:r>
            <a:endParaRPr lang="en-US" sz="1400" dirty="0"/>
          </a:p>
        </p:txBody>
      </p:sp>
      <p:sp>
        <p:nvSpPr>
          <p:cNvPr id="41" name="Text 38"/>
          <p:cNvSpPr txBox="1"/>
          <p:nvPr/>
        </p:nvSpPr>
        <p:spPr>
          <a:xfrm>
            <a:off x="6406744" y="4059936"/>
            <a:ext cx="1212037" cy="914400"/>
          </a:xfrm>
          <a:prstGeom prst="rect">
            <a:avLst/>
          </a:prstGeom>
          <a:noFill/>
          <a:ln/>
        </p:spPr>
        <p:txBody>
          <a:bodyPr wrap="square" lIns="0" tIns="0" rIns="0" bIns="0" rtlCol="0" anchor="ctr"/>
          <a:lstStyle/>
          <a:p>
            <a:pPr indent="0" marL="0">
              <a:lnSpc>
                <a:spcPct val="118000"/>
              </a:lnSpc>
              <a:buNone/>
            </a:pPr>
            <a:r>
              <a:rPr lang="en-US" sz="1050" dirty="0">
                <a:solidFill>
                  <a:srgbClr val="5C6B64"/>
                </a:solidFill>
                <a:latin typeface="Calibri" pitchFamily="34" charset="0"/>
                <a:ea typeface="Calibri" pitchFamily="34" charset="-122"/>
                <a:cs typeface="Calibri" pitchFamily="34" charset="-120"/>
              </a:rPr>
              <a:t>Real identification, weight and fill-level readings.</a:t>
            </a:r>
            <a:endParaRPr lang="en-US" sz="1050" dirty="0"/>
          </a:p>
        </p:txBody>
      </p:sp>
      <p:sp>
        <p:nvSpPr>
          <p:cNvPr id="42" name="Shape 39"/>
          <p:cNvSpPr/>
          <p:nvPr/>
        </p:nvSpPr>
        <p:spPr>
          <a:xfrm>
            <a:off x="6406744" y="4974336"/>
            <a:ext cx="960120" cy="256032"/>
          </a:xfrm>
          <a:prstGeom prst="roundRect">
            <a:avLst>
              <a:gd name="adj" fmla="val 50000"/>
            </a:avLst>
          </a:prstGeom>
          <a:solidFill>
            <a:srgbClr val="EDF1EF"/>
          </a:solidFill>
          <a:ln/>
        </p:spPr>
      </p:sp>
      <p:sp>
        <p:nvSpPr>
          <p:cNvPr id="43" name="Text 40"/>
          <p:cNvSpPr txBox="1"/>
          <p:nvPr/>
        </p:nvSpPr>
        <p:spPr>
          <a:xfrm>
            <a:off x="6406744" y="4974336"/>
            <a:ext cx="960120" cy="256032"/>
          </a:xfrm>
          <a:prstGeom prst="rect">
            <a:avLst/>
          </a:prstGeom>
          <a:noFill/>
          <a:ln/>
        </p:spPr>
        <p:txBody>
          <a:bodyPr wrap="square" lIns="0" tIns="0" rIns="0" bIns="0" rtlCol="0" anchor="ctr"/>
          <a:lstStyle/>
          <a:p>
            <a:pPr algn="ctr" indent="0" marL="0">
              <a:buNone/>
            </a:pPr>
            <a:r>
              <a:rPr lang="en-US" sz="850" b="1" spc="100" kern="0" dirty="0">
                <a:solidFill>
                  <a:srgbClr val="8A9993"/>
                </a:solidFill>
                <a:latin typeface="Calibri" pitchFamily="34" charset="0"/>
                <a:ea typeface="Calibri" pitchFamily="34" charset="-122"/>
                <a:cs typeface="Calibri" pitchFamily="34" charset="-120"/>
              </a:rPr>
              <a:t>PLANNED</a:t>
            </a:r>
            <a:endParaRPr lang="en-US" sz="850" dirty="0"/>
          </a:p>
        </p:txBody>
      </p:sp>
      <p:sp>
        <p:nvSpPr>
          <p:cNvPr id="44" name="Text 41"/>
          <p:cNvSpPr txBox="1"/>
          <p:nvPr/>
        </p:nvSpPr>
        <p:spPr>
          <a:xfrm>
            <a:off x="8021117" y="1883664"/>
            <a:ext cx="1650949" cy="237744"/>
          </a:xfrm>
          <a:prstGeom prst="rect">
            <a:avLst/>
          </a:prstGeom>
          <a:noFill/>
          <a:ln/>
        </p:spPr>
        <p:txBody>
          <a:bodyPr wrap="square" lIns="0" tIns="0" rIns="0" bIns="0" rtlCol="0" anchor="ctr"/>
          <a:lstStyle/>
          <a:p>
            <a:pPr algn="ctr" indent="0" marL="0">
              <a:buNone/>
            </a:pPr>
            <a:r>
              <a:rPr lang="en-US" sz="950" b="1" spc="160" kern="0" dirty="0">
                <a:solidFill>
                  <a:srgbClr val="8A9993"/>
                </a:solidFill>
                <a:latin typeface="Calibri" pitchFamily="34" charset="0"/>
                <a:ea typeface="Calibri" pitchFamily="34" charset="-122"/>
                <a:cs typeface="Calibri" pitchFamily="34" charset="-120"/>
              </a:rPr>
              <a:t>PHASE 05</a:t>
            </a:r>
            <a:endParaRPr lang="en-US" sz="950" dirty="0"/>
          </a:p>
        </p:txBody>
      </p:sp>
      <p:sp>
        <p:nvSpPr>
          <p:cNvPr id="45" name="Shape 42"/>
          <p:cNvSpPr/>
          <p:nvPr/>
        </p:nvSpPr>
        <p:spPr>
          <a:xfrm>
            <a:off x="8499119" y="2194560"/>
            <a:ext cx="694944" cy="694944"/>
          </a:xfrm>
          <a:prstGeom prst="ellipse">
            <a:avLst/>
          </a:prstGeom>
          <a:solidFill>
            <a:srgbClr val="F5F7F6"/>
          </a:solidFill>
          <a:ln/>
        </p:spPr>
      </p:sp>
      <p:sp>
        <p:nvSpPr>
          <p:cNvPr id="46" name="Shape 43"/>
          <p:cNvSpPr/>
          <p:nvPr/>
        </p:nvSpPr>
        <p:spPr>
          <a:xfrm>
            <a:off x="8590559" y="2286000"/>
            <a:ext cx="512064" cy="512064"/>
          </a:xfrm>
          <a:prstGeom prst="ellipse">
            <a:avLst/>
          </a:prstGeom>
          <a:solidFill>
            <a:srgbClr val="FFFFFF"/>
          </a:solidFill>
          <a:ln w="17780">
            <a:solidFill>
              <a:srgbClr val="DFE5E2"/>
            </a:solidFill>
            <a:prstDash val="solid"/>
          </a:ln>
        </p:spPr>
      </p:sp>
      <p:sp>
        <p:nvSpPr>
          <p:cNvPr id="47" name="Text 44"/>
          <p:cNvSpPr txBox="1"/>
          <p:nvPr/>
        </p:nvSpPr>
        <p:spPr>
          <a:xfrm>
            <a:off x="8590559" y="2286000"/>
            <a:ext cx="512064" cy="512064"/>
          </a:xfrm>
          <a:prstGeom prst="rect">
            <a:avLst/>
          </a:prstGeom>
          <a:noFill/>
          <a:ln/>
        </p:spPr>
        <p:txBody>
          <a:bodyPr wrap="square" lIns="0" tIns="0" rIns="0" bIns="0" rtlCol="0" anchor="ctr"/>
          <a:lstStyle/>
          <a:p>
            <a:pPr algn="ctr" indent="0" marL="0">
              <a:buNone/>
            </a:pPr>
            <a:r>
              <a:rPr lang="en-US" sz="1300" b="1" dirty="0">
                <a:solidFill>
                  <a:srgbClr val="8A9993"/>
                </a:solidFill>
                <a:latin typeface="Calibri" pitchFamily="34" charset="0"/>
                <a:ea typeface="Calibri" pitchFamily="34" charset="-122"/>
                <a:cs typeface="Calibri" pitchFamily="34" charset="-120"/>
              </a:rPr>
              <a:t>5</a:t>
            </a:r>
            <a:endParaRPr lang="en-US" sz="1300" dirty="0"/>
          </a:p>
        </p:txBody>
      </p:sp>
      <p:sp>
        <p:nvSpPr>
          <p:cNvPr id="48" name="Shape 45"/>
          <p:cNvSpPr/>
          <p:nvPr/>
        </p:nvSpPr>
        <p:spPr>
          <a:xfrm>
            <a:off x="8021117" y="3127248"/>
            <a:ext cx="1650949" cy="2286000"/>
          </a:xfrm>
          <a:prstGeom prst="roundRect">
            <a:avLst>
              <a:gd name="adj" fmla="val 886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49" name="Text 46"/>
          <p:cNvSpPr txBox="1"/>
          <p:nvPr/>
        </p:nvSpPr>
        <p:spPr>
          <a:xfrm>
            <a:off x="8240573" y="3364992"/>
            <a:ext cx="1212037" cy="694944"/>
          </a:xfrm>
          <a:prstGeom prst="rect">
            <a:avLst/>
          </a:prstGeom>
          <a:noFill/>
          <a:ln/>
        </p:spPr>
        <p:txBody>
          <a:bodyPr wrap="square" lIns="0" tIns="0" rIns="0" bIns="0" rtlCol="0" anchor="ctr"/>
          <a:lstStyle/>
          <a:p>
            <a:pPr indent="0" marL="0">
              <a:lnSpc>
                <a:spcPct val="105000"/>
              </a:lnSpc>
              <a:buNone/>
            </a:pPr>
            <a:r>
              <a:rPr lang="en-US" sz="1400" b="1" dirty="0">
                <a:solidFill>
                  <a:srgbClr val="0E1A15"/>
                </a:solidFill>
                <a:latin typeface="Calibri" pitchFamily="34" charset="0"/>
                <a:ea typeface="Calibri" pitchFamily="34" charset="-122"/>
                <a:cs typeface="Calibri" pitchFamily="34" charset="-120"/>
              </a:rPr>
              <a:t>Waste Processing Rig</a:t>
            </a:r>
            <a:endParaRPr lang="en-US" sz="1400" dirty="0"/>
          </a:p>
        </p:txBody>
      </p:sp>
      <p:sp>
        <p:nvSpPr>
          <p:cNvPr id="50" name="Text 47"/>
          <p:cNvSpPr txBox="1"/>
          <p:nvPr/>
        </p:nvSpPr>
        <p:spPr>
          <a:xfrm>
            <a:off x="8240573" y="4059936"/>
            <a:ext cx="1212037" cy="914400"/>
          </a:xfrm>
          <a:prstGeom prst="rect">
            <a:avLst/>
          </a:prstGeom>
          <a:noFill/>
          <a:ln/>
        </p:spPr>
        <p:txBody>
          <a:bodyPr wrap="square" lIns="0" tIns="0" rIns="0" bIns="0" rtlCol="0" anchor="ctr"/>
          <a:lstStyle/>
          <a:p>
            <a:pPr indent="0" marL="0">
              <a:lnSpc>
                <a:spcPct val="118000"/>
              </a:lnSpc>
              <a:buNone/>
            </a:pPr>
            <a:r>
              <a:rPr lang="en-US" sz="1050" dirty="0">
                <a:solidFill>
                  <a:srgbClr val="5C6B64"/>
                </a:solidFill>
                <a:latin typeface="Calibri" pitchFamily="34" charset="0"/>
                <a:ea typeface="Calibri" pitchFamily="34" charset="-122"/>
                <a:cs typeface="Calibri" pitchFamily="34" charset="-120"/>
              </a:rPr>
              <a:t>A physical prototype that sorts and processes the waste.</a:t>
            </a:r>
            <a:endParaRPr lang="en-US" sz="1050" dirty="0"/>
          </a:p>
        </p:txBody>
      </p:sp>
      <p:sp>
        <p:nvSpPr>
          <p:cNvPr id="51" name="Shape 48"/>
          <p:cNvSpPr/>
          <p:nvPr/>
        </p:nvSpPr>
        <p:spPr>
          <a:xfrm>
            <a:off x="8240573" y="4974336"/>
            <a:ext cx="960120" cy="256032"/>
          </a:xfrm>
          <a:prstGeom prst="roundRect">
            <a:avLst>
              <a:gd name="adj" fmla="val 50000"/>
            </a:avLst>
          </a:prstGeom>
          <a:solidFill>
            <a:srgbClr val="EDF1EF"/>
          </a:solidFill>
          <a:ln/>
        </p:spPr>
      </p:sp>
      <p:sp>
        <p:nvSpPr>
          <p:cNvPr id="52" name="Text 49"/>
          <p:cNvSpPr txBox="1"/>
          <p:nvPr/>
        </p:nvSpPr>
        <p:spPr>
          <a:xfrm>
            <a:off x="8240573" y="4974336"/>
            <a:ext cx="960120" cy="256032"/>
          </a:xfrm>
          <a:prstGeom prst="rect">
            <a:avLst/>
          </a:prstGeom>
          <a:noFill/>
          <a:ln/>
        </p:spPr>
        <p:txBody>
          <a:bodyPr wrap="square" lIns="0" tIns="0" rIns="0" bIns="0" rtlCol="0" anchor="ctr"/>
          <a:lstStyle/>
          <a:p>
            <a:pPr algn="ctr" indent="0" marL="0">
              <a:buNone/>
            </a:pPr>
            <a:r>
              <a:rPr lang="en-US" sz="850" b="1" spc="100" kern="0" dirty="0">
                <a:solidFill>
                  <a:srgbClr val="8A9993"/>
                </a:solidFill>
                <a:latin typeface="Calibri" pitchFamily="34" charset="0"/>
                <a:ea typeface="Calibri" pitchFamily="34" charset="-122"/>
                <a:cs typeface="Calibri" pitchFamily="34" charset="-120"/>
              </a:rPr>
              <a:t>PLANNED</a:t>
            </a:r>
            <a:endParaRPr lang="en-US" sz="850" dirty="0"/>
          </a:p>
        </p:txBody>
      </p:sp>
      <p:sp>
        <p:nvSpPr>
          <p:cNvPr id="53" name="Text 50"/>
          <p:cNvSpPr txBox="1"/>
          <p:nvPr/>
        </p:nvSpPr>
        <p:spPr>
          <a:xfrm>
            <a:off x="9854946" y="1883664"/>
            <a:ext cx="1650949" cy="237744"/>
          </a:xfrm>
          <a:prstGeom prst="rect">
            <a:avLst/>
          </a:prstGeom>
          <a:noFill/>
          <a:ln/>
        </p:spPr>
        <p:txBody>
          <a:bodyPr wrap="square" lIns="0" tIns="0" rIns="0" bIns="0" rtlCol="0" anchor="ctr"/>
          <a:lstStyle/>
          <a:p>
            <a:pPr algn="ctr" indent="0" marL="0">
              <a:buNone/>
            </a:pPr>
            <a:r>
              <a:rPr lang="en-US" sz="950" b="1" spc="160" kern="0" dirty="0">
                <a:solidFill>
                  <a:srgbClr val="8A9993"/>
                </a:solidFill>
                <a:latin typeface="Calibri" pitchFamily="34" charset="0"/>
                <a:ea typeface="Calibri" pitchFamily="34" charset="-122"/>
                <a:cs typeface="Calibri" pitchFamily="34" charset="-120"/>
              </a:rPr>
              <a:t>PHASE 06</a:t>
            </a:r>
            <a:endParaRPr lang="en-US" sz="950" dirty="0"/>
          </a:p>
        </p:txBody>
      </p:sp>
      <p:sp>
        <p:nvSpPr>
          <p:cNvPr id="54" name="Shape 51"/>
          <p:cNvSpPr/>
          <p:nvPr/>
        </p:nvSpPr>
        <p:spPr>
          <a:xfrm>
            <a:off x="10332949" y="2194560"/>
            <a:ext cx="694944" cy="694944"/>
          </a:xfrm>
          <a:prstGeom prst="ellipse">
            <a:avLst/>
          </a:prstGeom>
          <a:solidFill>
            <a:srgbClr val="F5F7F6"/>
          </a:solidFill>
          <a:ln/>
        </p:spPr>
      </p:sp>
      <p:sp>
        <p:nvSpPr>
          <p:cNvPr id="55" name="Shape 52"/>
          <p:cNvSpPr/>
          <p:nvPr/>
        </p:nvSpPr>
        <p:spPr>
          <a:xfrm>
            <a:off x="10424389" y="2286000"/>
            <a:ext cx="512064" cy="512064"/>
          </a:xfrm>
          <a:prstGeom prst="ellipse">
            <a:avLst/>
          </a:prstGeom>
          <a:solidFill>
            <a:srgbClr val="FFFFFF"/>
          </a:solidFill>
          <a:ln w="17780">
            <a:solidFill>
              <a:srgbClr val="DFE5E2"/>
            </a:solidFill>
            <a:prstDash val="solid"/>
          </a:ln>
        </p:spPr>
      </p:sp>
      <p:sp>
        <p:nvSpPr>
          <p:cNvPr id="56" name="Text 53"/>
          <p:cNvSpPr txBox="1"/>
          <p:nvPr/>
        </p:nvSpPr>
        <p:spPr>
          <a:xfrm>
            <a:off x="10424389" y="2286000"/>
            <a:ext cx="512064" cy="512064"/>
          </a:xfrm>
          <a:prstGeom prst="rect">
            <a:avLst/>
          </a:prstGeom>
          <a:noFill/>
          <a:ln/>
        </p:spPr>
        <p:txBody>
          <a:bodyPr wrap="square" lIns="0" tIns="0" rIns="0" bIns="0" rtlCol="0" anchor="ctr"/>
          <a:lstStyle/>
          <a:p>
            <a:pPr algn="ctr" indent="0" marL="0">
              <a:buNone/>
            </a:pPr>
            <a:r>
              <a:rPr lang="en-US" sz="1300" b="1" dirty="0">
                <a:solidFill>
                  <a:srgbClr val="8A9993"/>
                </a:solidFill>
                <a:latin typeface="Calibri" pitchFamily="34" charset="0"/>
                <a:ea typeface="Calibri" pitchFamily="34" charset="-122"/>
                <a:cs typeface="Calibri" pitchFamily="34" charset="-120"/>
              </a:rPr>
              <a:t>6</a:t>
            </a:r>
            <a:endParaRPr lang="en-US" sz="1300" dirty="0"/>
          </a:p>
        </p:txBody>
      </p:sp>
      <p:sp>
        <p:nvSpPr>
          <p:cNvPr id="57" name="Shape 54"/>
          <p:cNvSpPr/>
          <p:nvPr/>
        </p:nvSpPr>
        <p:spPr>
          <a:xfrm>
            <a:off x="9854946" y="3127248"/>
            <a:ext cx="1650949" cy="2286000"/>
          </a:xfrm>
          <a:prstGeom prst="roundRect">
            <a:avLst>
              <a:gd name="adj" fmla="val 8862"/>
            </a:avLst>
          </a:prstGeom>
          <a:solidFill>
            <a:srgbClr val="FFFFFF"/>
          </a:solidFill>
          <a:ln w="9525">
            <a:solidFill>
              <a:srgbClr val="DFE5E2"/>
            </a:solidFill>
            <a:prstDash val="solid"/>
          </a:ln>
          <a:effectLst>
            <a:outerShdw sx="100000" sy="100000" kx="0" ky="0" algn="bl" rotWithShape="0" blurRad="177800" dist="38100" dir="5400000">
              <a:srgbClr val="0E1A15">
                <a:alpha val="10000"/>
              </a:srgbClr>
            </a:outerShdw>
          </a:effectLst>
        </p:spPr>
      </p:sp>
      <p:sp>
        <p:nvSpPr>
          <p:cNvPr id="58" name="Text 55"/>
          <p:cNvSpPr txBox="1"/>
          <p:nvPr/>
        </p:nvSpPr>
        <p:spPr>
          <a:xfrm>
            <a:off x="10074402" y="3364992"/>
            <a:ext cx="1212037" cy="694944"/>
          </a:xfrm>
          <a:prstGeom prst="rect">
            <a:avLst/>
          </a:prstGeom>
          <a:noFill/>
          <a:ln/>
        </p:spPr>
        <p:txBody>
          <a:bodyPr wrap="square" lIns="0" tIns="0" rIns="0" bIns="0" rtlCol="0" anchor="ctr"/>
          <a:lstStyle/>
          <a:p>
            <a:pPr indent="0" marL="0">
              <a:lnSpc>
                <a:spcPct val="105000"/>
              </a:lnSpc>
              <a:buNone/>
            </a:pPr>
            <a:r>
              <a:rPr lang="en-US" sz="1400" b="1" dirty="0">
                <a:solidFill>
                  <a:srgbClr val="0E1A15"/>
                </a:solidFill>
                <a:latin typeface="Calibri" pitchFamily="34" charset="0"/>
                <a:ea typeface="Calibri" pitchFamily="34" charset="-122"/>
                <a:cs typeface="Calibri" pitchFamily="34" charset="-120"/>
              </a:rPr>
              <a:t>Complete IoT Integration</a:t>
            </a:r>
            <a:endParaRPr lang="en-US" sz="1400" dirty="0"/>
          </a:p>
        </p:txBody>
      </p:sp>
      <p:sp>
        <p:nvSpPr>
          <p:cNvPr id="59" name="Text 56"/>
          <p:cNvSpPr txBox="1"/>
          <p:nvPr/>
        </p:nvSpPr>
        <p:spPr>
          <a:xfrm>
            <a:off x="10074402" y="4059936"/>
            <a:ext cx="1212037" cy="914400"/>
          </a:xfrm>
          <a:prstGeom prst="rect">
            <a:avLst/>
          </a:prstGeom>
          <a:noFill/>
          <a:ln/>
        </p:spPr>
        <p:txBody>
          <a:bodyPr wrap="square" lIns="0" tIns="0" rIns="0" bIns="0" rtlCol="0" anchor="ctr"/>
          <a:lstStyle/>
          <a:p>
            <a:pPr indent="0" marL="0">
              <a:lnSpc>
                <a:spcPct val="118000"/>
              </a:lnSpc>
              <a:buNone/>
            </a:pPr>
            <a:r>
              <a:rPr lang="en-US" sz="1050" dirty="0">
                <a:solidFill>
                  <a:srgbClr val="5C6B64"/>
                </a:solidFill>
                <a:latin typeface="Calibri" pitchFamily="34" charset="0"/>
                <a:ea typeface="Calibri" pitchFamily="34" charset="-122"/>
                <a:cs typeface="Calibri" pitchFamily="34" charset="-120"/>
              </a:rPr>
              <a:t>Live bin telemetry flowing end to end into the app.</a:t>
            </a:r>
            <a:endParaRPr lang="en-US" sz="1050" dirty="0"/>
          </a:p>
        </p:txBody>
      </p:sp>
      <p:sp>
        <p:nvSpPr>
          <p:cNvPr id="60" name="Shape 57"/>
          <p:cNvSpPr/>
          <p:nvPr/>
        </p:nvSpPr>
        <p:spPr>
          <a:xfrm>
            <a:off x="10074402" y="4974336"/>
            <a:ext cx="960120" cy="256032"/>
          </a:xfrm>
          <a:prstGeom prst="roundRect">
            <a:avLst>
              <a:gd name="adj" fmla="val 50000"/>
            </a:avLst>
          </a:prstGeom>
          <a:solidFill>
            <a:srgbClr val="EDF1EF"/>
          </a:solidFill>
          <a:ln/>
        </p:spPr>
      </p:sp>
      <p:sp>
        <p:nvSpPr>
          <p:cNvPr id="61" name="Text 58"/>
          <p:cNvSpPr txBox="1"/>
          <p:nvPr/>
        </p:nvSpPr>
        <p:spPr>
          <a:xfrm>
            <a:off x="10074402" y="4974336"/>
            <a:ext cx="960120" cy="256032"/>
          </a:xfrm>
          <a:prstGeom prst="rect">
            <a:avLst/>
          </a:prstGeom>
          <a:noFill/>
          <a:ln/>
        </p:spPr>
        <p:txBody>
          <a:bodyPr wrap="square" lIns="0" tIns="0" rIns="0" bIns="0" rtlCol="0" anchor="ctr"/>
          <a:lstStyle/>
          <a:p>
            <a:pPr algn="ctr" indent="0" marL="0">
              <a:buNone/>
            </a:pPr>
            <a:r>
              <a:rPr lang="en-US" sz="850" b="1" spc="100" kern="0" dirty="0">
                <a:solidFill>
                  <a:srgbClr val="8A9993"/>
                </a:solidFill>
                <a:latin typeface="Calibri" pitchFamily="34" charset="0"/>
                <a:ea typeface="Calibri" pitchFamily="34" charset="-122"/>
                <a:cs typeface="Calibri" pitchFamily="34" charset="-120"/>
              </a:rPr>
              <a:t>PLANNED</a:t>
            </a:r>
            <a:endParaRPr lang="en-US" sz="850" dirty="0"/>
          </a:p>
        </p:txBody>
      </p:sp>
      <p:sp>
        <p:nvSpPr>
          <p:cNvPr id="62" name="Text 59"/>
          <p:cNvSpPr txBox="1"/>
          <p:nvPr/>
        </p:nvSpPr>
        <p:spPr>
          <a:xfrm>
            <a:off x="685800" y="5742432"/>
            <a:ext cx="10820095" cy="310896"/>
          </a:xfrm>
          <a:prstGeom prst="rect">
            <a:avLst/>
          </a:prstGeom>
          <a:noFill/>
          <a:ln/>
        </p:spPr>
        <p:txBody>
          <a:bodyPr wrap="square" lIns="0" tIns="0" rIns="0" bIns="0" rtlCol="0" anchor="ctr"/>
          <a:lstStyle/>
          <a:p>
            <a:pPr indent="0" marL="0">
              <a:buNone/>
            </a:pPr>
            <a:r>
              <a:rPr lang="en-US" sz="1150" i="1" dirty="0">
                <a:solidFill>
                  <a:srgbClr val="8A9993"/>
                </a:solidFill>
                <a:latin typeface="Calibri" pitchFamily="34" charset="0"/>
                <a:ea typeface="Calibri" pitchFamily="34" charset="-122"/>
                <a:cs typeface="Calibri" pitchFamily="34" charset="-120"/>
              </a:rPr>
              <a:t>Phase 01 is finished and demonstrable today. Phases 02 to 06 are scoped but not yet implemented.</a:t>
            </a:r>
            <a:endParaRPr lang="en-US" sz="1150" dirty="0"/>
          </a:p>
        </p:txBody>
      </p:sp>
      <p:sp>
        <p:nvSpPr>
          <p:cNvPr id="63" name="Text 60"/>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8A9993"/>
                </a:solidFill>
                <a:latin typeface="Calibri" pitchFamily="34" charset="0"/>
                <a:ea typeface="Calibri" pitchFamily="34" charset="-122"/>
                <a:cs typeface="Calibri" pitchFamily="34" charset="-120"/>
              </a:rPr>
              <a:t>ENGO</a:t>
            </a:r>
            <a:endParaRPr lang="en-US" sz="950" dirty="0"/>
          </a:p>
        </p:txBody>
      </p:sp>
      <p:sp>
        <p:nvSpPr>
          <p:cNvPr id="64" name="Text 61"/>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8A9993"/>
                </a:solidFill>
                <a:latin typeface="Calibri" pitchFamily="34" charset="0"/>
                <a:ea typeface="Calibri" pitchFamily="34" charset="-122"/>
                <a:cs typeface="Calibri" pitchFamily="34" charset="-120"/>
              </a:rPr>
              <a:t>11 / 12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261A"/>
        </a:solidFill>
      </p:bgPr>
    </p:bg>
    <p:spTree>
      <p:nvGrpSpPr>
        <p:cNvPr id="1" name=""/>
        <p:cNvGrpSpPr/>
        <p:nvPr/>
      </p:nvGrpSpPr>
      <p:grpSpPr>
        <a:xfrm>
          <a:off x="0" y="0"/>
          <a:ext cx="0" cy="0"/>
          <a:chOff x="0" y="0"/>
          <a:chExt cx="0" cy="0"/>
        </a:xfrm>
      </p:grpSpPr>
      <p:pic>
        <p:nvPicPr>
          <p:cNvPr id="2" name="Image 0" descr="C:\smart bin\deck\assets\bg-forest.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8261A">
              <a:alpha val="84000"/>
            </a:srgbClr>
          </a:solidFill>
          <a:ln/>
        </p:spPr>
      </p:sp>
      <p:pic>
        <p:nvPicPr>
          <p:cNvPr id="4" name="Image 1" descr="C:\smart bin\deck\assets\icons\leaf-mint.png">    </p:cNvPr>
          <p:cNvPicPr>
            <a:picLocks noChangeAspect="1"/>
          </p:cNvPicPr>
          <p:nvPr/>
        </p:nvPicPr>
        <p:blipFill>
          <a:blip r:embed="rId2"/>
          <a:stretch>
            <a:fillRect/>
          </a:stretch>
        </p:blipFill>
        <p:spPr>
          <a:xfrm>
            <a:off x="685800" y="713232"/>
            <a:ext cx="384048" cy="384048"/>
          </a:xfrm>
          <a:prstGeom prst="rect">
            <a:avLst/>
          </a:prstGeom>
        </p:spPr>
      </p:pic>
      <p:sp>
        <p:nvSpPr>
          <p:cNvPr id="5" name="Text 1"/>
          <p:cNvSpPr txBox="1"/>
          <p:nvPr/>
        </p:nvSpPr>
        <p:spPr>
          <a:xfrm>
            <a:off x="1179576" y="694944"/>
            <a:ext cx="2743200" cy="420624"/>
          </a:xfrm>
          <a:prstGeom prst="rect">
            <a:avLst/>
          </a:prstGeom>
          <a:noFill/>
          <a:ln/>
        </p:spPr>
        <p:txBody>
          <a:bodyPr wrap="square" lIns="0" tIns="0" rIns="0" bIns="0" rtlCol="0" anchor="ctr"/>
          <a:lstStyle/>
          <a:p>
            <a:pPr indent="0" marL="0">
              <a:buNone/>
            </a:pPr>
            <a:r>
              <a:rPr lang="en-US" sz="2500" b="1" spc="300" kern="0" dirty="0">
                <a:solidFill>
                  <a:srgbClr val="FFFFFF"/>
                </a:solidFill>
                <a:latin typeface="Calibri" pitchFamily="34" charset="0"/>
                <a:ea typeface="Calibri" pitchFamily="34" charset="-122"/>
                <a:cs typeface="Calibri" pitchFamily="34" charset="-120"/>
              </a:rPr>
              <a:t>ENGO</a:t>
            </a:r>
            <a:endParaRPr lang="en-US" sz="2500" dirty="0"/>
          </a:p>
        </p:txBody>
      </p:sp>
      <p:sp>
        <p:nvSpPr>
          <p:cNvPr id="6" name="Text 2"/>
          <p:cNvSpPr txBox="1"/>
          <p:nvPr/>
        </p:nvSpPr>
        <p:spPr>
          <a:xfrm>
            <a:off x="685800" y="2103120"/>
            <a:ext cx="6675120" cy="1691640"/>
          </a:xfrm>
          <a:prstGeom prst="rect">
            <a:avLst/>
          </a:prstGeom>
          <a:noFill/>
          <a:ln/>
        </p:spPr>
        <p:txBody>
          <a:bodyPr wrap="square" lIns="0" tIns="0" rIns="0" bIns="0" rtlCol="0" anchor="ctr"/>
          <a:lstStyle/>
          <a:p>
            <a:pPr indent="0" marL="0">
              <a:lnSpc>
                <a:spcPct val="97000"/>
              </a:lnSpc>
              <a:buNone/>
            </a:pPr>
            <a:r>
              <a:rPr lang="en-US" sz="5000" b="1" dirty="0">
                <a:solidFill>
                  <a:srgbClr val="FFFFFF"/>
                </a:solidFill>
                <a:latin typeface="Calibri" pitchFamily="34" charset="0"/>
                <a:ea typeface="Calibri" pitchFamily="34" charset="-122"/>
                <a:cs typeface="Calibri" pitchFamily="34" charset="-120"/>
              </a:rPr>
              <a:t>A smarter way to manage waste.</a:t>
            </a:r>
            <a:endParaRPr lang="en-US" sz="5000" dirty="0"/>
          </a:p>
        </p:txBody>
      </p:sp>
      <p:sp>
        <p:nvSpPr>
          <p:cNvPr id="7" name="Text 3"/>
          <p:cNvSpPr txBox="1"/>
          <p:nvPr/>
        </p:nvSpPr>
        <p:spPr>
          <a:xfrm>
            <a:off x="685800" y="3968496"/>
            <a:ext cx="6949440" cy="310896"/>
          </a:xfrm>
          <a:prstGeom prst="rect">
            <a:avLst/>
          </a:prstGeom>
          <a:noFill/>
          <a:ln/>
        </p:spPr>
        <p:txBody>
          <a:bodyPr wrap="square" lIns="0" tIns="0" rIns="0" bIns="0" rtlCol="0" anchor="ctr"/>
          <a:lstStyle/>
          <a:p>
            <a:pPr indent="0" marL="0">
              <a:buNone/>
            </a:pPr>
            <a:r>
              <a:rPr lang="en-US" sz="1250" b="1" spc="200" kern="0" dirty="0">
                <a:solidFill>
                  <a:srgbClr val="5BC98C"/>
                </a:solidFill>
                <a:latin typeface="Calibri" pitchFamily="34" charset="0"/>
                <a:ea typeface="Calibri" pitchFamily="34" charset="-122"/>
                <a:cs typeface="Calibri" pitchFamily="34" charset="-120"/>
              </a:rPr>
              <a:t>IDENTIFY</a:t>
            </a:r>
            <a:pPr indent="0" marL="0">
              <a:buNone/>
            </a:pPr>
            <a:r>
              <a:rPr lang="en-US" sz="1250" b="1" dirty="0">
                <a:solidFill>
                  <a:srgbClr val="5E8C74"/>
                </a:solidFill>
                <a:latin typeface="Calibri" pitchFamily="34" charset="0"/>
                <a:ea typeface="Calibri" pitchFamily="34" charset="-122"/>
                <a:cs typeface="Calibri" pitchFamily="34" charset="-120"/>
              </a:rPr>
              <a:t>   ×   </a:t>
            </a:r>
            <a:pPr indent="0" marL="0">
              <a:buNone/>
            </a:pPr>
            <a:r>
              <a:rPr lang="en-US" sz="1250" b="1" spc="200" kern="0" dirty="0">
                <a:solidFill>
                  <a:srgbClr val="5BC98C"/>
                </a:solidFill>
                <a:latin typeface="Calibri" pitchFamily="34" charset="0"/>
                <a:ea typeface="Calibri" pitchFamily="34" charset="-122"/>
                <a:cs typeface="Calibri" pitchFamily="34" charset="-120"/>
              </a:rPr>
              <a:t>MEASURE</a:t>
            </a:r>
            <a:pPr indent="0" marL="0">
              <a:buNone/>
            </a:pPr>
            <a:r>
              <a:rPr lang="en-US" sz="1250" b="1" dirty="0">
                <a:solidFill>
                  <a:srgbClr val="5E8C74"/>
                </a:solidFill>
                <a:latin typeface="Calibri" pitchFamily="34" charset="0"/>
                <a:ea typeface="Calibri" pitchFamily="34" charset="-122"/>
                <a:cs typeface="Calibri" pitchFamily="34" charset="-120"/>
              </a:rPr>
              <a:t>   ×   </a:t>
            </a:r>
            <a:pPr indent="0" marL="0">
              <a:buNone/>
            </a:pPr>
            <a:r>
              <a:rPr lang="en-US" sz="1250" b="1" spc="200" kern="0" dirty="0">
                <a:solidFill>
                  <a:srgbClr val="5BC98C"/>
                </a:solidFill>
                <a:latin typeface="Calibri" pitchFamily="34" charset="0"/>
                <a:ea typeface="Calibri" pitchFamily="34" charset="-122"/>
                <a:cs typeface="Calibri" pitchFamily="34" charset="-120"/>
              </a:rPr>
              <a:t>ANALYZE</a:t>
            </a:r>
            <a:pPr indent="0" marL="0">
              <a:buNone/>
            </a:pPr>
            <a:r>
              <a:rPr lang="en-US" sz="1250" b="1" dirty="0">
                <a:solidFill>
                  <a:srgbClr val="5E8C74"/>
                </a:solidFill>
                <a:latin typeface="Calibri" pitchFamily="34" charset="0"/>
                <a:ea typeface="Calibri" pitchFamily="34" charset="-122"/>
                <a:cs typeface="Calibri" pitchFamily="34" charset="-120"/>
              </a:rPr>
              <a:t>   ×   </a:t>
            </a:r>
            <a:pPr indent="0" marL="0">
              <a:buNone/>
            </a:pPr>
            <a:r>
              <a:rPr lang="en-US" sz="1250" b="1" spc="200" kern="0" dirty="0">
                <a:solidFill>
                  <a:srgbClr val="5BC98C"/>
                </a:solidFill>
                <a:latin typeface="Calibri" pitchFamily="34" charset="0"/>
                <a:ea typeface="Calibri" pitchFamily="34" charset="-122"/>
                <a:cs typeface="Calibri" pitchFamily="34" charset="-120"/>
              </a:rPr>
              <a:t>REWARD</a:t>
            </a:r>
            <a:endParaRPr lang="en-US" sz="1250" dirty="0"/>
          </a:p>
        </p:txBody>
      </p:sp>
      <p:sp>
        <p:nvSpPr>
          <p:cNvPr id="8" name="Shape 4"/>
          <p:cNvSpPr/>
          <p:nvPr/>
        </p:nvSpPr>
        <p:spPr>
          <a:xfrm>
            <a:off x="685800" y="4553712"/>
            <a:ext cx="1005840" cy="0"/>
          </a:xfrm>
          <a:prstGeom prst="line">
            <a:avLst/>
          </a:prstGeom>
          <a:noFill/>
          <a:ln w="25400">
            <a:solidFill>
              <a:srgbClr val="5BC98C"/>
            </a:solidFill>
            <a:prstDash val="solid"/>
          </a:ln>
        </p:spPr>
      </p:sp>
      <p:sp>
        <p:nvSpPr>
          <p:cNvPr id="9" name="Text 5"/>
          <p:cNvSpPr txBox="1"/>
          <p:nvPr/>
        </p:nvSpPr>
        <p:spPr>
          <a:xfrm>
            <a:off x="685800" y="4754880"/>
            <a:ext cx="6400800" cy="402336"/>
          </a:xfrm>
          <a:prstGeom prst="rect">
            <a:avLst/>
          </a:prstGeom>
          <a:noFill/>
          <a:ln/>
        </p:spPr>
        <p:txBody>
          <a:bodyPr wrap="square" lIns="0" tIns="0" rIns="0" bIns="0" rtlCol="0" anchor="ctr"/>
          <a:lstStyle/>
          <a:p>
            <a:pPr indent="0" marL="0">
              <a:buNone/>
            </a:pPr>
            <a:r>
              <a:rPr lang="en-US" sz="1900" b="1" dirty="0">
                <a:solidFill>
                  <a:srgbClr val="DCF5E5"/>
                </a:solidFill>
                <a:latin typeface="Calibri" pitchFamily="34" charset="0"/>
                <a:ea typeface="Calibri" pitchFamily="34" charset="-122"/>
                <a:cs typeface="Calibri" pitchFamily="34" charset="-120"/>
              </a:rPr>
              <a:t>Small Actions. A Cleaner Tomorrow.</a:t>
            </a:r>
            <a:endParaRPr lang="en-US" sz="1900" dirty="0"/>
          </a:p>
        </p:txBody>
      </p:sp>
      <p:sp>
        <p:nvSpPr>
          <p:cNvPr id="10" name="Text 6"/>
          <p:cNvSpPr txBox="1"/>
          <p:nvPr/>
        </p:nvSpPr>
        <p:spPr>
          <a:xfrm>
            <a:off x="685800" y="5230368"/>
            <a:ext cx="6309360" cy="640080"/>
          </a:xfrm>
          <a:prstGeom prst="rect">
            <a:avLst/>
          </a:prstGeom>
          <a:noFill/>
          <a:ln/>
        </p:spPr>
        <p:txBody>
          <a:bodyPr wrap="square" lIns="0" tIns="0" rIns="0" bIns="0" rtlCol="0" anchor="ctr"/>
          <a:lstStyle/>
          <a:p>
            <a:pPr indent="0" marL="0">
              <a:lnSpc>
                <a:spcPct val="125000"/>
              </a:lnSpc>
              <a:buNone/>
            </a:pPr>
            <a:r>
              <a:rPr lang="en-US" sz="1250" dirty="0">
                <a:solidFill>
                  <a:srgbClr val="BCEBCE">
                    <a:alpha val="78000"/>
                  </a:srgbClr>
                </a:solidFill>
                <a:latin typeface="Calibri" pitchFamily="34" charset="0"/>
                <a:ea typeface="Calibri" pitchFamily="34" charset="-122"/>
                <a:cs typeface="Calibri" pitchFamily="34" charset="-120"/>
              </a:rPr>
              <a:t>A working frontend prototype today — with a clear, staged path to live AI, a backend and real smart-bin hardware.</a:t>
            </a:r>
            <a:endParaRPr lang="en-US" sz="1250" dirty="0"/>
          </a:p>
        </p:txBody>
      </p:sp>
      <p:pic>
        <p:nvPicPr>
          <p:cNvPr id="11" name="Image 2" descr="C:\smart bin\deck\assets\phone-result-tall.png">    </p:cNvPr>
          <p:cNvPicPr>
            <a:picLocks noChangeAspect="1"/>
          </p:cNvPicPr>
          <p:nvPr/>
        </p:nvPicPr>
        <p:blipFill>
          <a:blip r:embed="rId3"/>
          <a:stretch>
            <a:fillRect/>
          </a:stretch>
        </p:blipFill>
        <p:spPr>
          <a:xfrm>
            <a:off x="7973568" y="73152"/>
            <a:ext cx="3065069" cy="6711696"/>
          </a:xfrm>
          <a:prstGeom prst="rect">
            <a:avLst/>
          </a:prstGeom>
        </p:spPr>
      </p:pic>
      <p:sp>
        <p:nvSpPr>
          <p:cNvPr id="12" name="Text 7"/>
          <p:cNvSpPr txBox="1"/>
          <p:nvPr/>
        </p:nvSpPr>
        <p:spPr>
          <a:xfrm>
            <a:off x="685800" y="6382512"/>
            <a:ext cx="2743200" cy="274320"/>
          </a:xfrm>
          <a:prstGeom prst="rect">
            <a:avLst/>
          </a:prstGeom>
          <a:noFill/>
          <a:ln/>
        </p:spPr>
        <p:txBody>
          <a:bodyPr wrap="square" lIns="0" tIns="0" rIns="0" bIns="0" rtlCol="0" anchor="ctr"/>
          <a:lstStyle/>
          <a:p>
            <a:pPr indent="0" marL="0">
              <a:buNone/>
            </a:pPr>
            <a:r>
              <a:rPr lang="en-US" sz="950" b="1" spc="200" kern="0" dirty="0">
                <a:solidFill>
                  <a:srgbClr val="5BC98C"/>
                </a:solidFill>
                <a:latin typeface="Calibri" pitchFamily="34" charset="0"/>
                <a:ea typeface="Calibri" pitchFamily="34" charset="-122"/>
                <a:cs typeface="Calibri" pitchFamily="34" charset="-120"/>
              </a:rPr>
              <a:t>ENGO</a:t>
            </a:r>
            <a:endParaRPr lang="en-US" sz="950" dirty="0"/>
          </a:p>
        </p:txBody>
      </p:sp>
      <p:sp>
        <p:nvSpPr>
          <p:cNvPr id="13" name="Text 8"/>
          <p:cNvSpPr txBox="1"/>
          <p:nvPr/>
        </p:nvSpPr>
        <p:spPr>
          <a:xfrm>
            <a:off x="8762695" y="6382512"/>
            <a:ext cx="2743200" cy="274320"/>
          </a:xfrm>
          <a:prstGeom prst="rect">
            <a:avLst/>
          </a:prstGeom>
          <a:noFill/>
          <a:ln/>
        </p:spPr>
        <p:txBody>
          <a:bodyPr wrap="square" lIns="0" tIns="0" rIns="0" bIns="0" rtlCol="0" anchor="ctr"/>
          <a:lstStyle/>
          <a:p>
            <a:pPr algn="r" indent="0" marL="0">
              <a:buNone/>
            </a:pPr>
            <a:r>
              <a:rPr lang="en-US" sz="950" b="1" spc="100" kern="0" dirty="0">
                <a:solidFill>
                  <a:srgbClr val="FFFFFF">
                    <a:alpha val="55000"/>
                  </a:srgbClr>
                </a:solidFill>
                <a:latin typeface="Calibri" pitchFamily="34" charset="0"/>
                <a:ea typeface="Calibri" pitchFamily="34" charset="-122"/>
                <a:cs typeface="Calibri" pitchFamily="34" charset="-120"/>
              </a:rPr>
              <a:t>12 / 12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ENGO — Smart Waste Management System</dc:title>
  <dc:subject>PptxGenJS Presentation</dc:subject>
  <dc:creator>ENGO</dc:creator>
  <cp:lastModifiedBy>ENGO</cp:lastModifiedBy>
  <cp:revision>1</cp:revision>
  <dcterms:created xsi:type="dcterms:W3CDTF">2026-09-14T09:22:06Z</dcterms:created>
  <dcterms:modified xsi:type="dcterms:W3CDTF">2026-09-14T09:22:06Z</dcterms:modified>
</cp:coreProperties>
</file>